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e1ffd6-3376-ac0d-29c0-3357de3e6c5f}">
          <p14:sldIdLst>
            <p14:sldId id="256"/>
          </p14:sldIdLst>
        </p14:section>
        <p14:section name="Problem" id="{f6d3e8e9-5ab9-f99b-dbc8-032c3db78c18}">
          <p14:sldIdLst>
            <p14:sldId id="257"/>
            <p14:sldId id="258"/>
          </p14:sldIdLst>
        </p14:section>
        <p14:section name="System" id="{22a856d7-f11b-109b-ffac-6b64af452fde}">
          <p14:sldIdLst>
            <p14:sldId id="259"/>
            <p14:sldId id="260"/>
          </p14:sldIdLst>
        </p14:section>
        <p14:section name="Proof" id="{c0a91183-5522-b7c1-7908-fa5bc335f759}">
          <p14:sldIdLst>
            <p14:sldId id="261"/>
            <p14:sldId id="262"/>
            <p14:sldId id="263"/>
            <p14:sldId id="264"/>
            <p14:sldId id="265"/>
          </p14:sldIdLst>
        </p14:section>
        <p14:section name="Close" id="{7cc204a2-f09d-21dd-1177-62d474a7dd92}">
          <p14:sldIdLst>
            <p14:sldId id="266"/>
            <p14:sldId id="267"/>
          </p14:sldIdLst>
        </p14:section>
        <p14:section name="Appendix" id="{7bcfdb1c-4a9e-8263-c934-e290347476b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Introduce Ragnarok in one breath: a multi-agent system that investigates a supply-chain disruption and earns its conclusion.
SCRIPT: Good morning. We are Team Viksit Coders, and this is Ragnarok: Trial of the Nine Realms. When a trade corridor shuts down, someone has to answer a hard question quickly: who is exposed, and by how much? We built a system that answers it the way a careful investigation would, with research, competing arguments, cross-examination and a judge who rules from the evidence.
TRANSITION: Let me start with why that question is hard.
IF ASKED: The names come from Norse mythology, but each one is a concrete role in the code: an investigator, two opposing advocates and a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difficulty is reconciling scattered, conflicting evidence, not finding it.
SCRIPT: Picture an export corridor for grain whose agreement simply ends. Two importing countries depend on it. Within days the questions pile up: who is exposed, how much trade is at risk, can other suppliers or a rail link cover the gap, and which of the claims flying around are actually reliable? The evidence is spread across official notices, trade tables, corrections of earlier reports, rumours, and even reports dated after the moment you are asking about. Finding documents is easy. Turning them into a defensible assessment is the hard part.
TRANSITION: So why not just ask a single model?
IF ASKED: The challenge dataset, Runemark, is fictional but deliberately messy: an empty file, a cut-off copy, a UTF-16 body, documents after the as-of date, a retracted renewal report, tier-4 rumours and an embedded instruction aimed at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Our design principle is Research, Challenge, Verify, Judge, each as a separate stage.
SCRIPT: A single model answer is one voice. It can be right, but you cannot see what it left out, which side of the argument it never considered, or whether its numbers add up. So Ragnarok splits the job. One agent researches. Two agents argue opposite sides and attack each other. Code, not the model, checks every citation and does every calculation. And a judge rules claim by claim, and can send the case back when something essential is missing.
TRANSITION: Here are the four agents that do this.
IF ASKED: We do not claim single-agent systems always fail. The point is visibility: every disagreement and every gap ends up in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Four agents, four distinct jobs; each name maps to a concrete role and tool set.
SCRIPT: Heimdall, the watchman, investigates first: he searches the documents and trade tables, checks that the event really happened, notes corrections and rumours, and lists missing data in a case file. Thor argues that exposure is high. Loki, independently, argues that it is limited: substitutes, other routes, stocks. Neither is a villain; they are two analytical perspectives, and each must cite evidence. Odin is the judge. He rules on every claim, builds his own range from the evidence, decides whether more research is needed, and writes the final briefing only from his rulings.
TRANSITION: The important part is how they work together.
IF ASKED: Tool permissions are enforced in code. Heimdall, Thor and Loki can search; Odin cannot search at all. He can read documents, replay calculations and validate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workflow is fixed in code, with one conditional loop that Odin can trigger.
SCRIPT: Here is the whole investigation. The user asks a question with an as-of date. Heimdall researches and builds the case file. Thor and Loki then work in parallel, each running their own searches. Cross-examination follows: each side attacks the other's claims, and each attacked claim must be defended with new evidence or conceded. Odin then rules on every claim. If the evidence is sufficient, he writes the briefing. If something essential is missing, he sends the case back: Heimdall runs new targeted searches, and the trial runs again with whatever new evidence turns up.
TRANSITION: Let us zoom into what happens to a single claim.
IF ASKED: There is no central planner. The state machine is USER, HEIMDALL, THOR and LOKI, CROSS_EXAMINATION, ODIN, then BRIEFING or HEIMDALL_RESEARCH. Odin names the missing evidence but never assigns tasks. Run 2 refuses repeated queries and excludes paragraphs already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A claim only stands if it survives attack, and the four verdicts mean different things.
SCRIPT: This is a real exchange from our saved two-run case. Loki claimed that Midgard's maize imports stayed resilient after the agreement ended, citing a trade note. Thor attacked with two trade rows: November value fell from 84.7 to 31.9 million dollars year on year. Loki could defend only with new evidence, and had none, so he conceded in part. Odin then recorded the claim as conceded. There are four verdicts. Established means it survived scrutiny. Contested means credible counter-evidence remains. Conceded means the author backed down. Rejected means Odin judged it unsupported. Conceded and rejected are deliberately different.
TRANSITION: Claims often carry numbers. Here is how we make those numbers trustworthy.
IF ASKED: The code refuses generic attacks: an attack needs a target claim, a specific objection, and counter-evidence or a named gap. A defense that cites nothing new is recorded as invalid, and the claim stays undefended for Odin. "Conceded" is only possible if the author actually conceded.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Every number in a briefing can be replayed from cited rows by deterministic code.
SCRIPT: Models are unreliable at arithmetic, so they do none. Here is a real chain from our saved case. Trade note ORV-0009, a tier-1 document, supplies eight monthly rows: September to December of 2026 and of 2025. A Python function computes the year-on-year change: 142.1 minus 358.3, a fall of 216.2 million dollars. A second record covers October to December: 156.5. Odin's range for Midgard wheat is exactly those two results, cited inline with dates. And this is trade value at risk, not an economic loss estimate.
TRANSITION: Here is what all of this looks like in the product.
IF ASKED: Operations are sum, mean, share, yoy_change, yoy_pct_change, period_change and net_offset. Each record keeps its input rows, any excluded rows with the reason, the formula and the result, and replays identically. Code rejects a range whose bounds come from different kinds of calculation, for example a sum joined to a year-on-year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It is a working, inspectable application; every element on screen is a recorded event or a stored document.
SCRIPT: These are real captures from the saved case. On the left, the argument map: each lane runs from the cited documents, to the claim, to the attack, the response, and Odin's ruling, so you can see the whole debate at once. Top right, the exposure view: Thor's, Loki's and Odin's ranges on one shared axis. Where there is no evidence, it says no estimate, and the reason. It never draws a zero. Bottom right, click-through: any citation opens the source document with the cited paragraph highlighted, so a judge can check every claim in two clicks.
TRANSITION: A system like this must also know what it should not use.
IF ASKED: The dashboard has six views: Trial, Argument map, Exposure, Evidence, Briefing and Run trace. It follows the case live over Server-Sent Events with a polling fallback, and nothing on screen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Safety is enforced in code at four gates, and uncertainty is shown, not hidden.
SCRIPT: Every document passes four gates before it can influence anything. Ingest validates files, keeps the original with its content hash, and flags damage instead of repairing it silently. An injection scanner flags text such as a fake SYSTEM instruction; the span stays on record, is shown on the dashboard, but never reaches an agent's prompt. The as-of gate is enforced on every path, so a document published after the question's date is refused and the attempt logged. Finally, when the briefing is built, every citation is checked again and anything that fails is dropped and listed. And when evidence is missing, the system says so. It labels briefings complete, partial or incomplete.
TRANSITION: Here is how those pieces fit together technically.
IF ASKED: Tests show that a malicious document cannot skip cross-examination, change the question or the as-of date, force Odin to establish a claim, or force endless send-backs. We make no claim of being hallucination-free; we make every claim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architecture is a plain, inspectable stack; the intelligence sits in a small, code-governed agent layer.
SCRIPT: The dashboard is React, Vite, TypeScript and Tailwind. It talks only to a FastAPI backend on Uvicorn and follows a case live through Server-Sent Events, with polling as a fallback. Inside, an explicit state machine runs the trial. Each agent has its own prompt and tool allow-list, and every model reply is validated against a Pydantic schema. The client defaults to Gemini and can pause and resume a case without losing work. Underneath: ingestion, hybrid BM25 and vector retrieval, deterministic calculations, and a SQLite audit log.
TRANSITION: Let me show you one case from start to finish.
IF ASKED: Retrieval fuses BM25 and one vector index (bge-small-en-v1.5, local, via fastembed) with Reciprocal Rank Fusion, plus filters on country, sector, event, source type, reliability tier and dates. A two-run case uses about 22 to 25 model requests. This diagram is logical; we have not deployed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One real case shows the whole loop, including an honest "incomplete" result.
SCRIPT: In the demo we ask the sample question with its as-of date. Heimdall confirms the event and notes a corrected renewal report. Thor and Loki submit nine claims, attack each other eight times, and Odin rules on every claim. We open a citation, then the calculation behind a range. Odin sent the case back; in run 2 Heimdall found thirteen genuinely new references and the advocates revised their claims. Tolan maize data is not in the pack, so the briefing is labelled incomplete. That is the correct answer, stated plainly, in 24 model requests.
TRANSITION: To close.
IF ASKED: Memory: Heimdall's lessons from earlier cases added searches for correction and retraction notices; the log records the plan without memory, the plan with it, and the lesson used. Paused cases resume after the quota reset, and finished steps replay from a reply cache with no new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Leave the judges with the differentiator: a decision that is earned through research, challenge, verification and judgment.
SCRIPT: Ragnarok is not one model answering a question. It is an investigation: an investigator that names what it does not know, two advocates who must defend every claim against attack, code that does the arithmetic, and a judge who rules from the evidence and sends the case back when the evidence is not enough. When the evidence is contested, the decision must be earned. Thank you. We are happy to take questions, or to open any claim in the live dashboard.
TRANSITION: Questions.
IF ASKED: The saved two-run case, its logs, the README and the dashboard guide are all in the repository, and a judge can open any citation in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Reference slide for technical questions; not presented in the main pitch.
SCRIPT: Use only if a judge asks about the API or data flow. The interactive API documentation is served at /api/docs. All document and trade paths are gated by the case's as-of date; a later document returns HTTP 403 and is logged as CLOCK_VIOLATION_BLOCKED.
TRANSITION: Back to questions, or Appendix B for design decisions.
IF ASKED: Unseen packs were tested with a random pack generator: three seeds, each 26 of 26 ingest checks passing, and full trials on two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Each structural choice exists to make a specific failure visible or impossible; future work is labelled as such.
SCRIPT: Use only if asked why the architecture looks like this. Every stage answers a failure mode: incomplete evidence (Heimdall and the send-back), one-sided interpretation (two advocates plus cross-examination), unverifiable numbers (code-only arithmetic), and unearned conclusions (Odin rules claim by claim and labels the briefing honestly).
TRANSITION: Back to questions.
IF ASKED: Known limitation from our own testing: Odin often adopts the better-supported advocate's range rather than building a different one. Code ensures his bounds reproduce from calculation records, but it is an honest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E-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rtlCol="0"/>
          <a:lstStyle>
            <a:lvl1pPr indent="0" marL="0">
              <a:buNone/>
              <a:defRPr lang="en-US" sz="1100" spc="300" kern="0" dirty="0">
                <a:solidFill>
                  <a:schemeClr val="accent1"/>
                </a:solidFill>
                <a:latin typeface="Consolas" pitchFamily="34" charset="0"/>
                <a:ea typeface="Consolas" pitchFamily="34" charset="-122"/>
                <a:cs typeface="Consolas" pitchFamily="34" charset="-120"/>
              </a:defRPr>
            </a:lvl1pPr>
          </a:lstStyle>
          <a:p>
            <a:pPr indent="0" marL="0">
              <a:buNone/>
            </a:pP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rtlCol="0"/>
          <a:lstStyle>
            <a:lvl1pPr algn="l" indent="0" marL="0">
              <a:buNone/>
              <a:defRPr lang="en-US" sz="3200" dirty="0">
                <a:solidFill>
                  <a:schemeClr val="bg1"/>
                </a:solidFill>
                <a:latin typeface="Garamond" pitchFamily="34" charset="0"/>
                <a:ea typeface="Garamond" pitchFamily="34" charset="-122"/>
                <a:cs typeface="Garamond" pitchFamily="34" charset="-120"/>
              </a:defRPr>
            </a:lvl1pPr>
          </a:lstStyle>
          <a:p>
            <a:pPr algn="l" indent="0" marL="0">
              <a:buNone/>
            </a:pPr>
            <a:endParaRPr lang="en-US" sz="3200" dirty="0"/>
          </a:p>
        </p:txBody>
      </p:sp>
      <p:sp>
        <p:nvSpPr>
          <p:cNvPr id="4" name="Text 0"/>
          <p:cNvSpPr txBox="1"/>
          <p:nvPr/>
        </p:nvSpPr>
        <p:spPr>
          <a:xfrm>
            <a:off x="548640" y="6400800"/>
            <a:ext cx="5486400" cy="228600"/>
          </a:xfrm>
          <a:prstGeom prst="rect">
            <a:avLst/>
          </a:prstGeom>
          <a:noFill/>
          <a:ln/>
        </p:spPr>
        <p:txBody>
          <a:bodyPr wrap="square" lIns="0" tIns="0" rIns="0" bIns="0" rtlCol="0" anchor="ctr"/>
          <a:lstStyle/>
          <a:p>
            <a:pPr indent="0" marL="0">
              <a:buNone/>
            </a:pPr>
            <a:r>
              <a:rPr lang="en-US" sz="900" spc="200" kern="0" dirty="0">
                <a:solidFill>
                  <a:schemeClr val="bg2"/>
                </a:solidFill>
                <a:latin typeface="Consolas" pitchFamily="34" charset="0"/>
                <a:ea typeface="Consolas" pitchFamily="34" charset="-122"/>
                <a:cs typeface="Consolas" pitchFamily="34" charset="-120"/>
              </a:rPr>
              <a:t>RAGNAROK  ·  TRIAL OF THE NINE REALMS</a:t>
            </a:r>
            <a:endParaRPr lang="en-US" sz="9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417320"/>
            <a:ext cx="11277295" cy="1371600"/>
          </a:xfrm>
          <a:prstGeom prst="rect">
            <a:avLst/>
          </a:prstGeom>
          <a:noFill/>
          <a:ln/>
        </p:spPr>
        <p:txBody>
          <a:bodyPr wrap="square" lIns="0" tIns="0" rIns="0" bIns="0" rtlCol="0" anchor="ctr"/>
          <a:lstStyle/>
          <a:p>
            <a:pPr algn="ctr" indent="0" marL="0">
              <a:buNone/>
            </a:pPr>
            <a:r>
              <a:rPr lang="en-US" sz="9600" spc="1800" kern="0" dirty="0">
                <a:solidFill>
                  <a:schemeClr val="bg1"/>
                </a:solidFill>
                <a:latin typeface="Garamond" pitchFamily="34" charset="0"/>
                <a:ea typeface="Garamond" pitchFamily="34" charset="-122"/>
                <a:cs typeface="Garamond" pitchFamily="34" charset="-120"/>
              </a:rPr>
              <a:t>RAGNAROK</a:t>
            </a:r>
            <a:endParaRPr lang="en-US" sz="9600" dirty="0"/>
          </a:p>
        </p:txBody>
      </p:sp>
      <p:sp>
        <p:nvSpPr>
          <p:cNvPr id="3" name="Text 1"/>
          <p:cNvSpPr txBox="1"/>
          <p:nvPr/>
        </p:nvSpPr>
        <p:spPr>
          <a:xfrm>
            <a:off x="457200" y="2788920"/>
            <a:ext cx="11277295" cy="365760"/>
          </a:xfrm>
          <a:prstGeom prst="rect">
            <a:avLst/>
          </a:prstGeom>
          <a:noFill/>
          <a:ln/>
        </p:spPr>
        <p:txBody>
          <a:bodyPr wrap="square" lIns="0" tIns="0" rIns="0" bIns="0" rtlCol="0" anchor="t"/>
          <a:lstStyle/>
          <a:p>
            <a:pPr algn="ctr" indent="0" marL="0">
              <a:buNone/>
            </a:pPr>
            <a:r>
              <a:rPr lang="en-US" sz="1500" spc="900" kern="0" dirty="0">
                <a:solidFill>
                  <a:schemeClr val="accent1"/>
                </a:solidFill>
              </a:rPr>
              <a:t>TRIAL OF THE NINE REALMS</a:t>
            </a:r>
            <a:endParaRPr lang="en-US" sz="1500" dirty="0"/>
          </a:p>
        </p:txBody>
      </p:sp>
      <p:sp>
        <p:nvSpPr>
          <p:cNvPr id="4" name="Text 2"/>
          <p:cNvSpPr txBox="1"/>
          <p:nvPr/>
        </p:nvSpPr>
        <p:spPr>
          <a:xfrm>
            <a:off x="1371600" y="3291840"/>
            <a:ext cx="9448495" cy="457200"/>
          </a:xfrm>
          <a:prstGeom prst="rect">
            <a:avLst/>
          </a:prstGeom>
          <a:noFill/>
          <a:ln/>
        </p:spPr>
        <p:txBody>
          <a:bodyPr wrap="square" lIns="0" tIns="0" rIns="0" bIns="0" rtlCol="0" anchor="t"/>
          <a:lstStyle/>
          <a:p>
            <a:pPr algn="ctr" indent="0" marL="0">
              <a:buNone/>
            </a:pPr>
            <a:r>
              <a:rPr lang="en-US" sz="2200" i="1" dirty="0">
                <a:solidFill>
                  <a:schemeClr val="bg1"/>
                </a:solidFill>
                <a:latin typeface="Garamond" pitchFamily="34" charset="0"/>
                <a:ea typeface="Garamond" pitchFamily="34" charset="-122"/>
                <a:cs typeface="Garamond" pitchFamily="34" charset="-120"/>
              </a:rPr>
              <a:t>An agentic intelligence system for investigating supply-chain disruption</a:t>
            </a:r>
            <a:endParaRPr lang="en-US" sz="2200" dirty="0"/>
          </a:p>
        </p:txBody>
      </p:sp>
      <p:sp>
        <p:nvSpPr>
          <p:cNvPr id="5" name="Text 3"/>
          <p:cNvSpPr txBox="1"/>
          <p:nvPr/>
        </p:nvSpPr>
        <p:spPr>
          <a:xfrm>
            <a:off x="548640" y="6263640"/>
            <a:ext cx="5486400" cy="274320"/>
          </a:xfrm>
          <a:prstGeom prst="rect">
            <a:avLst/>
          </a:prstGeom>
          <a:noFill/>
          <a:ln/>
        </p:spPr>
        <p:txBody>
          <a:bodyPr wrap="square" lIns="0" tIns="0" rIns="0" bIns="0" rtlCol="0" anchor="t"/>
          <a:lstStyle/>
          <a:p>
            <a:pPr indent="0" marL="0">
              <a:buNone/>
            </a:pPr>
            <a:r>
              <a:rPr lang="en-US" sz="1000" spc="200" kern="0" dirty="0">
                <a:solidFill>
                  <a:schemeClr val="bg2"/>
                </a:solidFill>
                <a:latin typeface="Consolas" pitchFamily="34" charset="0"/>
                <a:ea typeface="Consolas" pitchFamily="34" charset="-122"/>
                <a:cs typeface="Consolas" pitchFamily="34" charset="-120"/>
              </a:rPr>
              <a:t>AGENTIC AI HACKATHON  ·  RAGNAROK</a:t>
            </a:r>
            <a:endParaRPr lang="en-US" sz="1000" dirty="0"/>
          </a:p>
        </p:txBody>
      </p:sp>
      <p:sp>
        <p:nvSpPr>
          <p:cNvPr id="6" name="Text 4"/>
          <p:cNvSpPr txBox="1"/>
          <p:nvPr/>
        </p:nvSpPr>
        <p:spPr>
          <a:xfrm>
            <a:off x="6156655" y="6263640"/>
            <a:ext cx="5486400" cy="274320"/>
          </a:xfrm>
          <a:prstGeom prst="rect">
            <a:avLst/>
          </a:prstGeom>
          <a:noFill/>
          <a:ln/>
        </p:spPr>
        <p:txBody>
          <a:bodyPr wrap="square" lIns="0" tIns="0" rIns="0" bIns="0" rtlCol="0" anchor="t"/>
          <a:lstStyle/>
          <a:p>
            <a:pPr algn="r" indent="0" marL="0">
              <a:buNone/>
            </a:pPr>
            <a:r>
              <a:rPr lang="en-US" sz="1000" spc="200" kern="0" dirty="0">
                <a:solidFill>
                  <a:schemeClr val="bg2"/>
                </a:solidFill>
                <a:latin typeface="Consolas" pitchFamily="34" charset="0"/>
                <a:ea typeface="Consolas" pitchFamily="34" charset="-122"/>
                <a:cs typeface="Consolas" pitchFamily="34" charset="-120"/>
              </a:rPr>
              <a:t>TEAM VIKSIT CODERS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THE PROBLEM</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A disrupted corridor can become a national risk</a:t>
            </a:r>
            <a:endParaRPr lang="en-US" sz="3200" dirty="0"/>
          </a:p>
          <a:p>
            <a:pPr algn="l" indent="0" marL="0">
              <a:buNone/>
            </a:pPr>
            <a:r>
              <a:rPr lang="en-US" sz="3200" dirty="0">
                <a:solidFill>
                  <a:schemeClr val="bg1"/>
                </a:solidFill>
                <a:latin typeface="Garamond" pitchFamily="34" charset="0"/>
                <a:ea typeface="Garamond" pitchFamily="34" charset="-122"/>
                <a:cs typeface="Garamond" pitchFamily="34" charset="-120"/>
              </a:rPr>
              <a:t>before the picture is clear</a:t>
            </a:r>
            <a:endParaRPr lang="en-US" sz="3200" dirty="0"/>
          </a:p>
        </p:txBody>
      </p:sp>
      <p:sp>
        <p:nvSpPr>
          <p:cNvPr id="4" name="Shape 2"/>
          <p:cNvSpPr/>
          <p:nvPr/>
        </p:nvSpPr>
        <p:spPr>
          <a:xfrm>
            <a:off x="731520" y="3429000"/>
            <a:ext cx="1600200" cy="566928"/>
          </a:xfrm>
          <a:prstGeom prst="rect">
            <a:avLst/>
          </a:prstGeom>
          <a:solidFill>
            <a:schemeClr val="accent4"/>
          </a:solidFill>
          <a:ln w="12700">
            <a:solidFill>
              <a:schemeClr val="bg2"/>
            </a:solidFill>
            <a:prstDash val="solid"/>
          </a:ln>
        </p:spPr>
      </p:sp>
      <p:sp>
        <p:nvSpPr>
          <p:cNvPr id="5" name="Text 3"/>
          <p:cNvSpPr txBox="1"/>
          <p:nvPr/>
        </p:nvSpPr>
        <p:spPr>
          <a:xfrm>
            <a:off x="868680" y="3502152"/>
            <a:ext cx="1325880" cy="256032"/>
          </a:xfrm>
          <a:prstGeom prst="rect">
            <a:avLst/>
          </a:prstGeom>
          <a:noFill/>
          <a:ln/>
        </p:spPr>
        <p:txBody>
          <a:bodyPr wrap="square" lIns="0" tIns="0" rIns="0" bIns="0" rtlCol="0" anchor="t"/>
          <a:lstStyle/>
          <a:p>
            <a:pPr indent="0" marL="0">
              <a:buNone/>
            </a:pPr>
            <a:r>
              <a:rPr lang="en-US" sz="1400" b="1" dirty="0">
                <a:solidFill>
                  <a:schemeClr val="bg1"/>
                </a:solidFill>
              </a:rPr>
              <a:t>Exporter</a:t>
            </a:r>
            <a:endParaRPr lang="en-US" sz="1400" dirty="0"/>
          </a:p>
        </p:txBody>
      </p:sp>
      <p:sp>
        <p:nvSpPr>
          <p:cNvPr id="6" name="Text 4"/>
          <p:cNvSpPr txBox="1"/>
          <p:nvPr/>
        </p:nvSpPr>
        <p:spPr>
          <a:xfrm>
            <a:off x="868680" y="3749040"/>
            <a:ext cx="1325880" cy="201168"/>
          </a:xfrm>
          <a:prstGeom prst="rect">
            <a:avLst/>
          </a:prstGeom>
          <a:noFill/>
          <a:ln/>
        </p:spPr>
        <p:txBody>
          <a:bodyPr wrap="square" lIns="0" tIns="0" rIns="0" bIns="0" rtlCol="0" anchor="t"/>
          <a:lstStyle/>
          <a:p>
            <a:pPr indent="0" marL="0">
              <a:buNone/>
            </a:pPr>
            <a:r>
              <a:rPr lang="en-US" sz="1000" dirty="0">
                <a:solidFill>
                  <a:schemeClr val="bg2"/>
                </a:solidFill>
              </a:rPr>
              <a:t>grain by sea</a:t>
            </a:r>
            <a:endParaRPr lang="en-US" sz="1000" dirty="0"/>
          </a:p>
        </p:txBody>
      </p:sp>
      <p:sp>
        <p:nvSpPr>
          <p:cNvPr id="7" name="Shape 5"/>
          <p:cNvSpPr/>
          <p:nvPr/>
        </p:nvSpPr>
        <p:spPr>
          <a:xfrm>
            <a:off x="4709160" y="2240280"/>
            <a:ext cx="1737360" cy="566928"/>
          </a:xfrm>
          <a:prstGeom prst="rect">
            <a:avLst/>
          </a:prstGeom>
          <a:solidFill>
            <a:schemeClr val="accent4"/>
          </a:solidFill>
          <a:ln w="12700">
            <a:solidFill>
              <a:schemeClr val="bg1"/>
            </a:solidFill>
            <a:prstDash val="solid"/>
          </a:ln>
        </p:spPr>
      </p:sp>
      <p:sp>
        <p:nvSpPr>
          <p:cNvPr id="8" name="Text 6"/>
          <p:cNvSpPr txBox="1"/>
          <p:nvPr/>
        </p:nvSpPr>
        <p:spPr>
          <a:xfrm>
            <a:off x="4846320" y="2313432"/>
            <a:ext cx="1463040" cy="256032"/>
          </a:xfrm>
          <a:prstGeom prst="rect">
            <a:avLst/>
          </a:prstGeom>
          <a:noFill/>
          <a:ln/>
        </p:spPr>
        <p:txBody>
          <a:bodyPr wrap="square" lIns="0" tIns="0" rIns="0" bIns="0" rtlCol="0" anchor="t"/>
          <a:lstStyle/>
          <a:p>
            <a:pPr indent="0" marL="0">
              <a:buNone/>
            </a:pPr>
            <a:r>
              <a:rPr lang="en-US" sz="1400" b="1" dirty="0">
                <a:solidFill>
                  <a:schemeClr val="bg1"/>
                </a:solidFill>
              </a:rPr>
              <a:t>Importer A</a:t>
            </a:r>
            <a:endParaRPr lang="en-US" sz="1400" dirty="0"/>
          </a:p>
        </p:txBody>
      </p:sp>
      <p:sp>
        <p:nvSpPr>
          <p:cNvPr id="9" name="Text 7"/>
          <p:cNvSpPr txBox="1"/>
          <p:nvPr/>
        </p:nvSpPr>
        <p:spPr>
          <a:xfrm>
            <a:off x="4846320" y="2560320"/>
            <a:ext cx="1463040" cy="201168"/>
          </a:xfrm>
          <a:prstGeom prst="rect">
            <a:avLst/>
          </a:prstGeom>
          <a:noFill/>
          <a:ln/>
        </p:spPr>
        <p:txBody>
          <a:bodyPr wrap="square" lIns="0" tIns="0" rIns="0" bIns="0" rtlCol="0" anchor="t"/>
          <a:lstStyle/>
          <a:p>
            <a:pPr indent="0" marL="0">
              <a:buNone/>
            </a:pPr>
            <a:r>
              <a:rPr lang="en-US" sz="1000" dirty="0">
                <a:solidFill>
                  <a:schemeClr val="bg2"/>
                </a:solidFill>
              </a:rPr>
              <a:t>wheat, maize</a:t>
            </a:r>
            <a:endParaRPr lang="en-US" sz="1000" dirty="0"/>
          </a:p>
        </p:txBody>
      </p:sp>
      <p:sp>
        <p:nvSpPr>
          <p:cNvPr id="10" name="Shape 8"/>
          <p:cNvSpPr/>
          <p:nvPr/>
        </p:nvSpPr>
        <p:spPr>
          <a:xfrm>
            <a:off x="4709160" y="4617720"/>
            <a:ext cx="1737360" cy="566928"/>
          </a:xfrm>
          <a:prstGeom prst="rect">
            <a:avLst/>
          </a:prstGeom>
          <a:solidFill>
            <a:schemeClr val="accent4"/>
          </a:solidFill>
          <a:ln w="12700">
            <a:solidFill>
              <a:schemeClr val="bg1"/>
            </a:solidFill>
            <a:prstDash val="solid"/>
          </a:ln>
        </p:spPr>
      </p:sp>
      <p:sp>
        <p:nvSpPr>
          <p:cNvPr id="11" name="Text 9"/>
          <p:cNvSpPr txBox="1"/>
          <p:nvPr/>
        </p:nvSpPr>
        <p:spPr>
          <a:xfrm>
            <a:off x="4846320" y="4690872"/>
            <a:ext cx="1463040" cy="256032"/>
          </a:xfrm>
          <a:prstGeom prst="rect">
            <a:avLst/>
          </a:prstGeom>
          <a:noFill/>
          <a:ln/>
        </p:spPr>
        <p:txBody>
          <a:bodyPr wrap="square" lIns="0" tIns="0" rIns="0" bIns="0" rtlCol="0" anchor="t"/>
          <a:lstStyle/>
          <a:p>
            <a:pPr indent="0" marL="0">
              <a:buNone/>
            </a:pPr>
            <a:r>
              <a:rPr lang="en-US" sz="1400" b="1" dirty="0">
                <a:solidFill>
                  <a:schemeClr val="bg1"/>
                </a:solidFill>
              </a:rPr>
              <a:t>Importer B</a:t>
            </a:r>
            <a:endParaRPr lang="en-US" sz="1400" dirty="0"/>
          </a:p>
        </p:txBody>
      </p:sp>
      <p:sp>
        <p:nvSpPr>
          <p:cNvPr id="12" name="Text 10"/>
          <p:cNvSpPr txBox="1"/>
          <p:nvPr/>
        </p:nvSpPr>
        <p:spPr>
          <a:xfrm>
            <a:off x="4846320" y="4937760"/>
            <a:ext cx="1463040" cy="201168"/>
          </a:xfrm>
          <a:prstGeom prst="rect">
            <a:avLst/>
          </a:prstGeom>
          <a:noFill/>
          <a:ln/>
        </p:spPr>
        <p:txBody>
          <a:bodyPr wrap="square" lIns="0" tIns="0" rIns="0" bIns="0" rtlCol="0" anchor="t"/>
          <a:lstStyle/>
          <a:p>
            <a:pPr indent="0" marL="0">
              <a:buNone/>
            </a:pPr>
            <a:r>
              <a:rPr lang="en-US" sz="1000" dirty="0">
                <a:solidFill>
                  <a:schemeClr val="bg2"/>
                </a:solidFill>
              </a:rPr>
              <a:t>wheat, maize</a:t>
            </a:r>
            <a:endParaRPr lang="en-US" sz="1000" dirty="0"/>
          </a:p>
        </p:txBody>
      </p:sp>
      <p:sp>
        <p:nvSpPr>
          <p:cNvPr id="13" name="Shape 11"/>
          <p:cNvSpPr/>
          <p:nvPr/>
        </p:nvSpPr>
        <p:spPr>
          <a:xfrm flipV="1">
            <a:off x="2331720" y="2523744"/>
            <a:ext cx="2377440" cy="1188720"/>
          </a:xfrm>
          <a:prstGeom prst="line">
            <a:avLst/>
          </a:prstGeom>
          <a:noFill/>
          <a:ln w="25400">
            <a:solidFill>
              <a:schemeClr val="accent3"/>
            </a:solidFill>
            <a:prstDash val="dash"/>
          </a:ln>
        </p:spPr>
      </p:sp>
      <p:sp>
        <p:nvSpPr>
          <p:cNvPr id="14" name="Shape 12"/>
          <p:cNvSpPr/>
          <p:nvPr/>
        </p:nvSpPr>
        <p:spPr>
          <a:xfrm>
            <a:off x="2331720" y="3712464"/>
            <a:ext cx="2377440" cy="1188720"/>
          </a:xfrm>
          <a:prstGeom prst="line">
            <a:avLst/>
          </a:prstGeom>
          <a:noFill/>
          <a:ln w="25400">
            <a:solidFill>
              <a:schemeClr val="accent3"/>
            </a:solidFill>
            <a:prstDash val="dash"/>
          </a:ln>
        </p:spPr>
      </p:sp>
      <p:sp>
        <p:nvSpPr>
          <p:cNvPr id="15" name="Text 13"/>
          <p:cNvSpPr txBox="1"/>
          <p:nvPr/>
        </p:nvSpPr>
        <p:spPr>
          <a:xfrm>
            <a:off x="3310128" y="2816352"/>
            <a:ext cx="365760" cy="365760"/>
          </a:xfrm>
          <a:prstGeom prst="rect">
            <a:avLst/>
          </a:prstGeom>
          <a:noFill/>
          <a:ln/>
        </p:spPr>
        <p:txBody>
          <a:bodyPr wrap="square" lIns="0" tIns="0" rIns="0" bIns="0" rtlCol="0" anchor="ctr"/>
          <a:lstStyle/>
          <a:p>
            <a:pPr algn="ctr" indent="0" marL="0">
              <a:buNone/>
            </a:pPr>
            <a:r>
              <a:rPr lang="en-US" sz="2400" dirty="0">
                <a:solidFill>
                  <a:schemeClr val="accent3"/>
                </a:solidFill>
              </a:rPr>
              <a:t>×</a:t>
            </a:r>
            <a:endParaRPr lang="en-US" sz="2400" dirty="0"/>
          </a:p>
        </p:txBody>
      </p:sp>
      <p:sp>
        <p:nvSpPr>
          <p:cNvPr id="16" name="Text 14"/>
          <p:cNvSpPr txBox="1"/>
          <p:nvPr/>
        </p:nvSpPr>
        <p:spPr>
          <a:xfrm>
            <a:off x="3310128" y="4041648"/>
            <a:ext cx="365760" cy="365760"/>
          </a:xfrm>
          <a:prstGeom prst="rect">
            <a:avLst/>
          </a:prstGeom>
          <a:noFill/>
          <a:ln/>
        </p:spPr>
        <p:txBody>
          <a:bodyPr wrap="square" lIns="0" tIns="0" rIns="0" bIns="0" rtlCol="0" anchor="ctr"/>
          <a:lstStyle/>
          <a:p>
            <a:pPr algn="ctr" indent="0" marL="0">
              <a:buNone/>
            </a:pPr>
            <a:r>
              <a:rPr lang="en-US" sz="2400" dirty="0">
                <a:solidFill>
                  <a:schemeClr val="accent3"/>
                </a:solidFill>
              </a:rPr>
              <a:t>×</a:t>
            </a:r>
            <a:endParaRPr lang="en-US" sz="2400" dirty="0"/>
          </a:p>
        </p:txBody>
      </p:sp>
      <p:sp>
        <p:nvSpPr>
          <p:cNvPr id="17" name="Text 15"/>
          <p:cNvSpPr txBox="1"/>
          <p:nvPr/>
        </p:nvSpPr>
        <p:spPr>
          <a:xfrm>
            <a:off x="1463040" y="4526280"/>
            <a:ext cx="2377440" cy="228600"/>
          </a:xfrm>
          <a:prstGeom prst="rect">
            <a:avLst/>
          </a:prstGeom>
          <a:noFill/>
          <a:ln/>
        </p:spPr>
        <p:txBody>
          <a:bodyPr wrap="square" lIns="0" tIns="0" rIns="0" bIns="0" rtlCol="0" anchor="t"/>
          <a:lstStyle/>
          <a:p>
            <a:pPr indent="0" marL="0">
              <a:buNone/>
            </a:pPr>
            <a:r>
              <a:rPr lang="en-US" sz="1000" dirty="0">
                <a:solidFill>
                  <a:schemeClr val="accent3"/>
                </a:solidFill>
                <a:latin typeface="Consolas" pitchFamily="34" charset="0"/>
                <a:ea typeface="Consolas" pitchFamily="34" charset="-122"/>
                <a:cs typeface="Consolas" pitchFamily="34" charset="-120"/>
              </a:rPr>
              <a:t>corridor agreement ends</a:t>
            </a:r>
            <a:endParaRPr lang="en-US" sz="1000" dirty="0"/>
          </a:p>
        </p:txBody>
      </p:sp>
      <p:sp>
        <p:nvSpPr>
          <p:cNvPr id="18" name="Shape 16"/>
          <p:cNvSpPr/>
          <p:nvPr/>
        </p:nvSpPr>
        <p:spPr>
          <a:xfrm>
            <a:off x="2331720" y="5303520"/>
            <a:ext cx="1600200" cy="566928"/>
          </a:xfrm>
          <a:prstGeom prst="rect">
            <a:avLst/>
          </a:prstGeom>
          <a:solidFill>
            <a:schemeClr val="accent4"/>
          </a:solidFill>
          <a:ln w="12700">
            <a:solidFill>
              <a:schemeClr val="bg2"/>
            </a:solidFill>
            <a:prstDash val="solid"/>
          </a:ln>
        </p:spPr>
      </p:sp>
      <p:sp>
        <p:nvSpPr>
          <p:cNvPr id="19" name="Text 17"/>
          <p:cNvSpPr txBox="1"/>
          <p:nvPr/>
        </p:nvSpPr>
        <p:spPr>
          <a:xfrm>
            <a:off x="2468880" y="5376672"/>
            <a:ext cx="1325880" cy="256032"/>
          </a:xfrm>
          <a:prstGeom prst="rect">
            <a:avLst/>
          </a:prstGeom>
          <a:noFill/>
          <a:ln/>
        </p:spPr>
        <p:txBody>
          <a:bodyPr wrap="square" lIns="0" tIns="0" rIns="0" bIns="0" rtlCol="0" anchor="t"/>
          <a:lstStyle/>
          <a:p>
            <a:pPr indent="0" marL="0">
              <a:buNone/>
            </a:pPr>
            <a:r>
              <a:rPr lang="en-US" sz="1400" b="1" dirty="0">
                <a:solidFill>
                  <a:schemeClr val="bg1"/>
                </a:solidFill>
              </a:rPr>
              <a:t>Alternatives?</a:t>
            </a:r>
            <a:endParaRPr lang="en-US" sz="1400" dirty="0"/>
          </a:p>
        </p:txBody>
      </p:sp>
      <p:sp>
        <p:nvSpPr>
          <p:cNvPr id="20" name="Text 18"/>
          <p:cNvSpPr txBox="1"/>
          <p:nvPr/>
        </p:nvSpPr>
        <p:spPr>
          <a:xfrm>
            <a:off x="2468880" y="5623560"/>
            <a:ext cx="1325880" cy="201168"/>
          </a:xfrm>
          <a:prstGeom prst="rect">
            <a:avLst/>
          </a:prstGeom>
          <a:noFill/>
          <a:ln/>
        </p:spPr>
        <p:txBody>
          <a:bodyPr wrap="square" lIns="0" tIns="0" rIns="0" bIns="0" rtlCol="0" anchor="t"/>
          <a:lstStyle/>
          <a:p>
            <a:pPr indent="0" marL="0">
              <a:buNone/>
            </a:pPr>
            <a:r>
              <a:rPr lang="en-US" sz="1000" dirty="0">
                <a:solidFill>
                  <a:schemeClr val="bg2"/>
                </a:solidFill>
              </a:rPr>
              <a:t>other suppliers, rail</a:t>
            </a:r>
            <a:endParaRPr lang="en-US" sz="1000" dirty="0"/>
          </a:p>
        </p:txBody>
      </p:sp>
      <p:sp>
        <p:nvSpPr>
          <p:cNvPr id="21" name="Shape 19"/>
          <p:cNvSpPr/>
          <p:nvPr/>
        </p:nvSpPr>
        <p:spPr>
          <a:xfrm flipV="1">
            <a:off x="3931920" y="5120640"/>
            <a:ext cx="777240" cy="466344"/>
          </a:xfrm>
          <a:prstGeom prst="line">
            <a:avLst/>
          </a:prstGeom>
          <a:noFill/>
          <a:ln w="12700">
            <a:solidFill>
              <a:schemeClr val="bg2"/>
            </a:solidFill>
            <a:prstDash val="sysDot"/>
          </a:ln>
        </p:spPr>
      </p:sp>
      <p:sp>
        <p:nvSpPr>
          <p:cNvPr id="22" name="Shape 20"/>
          <p:cNvSpPr/>
          <p:nvPr/>
        </p:nvSpPr>
        <p:spPr>
          <a:xfrm>
            <a:off x="731520" y="2011680"/>
            <a:ext cx="1664208" cy="256032"/>
          </a:xfrm>
          <a:prstGeom prst="rect">
            <a:avLst/>
          </a:prstGeom>
          <a:solidFill>
            <a:schemeClr val="tx1">
              <a:alpha val="70000"/>
            </a:schemeClr>
          </a:solidFill>
          <a:ln w="9525">
            <a:solidFill>
              <a:schemeClr val="accent1"/>
            </a:solidFill>
            <a:prstDash val="solid"/>
          </a:ln>
        </p:spPr>
      </p:sp>
      <p:sp>
        <p:nvSpPr>
          <p:cNvPr id="23" name="Text 21"/>
          <p:cNvSpPr txBox="1"/>
          <p:nvPr/>
        </p:nvSpPr>
        <p:spPr>
          <a:xfrm>
            <a:off x="731520" y="2011680"/>
            <a:ext cx="1664208"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official notice · T1</a:t>
            </a:r>
            <a:endParaRPr lang="en-US" sz="1000" dirty="0"/>
          </a:p>
        </p:txBody>
      </p:sp>
      <p:sp>
        <p:nvSpPr>
          <p:cNvPr id="24" name="Shape 22"/>
          <p:cNvSpPr/>
          <p:nvPr/>
        </p:nvSpPr>
        <p:spPr>
          <a:xfrm>
            <a:off x="2468880" y="2148840"/>
            <a:ext cx="886968" cy="256032"/>
          </a:xfrm>
          <a:prstGeom prst="rect">
            <a:avLst/>
          </a:prstGeom>
          <a:solidFill>
            <a:schemeClr val="tx1">
              <a:alpha val="70000"/>
            </a:schemeClr>
          </a:solidFill>
          <a:ln w="9525">
            <a:solidFill>
              <a:schemeClr val="accent1"/>
            </a:solidFill>
            <a:prstDash val="solid"/>
          </a:ln>
        </p:spPr>
      </p:sp>
      <p:sp>
        <p:nvSpPr>
          <p:cNvPr id="25" name="Text 23"/>
          <p:cNvSpPr txBox="1"/>
          <p:nvPr/>
        </p:nvSpPr>
        <p:spPr>
          <a:xfrm>
            <a:off x="2468880" y="2148840"/>
            <a:ext cx="886968"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correction</a:t>
            </a:r>
            <a:endParaRPr lang="en-US" sz="1000" dirty="0"/>
          </a:p>
        </p:txBody>
      </p:sp>
      <p:sp>
        <p:nvSpPr>
          <p:cNvPr id="26" name="Shape 24"/>
          <p:cNvSpPr/>
          <p:nvPr/>
        </p:nvSpPr>
        <p:spPr>
          <a:xfrm>
            <a:off x="731520" y="2514600"/>
            <a:ext cx="964692" cy="256032"/>
          </a:xfrm>
          <a:prstGeom prst="rect">
            <a:avLst/>
          </a:prstGeom>
          <a:solidFill>
            <a:schemeClr val="tx1">
              <a:alpha val="70000"/>
            </a:schemeClr>
          </a:solidFill>
          <a:ln w="9525">
            <a:solidFill>
              <a:schemeClr val="accent1"/>
            </a:solidFill>
            <a:prstDash val="solid"/>
          </a:ln>
        </p:spPr>
      </p:sp>
      <p:sp>
        <p:nvSpPr>
          <p:cNvPr id="27" name="Text 25"/>
          <p:cNvSpPr txBox="1"/>
          <p:nvPr/>
        </p:nvSpPr>
        <p:spPr>
          <a:xfrm>
            <a:off x="731520" y="2514600"/>
            <a:ext cx="964692"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rumour · T4</a:t>
            </a:r>
            <a:endParaRPr lang="en-US" sz="1000" dirty="0"/>
          </a:p>
        </p:txBody>
      </p:sp>
      <p:sp>
        <p:nvSpPr>
          <p:cNvPr id="28" name="Shape 26"/>
          <p:cNvSpPr/>
          <p:nvPr/>
        </p:nvSpPr>
        <p:spPr>
          <a:xfrm>
            <a:off x="6720840" y="3246120"/>
            <a:ext cx="964692" cy="256032"/>
          </a:xfrm>
          <a:prstGeom prst="rect">
            <a:avLst/>
          </a:prstGeom>
          <a:solidFill>
            <a:schemeClr val="tx1">
              <a:alpha val="70000"/>
            </a:schemeClr>
          </a:solidFill>
          <a:ln w="9525">
            <a:solidFill>
              <a:schemeClr val="accent1"/>
            </a:solidFill>
            <a:prstDash val="solid"/>
          </a:ln>
        </p:spPr>
      </p:sp>
      <p:sp>
        <p:nvSpPr>
          <p:cNvPr id="29" name="Text 27"/>
          <p:cNvSpPr txBox="1"/>
          <p:nvPr/>
        </p:nvSpPr>
        <p:spPr>
          <a:xfrm>
            <a:off x="6720840" y="3246120"/>
            <a:ext cx="964692"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trade table</a:t>
            </a:r>
            <a:endParaRPr lang="en-US" sz="1000" dirty="0"/>
          </a:p>
        </p:txBody>
      </p:sp>
      <p:sp>
        <p:nvSpPr>
          <p:cNvPr id="30" name="Shape 28"/>
          <p:cNvSpPr/>
          <p:nvPr/>
        </p:nvSpPr>
        <p:spPr>
          <a:xfrm>
            <a:off x="6720840" y="3611880"/>
            <a:ext cx="1508760" cy="256032"/>
          </a:xfrm>
          <a:prstGeom prst="rect">
            <a:avLst/>
          </a:prstGeom>
          <a:solidFill>
            <a:schemeClr val="tx1">
              <a:alpha val="70000"/>
            </a:schemeClr>
          </a:solidFill>
          <a:ln w="9525">
            <a:solidFill>
              <a:schemeClr val="accent1"/>
            </a:solidFill>
            <a:prstDash val="solid"/>
          </a:ln>
        </p:spPr>
      </p:sp>
      <p:sp>
        <p:nvSpPr>
          <p:cNvPr id="31" name="Text 29"/>
          <p:cNvSpPr txBox="1"/>
          <p:nvPr/>
        </p:nvSpPr>
        <p:spPr>
          <a:xfrm>
            <a:off x="6720840" y="3611880"/>
            <a:ext cx="1508760"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report after as-of</a:t>
            </a:r>
            <a:endParaRPr lang="en-US" sz="1000" dirty="0"/>
          </a:p>
        </p:txBody>
      </p:sp>
      <p:sp>
        <p:nvSpPr>
          <p:cNvPr id="32" name="Shape 30"/>
          <p:cNvSpPr/>
          <p:nvPr/>
        </p:nvSpPr>
        <p:spPr>
          <a:xfrm>
            <a:off x="6720840" y="3977640"/>
            <a:ext cx="1508760" cy="256032"/>
          </a:xfrm>
          <a:prstGeom prst="rect">
            <a:avLst/>
          </a:prstGeom>
          <a:solidFill>
            <a:schemeClr val="tx1">
              <a:alpha val="70000"/>
            </a:schemeClr>
          </a:solidFill>
          <a:ln w="9525">
            <a:solidFill>
              <a:schemeClr val="accent1"/>
            </a:solidFill>
            <a:prstDash val="solid"/>
          </a:ln>
        </p:spPr>
      </p:sp>
      <p:sp>
        <p:nvSpPr>
          <p:cNvPr id="33" name="Text 31"/>
          <p:cNvSpPr txBox="1"/>
          <p:nvPr/>
        </p:nvSpPr>
        <p:spPr>
          <a:xfrm>
            <a:off x="6720840" y="3977640"/>
            <a:ext cx="1508760"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conflicting report</a:t>
            </a:r>
            <a:endParaRPr lang="en-US" sz="1000" dirty="0"/>
          </a:p>
        </p:txBody>
      </p:sp>
      <p:sp>
        <p:nvSpPr>
          <p:cNvPr id="34" name="Shape 32"/>
          <p:cNvSpPr/>
          <p:nvPr/>
        </p:nvSpPr>
        <p:spPr>
          <a:xfrm>
            <a:off x="2011680" y="2267712"/>
            <a:ext cx="1005840" cy="886968"/>
          </a:xfrm>
          <a:prstGeom prst="line">
            <a:avLst/>
          </a:prstGeom>
          <a:noFill/>
          <a:ln w="9525">
            <a:solidFill>
              <a:schemeClr val="accent6"/>
            </a:solidFill>
            <a:prstDash val="solid"/>
          </a:ln>
        </p:spPr>
      </p:sp>
      <p:sp>
        <p:nvSpPr>
          <p:cNvPr id="35" name="Shape 33"/>
          <p:cNvSpPr/>
          <p:nvPr/>
        </p:nvSpPr>
        <p:spPr>
          <a:xfrm flipH="1" flipV="1">
            <a:off x="6446520" y="2651760"/>
            <a:ext cx="274320" cy="722376"/>
          </a:xfrm>
          <a:prstGeom prst="line">
            <a:avLst/>
          </a:prstGeom>
          <a:noFill/>
          <a:ln w="9525">
            <a:solidFill>
              <a:schemeClr val="accent6"/>
            </a:solidFill>
            <a:prstDash val="solid"/>
          </a:ln>
        </p:spPr>
      </p:sp>
      <p:sp>
        <p:nvSpPr>
          <p:cNvPr id="36" name="Shape 34"/>
          <p:cNvSpPr/>
          <p:nvPr/>
        </p:nvSpPr>
        <p:spPr>
          <a:xfrm flipH="1">
            <a:off x="6446520" y="4105656"/>
            <a:ext cx="274320" cy="649224"/>
          </a:xfrm>
          <a:prstGeom prst="line">
            <a:avLst/>
          </a:prstGeom>
          <a:noFill/>
          <a:ln w="9525">
            <a:solidFill>
              <a:schemeClr val="accent6"/>
            </a:solidFill>
            <a:prstDash val="solid"/>
          </a:ln>
        </p:spPr>
      </p:sp>
      <p:sp>
        <p:nvSpPr>
          <p:cNvPr id="37" name="Text 35"/>
          <p:cNvSpPr txBox="1"/>
          <p:nvPr/>
        </p:nvSpPr>
        <p:spPr>
          <a:xfrm>
            <a:off x="8549640" y="1874520"/>
            <a:ext cx="3108960" cy="228600"/>
          </a:xfrm>
          <a:prstGeom prst="rect">
            <a:avLst/>
          </a:prstGeom>
          <a:noFill/>
          <a:ln/>
        </p:spPr>
        <p:txBody>
          <a:bodyPr wrap="square" lIns="0" tIns="0" rIns="0" bIns="0" rtlCol="0" anchor="t"/>
          <a:lstStyle/>
          <a:p>
            <a:pPr indent="0" marL="0">
              <a:buNone/>
            </a:pPr>
            <a:r>
              <a:rPr lang="en-US" sz="1000" spc="200" kern="0" dirty="0">
                <a:solidFill>
                  <a:schemeClr val="bg2"/>
                </a:solidFill>
                <a:latin typeface="Consolas" pitchFamily="34" charset="0"/>
                <a:ea typeface="Consolas" pitchFamily="34" charset="-122"/>
                <a:cs typeface="Consolas" pitchFamily="34" charset="-120"/>
              </a:rPr>
              <a:t>QUESTIONS THAT ARRIVE AT ONCE</a:t>
            </a:r>
            <a:endParaRPr lang="en-US" sz="1000" dirty="0"/>
          </a:p>
        </p:txBody>
      </p:sp>
      <p:pic>
        <p:nvPicPr>
          <p:cNvPr id="38" name="Image 0" descr="Z:\Projects\Ragnarok\presentation\assets\stave_ice.png">    </p:cNvPr>
          <p:cNvPicPr>
            <a:picLocks noChangeAspect="1"/>
          </p:cNvPicPr>
          <p:nvPr/>
        </p:nvPicPr>
        <p:blipFill>
          <a:blip r:embed="rId1"/>
          <a:stretch>
            <a:fillRect/>
          </a:stretch>
        </p:blipFill>
        <p:spPr>
          <a:xfrm>
            <a:off x="8549640" y="2258568"/>
            <a:ext cx="91440" cy="182880"/>
          </a:xfrm>
          <a:prstGeom prst="rect">
            <a:avLst/>
          </a:prstGeom>
        </p:spPr>
      </p:pic>
      <p:sp>
        <p:nvSpPr>
          <p:cNvPr id="39" name="Text 36"/>
          <p:cNvSpPr txBox="1"/>
          <p:nvPr/>
        </p:nvSpPr>
        <p:spPr>
          <a:xfrm>
            <a:off x="8778240" y="2212848"/>
            <a:ext cx="2880360" cy="502920"/>
          </a:xfrm>
          <a:prstGeom prst="rect">
            <a:avLst/>
          </a:prstGeom>
          <a:noFill/>
          <a:ln/>
        </p:spPr>
        <p:txBody>
          <a:bodyPr wrap="square" lIns="0" tIns="0" rIns="0" bIns="0" rtlCol="0" anchor="t"/>
          <a:lstStyle/>
          <a:p>
            <a:pPr indent="0" marL="0">
              <a:buNone/>
            </a:pPr>
            <a:r>
              <a:rPr lang="en-US" sz="1400" dirty="0">
                <a:solidFill>
                  <a:schemeClr val="bg1"/>
                </a:solidFill>
              </a:rPr>
              <a:t>Which countries and sectors are exposed?</a:t>
            </a:r>
            <a:endParaRPr lang="en-US" sz="1400" dirty="0"/>
          </a:p>
        </p:txBody>
      </p:sp>
      <p:pic>
        <p:nvPicPr>
          <p:cNvPr id="40" name="Image 1" descr="Z:\Projects\Ragnarok\presentation\assets\stave_ice.png">    </p:cNvPr>
          <p:cNvPicPr>
            <a:picLocks noChangeAspect="1"/>
          </p:cNvPicPr>
          <p:nvPr/>
        </p:nvPicPr>
        <p:blipFill>
          <a:blip r:embed="rId2"/>
          <a:stretch>
            <a:fillRect/>
          </a:stretch>
        </p:blipFill>
        <p:spPr>
          <a:xfrm>
            <a:off x="8549640" y="2862072"/>
            <a:ext cx="91440" cy="182880"/>
          </a:xfrm>
          <a:prstGeom prst="rect">
            <a:avLst/>
          </a:prstGeom>
        </p:spPr>
      </p:pic>
      <p:sp>
        <p:nvSpPr>
          <p:cNvPr id="41" name="Text 37"/>
          <p:cNvSpPr txBox="1"/>
          <p:nvPr/>
        </p:nvSpPr>
        <p:spPr>
          <a:xfrm>
            <a:off x="8778240" y="2816352"/>
            <a:ext cx="2880360" cy="502920"/>
          </a:xfrm>
          <a:prstGeom prst="rect">
            <a:avLst/>
          </a:prstGeom>
          <a:noFill/>
          <a:ln/>
        </p:spPr>
        <p:txBody>
          <a:bodyPr wrap="square" lIns="0" tIns="0" rIns="0" bIns="0" rtlCol="0" anchor="t"/>
          <a:lstStyle/>
          <a:p>
            <a:pPr indent="0" marL="0">
              <a:buNone/>
            </a:pPr>
            <a:r>
              <a:rPr lang="en-US" sz="1400" dirty="0">
                <a:solidFill>
                  <a:schemeClr val="bg1"/>
                </a:solidFill>
              </a:rPr>
              <a:t>How much trade is actually at risk?</a:t>
            </a:r>
            <a:endParaRPr lang="en-US" sz="1400" dirty="0"/>
          </a:p>
        </p:txBody>
      </p:sp>
      <p:pic>
        <p:nvPicPr>
          <p:cNvPr id="42" name="Image 2" descr="Z:\Projects\Ragnarok\presentation\assets\stave_ice.png">    </p:cNvPr>
          <p:cNvPicPr>
            <a:picLocks noChangeAspect="1"/>
          </p:cNvPicPr>
          <p:nvPr/>
        </p:nvPicPr>
        <p:blipFill>
          <a:blip r:embed="rId3"/>
          <a:stretch>
            <a:fillRect/>
          </a:stretch>
        </p:blipFill>
        <p:spPr>
          <a:xfrm>
            <a:off x="8549640" y="3465576"/>
            <a:ext cx="91440" cy="182880"/>
          </a:xfrm>
          <a:prstGeom prst="rect">
            <a:avLst/>
          </a:prstGeom>
        </p:spPr>
      </p:pic>
      <p:sp>
        <p:nvSpPr>
          <p:cNvPr id="43" name="Text 38"/>
          <p:cNvSpPr txBox="1"/>
          <p:nvPr/>
        </p:nvSpPr>
        <p:spPr>
          <a:xfrm>
            <a:off x="8778240" y="3419856"/>
            <a:ext cx="2880360" cy="502920"/>
          </a:xfrm>
          <a:prstGeom prst="rect">
            <a:avLst/>
          </a:prstGeom>
          <a:noFill/>
          <a:ln/>
        </p:spPr>
        <p:txBody>
          <a:bodyPr wrap="square" lIns="0" tIns="0" rIns="0" bIns="0" rtlCol="0" anchor="t"/>
          <a:lstStyle/>
          <a:p>
            <a:pPr indent="0" marL="0">
              <a:buNone/>
            </a:pPr>
            <a:r>
              <a:rPr lang="en-US" sz="1400" dirty="0">
                <a:solidFill>
                  <a:schemeClr val="bg1"/>
                </a:solidFill>
              </a:rPr>
              <a:t>Can other routes, suppliers or stocks cover it?</a:t>
            </a:r>
            <a:endParaRPr lang="en-US" sz="1400" dirty="0"/>
          </a:p>
        </p:txBody>
      </p:sp>
      <p:pic>
        <p:nvPicPr>
          <p:cNvPr id="44" name="Image 3" descr="Z:\Projects\Ragnarok\presentation\assets\stave_ice.png">    </p:cNvPr>
          <p:cNvPicPr>
            <a:picLocks noChangeAspect="1"/>
          </p:cNvPicPr>
          <p:nvPr/>
        </p:nvPicPr>
        <p:blipFill>
          <a:blip r:embed="rId4"/>
          <a:stretch>
            <a:fillRect/>
          </a:stretch>
        </p:blipFill>
        <p:spPr>
          <a:xfrm>
            <a:off x="8549640" y="4069080"/>
            <a:ext cx="91440" cy="182880"/>
          </a:xfrm>
          <a:prstGeom prst="rect">
            <a:avLst/>
          </a:prstGeom>
        </p:spPr>
      </p:pic>
      <p:sp>
        <p:nvSpPr>
          <p:cNvPr id="45" name="Text 39"/>
          <p:cNvSpPr txBox="1"/>
          <p:nvPr/>
        </p:nvSpPr>
        <p:spPr>
          <a:xfrm>
            <a:off x="8778240" y="4023360"/>
            <a:ext cx="2880360" cy="502920"/>
          </a:xfrm>
          <a:prstGeom prst="rect">
            <a:avLst/>
          </a:prstGeom>
          <a:noFill/>
          <a:ln/>
        </p:spPr>
        <p:txBody>
          <a:bodyPr wrap="square" lIns="0" tIns="0" rIns="0" bIns="0" rtlCol="0" anchor="t"/>
          <a:lstStyle/>
          <a:p>
            <a:pPr indent="0" marL="0">
              <a:buNone/>
            </a:pPr>
            <a:r>
              <a:rPr lang="en-US" sz="1400" dirty="0">
                <a:solidFill>
                  <a:schemeClr val="bg1"/>
                </a:solidFill>
              </a:rPr>
              <a:t>Which claims rest on reliable evidence?</a:t>
            </a:r>
            <a:endParaRPr lang="en-US" sz="1400" dirty="0"/>
          </a:p>
        </p:txBody>
      </p:sp>
      <p:pic>
        <p:nvPicPr>
          <p:cNvPr id="46" name="Image 4" descr="Z:\Projects\Ragnarok\presentation\assets\stave_ice.png">    </p:cNvPr>
          <p:cNvPicPr>
            <a:picLocks noChangeAspect="1"/>
          </p:cNvPicPr>
          <p:nvPr/>
        </p:nvPicPr>
        <p:blipFill>
          <a:blip r:embed="rId5"/>
          <a:stretch>
            <a:fillRect/>
          </a:stretch>
        </p:blipFill>
        <p:spPr>
          <a:xfrm>
            <a:off x="8549640" y="4672584"/>
            <a:ext cx="91440" cy="182880"/>
          </a:xfrm>
          <a:prstGeom prst="rect">
            <a:avLst/>
          </a:prstGeom>
        </p:spPr>
      </p:pic>
      <p:sp>
        <p:nvSpPr>
          <p:cNvPr id="47" name="Text 40"/>
          <p:cNvSpPr txBox="1"/>
          <p:nvPr/>
        </p:nvSpPr>
        <p:spPr>
          <a:xfrm>
            <a:off x="8778240" y="4626864"/>
            <a:ext cx="2880360" cy="502920"/>
          </a:xfrm>
          <a:prstGeom prst="rect">
            <a:avLst/>
          </a:prstGeom>
          <a:noFill/>
          <a:ln/>
        </p:spPr>
        <p:txBody>
          <a:bodyPr wrap="square" lIns="0" tIns="0" rIns="0" bIns="0" rtlCol="0" anchor="t"/>
          <a:lstStyle/>
          <a:p>
            <a:pPr indent="0" marL="0">
              <a:buNone/>
            </a:pPr>
            <a:r>
              <a:rPr lang="en-US" sz="1400" dirty="0">
                <a:solidFill>
                  <a:schemeClr val="bg1"/>
                </a:solidFill>
              </a:rPr>
              <a:t>What is still missing?</a:t>
            </a:r>
            <a:endParaRPr lang="en-US" sz="1400" dirty="0"/>
          </a:p>
        </p:txBody>
      </p:sp>
      <p:sp>
        <p:nvSpPr>
          <p:cNvPr id="48" name="Text 41"/>
          <p:cNvSpPr txBox="1"/>
          <p:nvPr/>
        </p:nvSpPr>
        <p:spPr>
          <a:xfrm>
            <a:off x="8549640" y="5349240"/>
            <a:ext cx="3108960" cy="777240"/>
          </a:xfrm>
          <a:prstGeom prst="rect">
            <a:avLst/>
          </a:prstGeom>
          <a:noFill/>
          <a:ln/>
        </p:spPr>
        <p:txBody>
          <a:bodyPr wrap="square" lIns="0" tIns="0" rIns="0" bIns="0" rtlCol="0" anchor="t"/>
          <a:lstStyle/>
          <a:p>
            <a:pPr indent="0" marL="0">
              <a:buNone/>
            </a:pPr>
            <a:r>
              <a:rPr lang="en-US" sz="1800" i="1" dirty="0">
                <a:solidFill>
                  <a:schemeClr val="bg1"/>
                </a:solidFill>
                <a:latin typeface="Garamond" pitchFamily="34" charset="0"/>
                <a:ea typeface="Garamond" pitchFamily="34" charset="-122"/>
                <a:cs typeface="Garamond" pitchFamily="34" charset="-120"/>
              </a:rPr>
              <a:t>The hard part is not finding information. It is reconciling it into a defensible assessment.</a:t>
            </a:r>
            <a:endParaRPr lang="en-US" sz="1800" dirty="0"/>
          </a:p>
        </p:txBody>
      </p:sp>
      <p:sp>
        <p:nvSpPr>
          <p:cNvPr id="49" name="Text 42"/>
          <p:cNvSpPr txBox="1"/>
          <p:nvPr/>
        </p:nvSpPr>
        <p:spPr>
          <a:xfrm>
            <a:off x="548640" y="6144768"/>
            <a:ext cx="5486400" cy="201168"/>
          </a:xfrm>
          <a:prstGeom prst="rect">
            <a:avLst/>
          </a:prstGeom>
          <a:noFill/>
          <a:ln/>
        </p:spPr>
        <p:txBody>
          <a:bodyPr wrap="square" lIns="0" tIns="0" rIns="0" bIns="0" rtlCol="0" anchor="t"/>
          <a:lstStyle/>
          <a:p>
            <a:pPr indent="0" marL="0">
              <a:buNone/>
            </a:pPr>
            <a:r>
              <a:rPr lang="en-US" sz="1000" dirty="0">
                <a:solidFill>
                  <a:schemeClr val="bg2"/>
                </a:solidFill>
              </a:rPr>
              <a:t>Illustration. Roles taken from the Runemark dev pack (fictional).</a:t>
            </a:r>
            <a:endParaRPr lang="en-US" sz="10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THE INSIGHT</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One answer can hide an entire side of the story</a:t>
            </a:r>
            <a:endParaRPr lang="en-US" sz="3200" dirty="0"/>
          </a:p>
        </p:txBody>
      </p:sp>
      <p:sp>
        <p:nvSpPr>
          <p:cNvPr id="4" name="Shape 2"/>
          <p:cNvSpPr/>
          <p:nvPr/>
        </p:nvSpPr>
        <p:spPr>
          <a:xfrm>
            <a:off x="548640" y="1828800"/>
            <a:ext cx="3383280" cy="3566160"/>
          </a:xfrm>
          <a:prstGeom prst="rect">
            <a:avLst/>
          </a:prstGeom>
          <a:solidFill>
            <a:schemeClr val="tx2"/>
          </a:solidFill>
          <a:ln w="9525">
            <a:solidFill>
              <a:schemeClr val="accent5"/>
            </a:solidFill>
            <a:prstDash val="solid"/>
          </a:ln>
        </p:spPr>
      </p:sp>
      <p:sp>
        <p:nvSpPr>
          <p:cNvPr id="5" name="Text 3"/>
          <p:cNvSpPr txBox="1"/>
          <p:nvPr/>
        </p:nvSpPr>
        <p:spPr>
          <a:xfrm>
            <a:off x="822960" y="2057400"/>
            <a:ext cx="2743200" cy="228600"/>
          </a:xfrm>
          <a:prstGeom prst="rect">
            <a:avLst/>
          </a:prstGeom>
          <a:noFill/>
          <a:ln/>
        </p:spPr>
        <p:txBody>
          <a:bodyPr wrap="square" lIns="0" tIns="0" rIns="0" bIns="0" rtlCol="0" anchor="t"/>
          <a:lstStyle/>
          <a:p>
            <a:pPr indent="0" marL="0">
              <a:buNone/>
            </a:pPr>
            <a:r>
              <a:rPr lang="en-US" sz="1000" spc="200" kern="0" dirty="0">
                <a:solidFill>
                  <a:schemeClr val="bg2"/>
                </a:solidFill>
                <a:latin typeface="Consolas" pitchFamily="34" charset="0"/>
                <a:ea typeface="Consolas" pitchFamily="34" charset="-122"/>
                <a:cs typeface="Consolas" pitchFamily="34" charset="-120"/>
              </a:rPr>
              <a:t>ONE ANSWER</a:t>
            </a:r>
            <a:endParaRPr lang="en-US" sz="1000" dirty="0"/>
          </a:p>
        </p:txBody>
      </p:sp>
      <p:sp>
        <p:nvSpPr>
          <p:cNvPr id="6" name="Shape 4"/>
          <p:cNvSpPr/>
          <p:nvPr/>
        </p:nvSpPr>
        <p:spPr>
          <a:xfrm>
            <a:off x="822960" y="2514600"/>
            <a:ext cx="2834640" cy="91440"/>
          </a:xfrm>
          <a:prstGeom prst="rect">
            <a:avLst/>
          </a:prstGeom>
          <a:solidFill>
            <a:schemeClr val="accent5"/>
          </a:solidFill>
          <a:ln w="12700">
            <a:solidFill>
              <a:schemeClr val="accent5"/>
            </a:solidFill>
            <a:prstDash val="solid"/>
          </a:ln>
        </p:spPr>
      </p:sp>
      <p:sp>
        <p:nvSpPr>
          <p:cNvPr id="7" name="Shape 5"/>
          <p:cNvSpPr/>
          <p:nvPr/>
        </p:nvSpPr>
        <p:spPr>
          <a:xfrm>
            <a:off x="822960" y="2807208"/>
            <a:ext cx="2560320" cy="91440"/>
          </a:xfrm>
          <a:prstGeom prst="rect">
            <a:avLst/>
          </a:prstGeom>
          <a:solidFill>
            <a:schemeClr val="accent5"/>
          </a:solidFill>
          <a:ln w="12700">
            <a:solidFill>
              <a:schemeClr val="accent5"/>
            </a:solidFill>
            <a:prstDash val="solid"/>
          </a:ln>
        </p:spPr>
      </p:sp>
      <p:sp>
        <p:nvSpPr>
          <p:cNvPr id="8" name="Shape 6"/>
          <p:cNvSpPr/>
          <p:nvPr/>
        </p:nvSpPr>
        <p:spPr>
          <a:xfrm>
            <a:off x="822960" y="3099816"/>
            <a:ext cx="2788920" cy="91440"/>
          </a:xfrm>
          <a:prstGeom prst="rect">
            <a:avLst/>
          </a:prstGeom>
          <a:solidFill>
            <a:schemeClr val="accent5"/>
          </a:solidFill>
          <a:ln w="12700">
            <a:solidFill>
              <a:schemeClr val="accent5"/>
            </a:solidFill>
            <a:prstDash val="solid"/>
          </a:ln>
        </p:spPr>
      </p:sp>
      <p:sp>
        <p:nvSpPr>
          <p:cNvPr id="9" name="Shape 7"/>
          <p:cNvSpPr/>
          <p:nvPr/>
        </p:nvSpPr>
        <p:spPr>
          <a:xfrm>
            <a:off x="822960" y="3392424"/>
            <a:ext cx="2194560" cy="91440"/>
          </a:xfrm>
          <a:prstGeom prst="rect">
            <a:avLst/>
          </a:prstGeom>
          <a:solidFill>
            <a:schemeClr val="accent5"/>
          </a:solidFill>
          <a:ln w="12700">
            <a:solidFill>
              <a:schemeClr val="accent5"/>
            </a:solidFill>
            <a:prstDash val="solid"/>
          </a:ln>
        </p:spPr>
      </p:sp>
      <p:sp>
        <p:nvSpPr>
          <p:cNvPr id="10" name="Shape 8"/>
          <p:cNvSpPr/>
          <p:nvPr/>
        </p:nvSpPr>
        <p:spPr>
          <a:xfrm>
            <a:off x="822960" y="3685032"/>
            <a:ext cx="2651760" cy="91440"/>
          </a:xfrm>
          <a:prstGeom prst="rect">
            <a:avLst/>
          </a:prstGeom>
          <a:solidFill>
            <a:schemeClr val="accent5"/>
          </a:solidFill>
          <a:ln w="12700">
            <a:solidFill>
              <a:schemeClr val="accent5"/>
            </a:solidFill>
            <a:prstDash val="solid"/>
          </a:ln>
        </p:spPr>
      </p:sp>
      <p:sp>
        <p:nvSpPr>
          <p:cNvPr id="11" name="Shape 9"/>
          <p:cNvSpPr/>
          <p:nvPr/>
        </p:nvSpPr>
        <p:spPr>
          <a:xfrm>
            <a:off x="822960" y="3977640"/>
            <a:ext cx="1737360" cy="91440"/>
          </a:xfrm>
          <a:prstGeom prst="rect">
            <a:avLst/>
          </a:prstGeom>
          <a:solidFill>
            <a:schemeClr val="accent5"/>
          </a:solidFill>
          <a:ln w="12700">
            <a:solidFill>
              <a:schemeClr val="accent5"/>
            </a:solidFill>
            <a:prstDash val="solid"/>
          </a:ln>
        </p:spPr>
      </p:sp>
      <p:sp>
        <p:nvSpPr>
          <p:cNvPr id="12" name="Shape 10"/>
          <p:cNvSpPr/>
          <p:nvPr/>
        </p:nvSpPr>
        <p:spPr>
          <a:xfrm>
            <a:off x="822960" y="4407408"/>
            <a:ext cx="109728" cy="109728"/>
          </a:xfrm>
          <a:prstGeom prst="rect">
            <a:avLst/>
          </a:prstGeom>
          <a:solidFill>
            <a:schemeClr val="accent3"/>
          </a:solidFill>
          <a:ln w="12700">
            <a:solidFill>
              <a:schemeClr val="accent3"/>
            </a:solidFill>
            <a:prstDash val="solid"/>
          </a:ln>
        </p:spPr>
      </p:sp>
      <p:sp>
        <p:nvSpPr>
          <p:cNvPr id="13" name="Text 11"/>
          <p:cNvSpPr txBox="1"/>
          <p:nvPr/>
        </p:nvSpPr>
        <p:spPr>
          <a:xfrm>
            <a:off x="1051560" y="4325112"/>
            <a:ext cx="2743200" cy="274320"/>
          </a:xfrm>
          <a:prstGeom prst="rect">
            <a:avLst/>
          </a:prstGeom>
          <a:noFill/>
          <a:ln/>
        </p:spPr>
        <p:txBody>
          <a:bodyPr wrap="square" lIns="0" tIns="0" rIns="0" bIns="0" rtlCol="0" anchor="t"/>
          <a:lstStyle/>
          <a:p>
            <a:pPr indent="0" marL="0">
              <a:buNone/>
            </a:pPr>
            <a:r>
              <a:rPr lang="en-US" sz="1400" dirty="0">
                <a:solidFill>
                  <a:schemeClr val="bg1"/>
                </a:solidFill>
              </a:rPr>
              <a:t>Incomplete evidence</a:t>
            </a:r>
            <a:endParaRPr lang="en-US" sz="1400" dirty="0"/>
          </a:p>
        </p:txBody>
      </p:sp>
      <p:sp>
        <p:nvSpPr>
          <p:cNvPr id="14" name="Shape 12"/>
          <p:cNvSpPr/>
          <p:nvPr/>
        </p:nvSpPr>
        <p:spPr>
          <a:xfrm>
            <a:off x="822960" y="4736592"/>
            <a:ext cx="109728" cy="109728"/>
          </a:xfrm>
          <a:prstGeom prst="rect">
            <a:avLst/>
          </a:prstGeom>
          <a:solidFill>
            <a:schemeClr val="accent3"/>
          </a:solidFill>
          <a:ln w="12700">
            <a:solidFill>
              <a:schemeClr val="accent3"/>
            </a:solidFill>
            <a:prstDash val="solid"/>
          </a:ln>
        </p:spPr>
      </p:sp>
      <p:sp>
        <p:nvSpPr>
          <p:cNvPr id="15" name="Text 13"/>
          <p:cNvSpPr txBox="1"/>
          <p:nvPr/>
        </p:nvSpPr>
        <p:spPr>
          <a:xfrm>
            <a:off x="1051560" y="4654296"/>
            <a:ext cx="2743200" cy="274320"/>
          </a:xfrm>
          <a:prstGeom prst="rect">
            <a:avLst/>
          </a:prstGeom>
          <a:noFill/>
          <a:ln/>
        </p:spPr>
        <p:txBody>
          <a:bodyPr wrap="square" lIns="0" tIns="0" rIns="0" bIns="0" rtlCol="0" anchor="t"/>
          <a:lstStyle/>
          <a:p>
            <a:pPr indent="0" marL="0">
              <a:buNone/>
            </a:pPr>
            <a:r>
              <a:rPr lang="en-US" sz="1400" dirty="0">
                <a:solidFill>
                  <a:schemeClr val="bg1"/>
                </a:solidFill>
              </a:rPr>
              <a:t>One-sided interpretation</a:t>
            </a:r>
            <a:endParaRPr lang="en-US" sz="1400" dirty="0"/>
          </a:p>
        </p:txBody>
      </p:sp>
      <p:sp>
        <p:nvSpPr>
          <p:cNvPr id="16" name="Shape 14"/>
          <p:cNvSpPr/>
          <p:nvPr/>
        </p:nvSpPr>
        <p:spPr>
          <a:xfrm>
            <a:off x="822960" y="5065776"/>
            <a:ext cx="109728" cy="109728"/>
          </a:xfrm>
          <a:prstGeom prst="rect">
            <a:avLst/>
          </a:prstGeom>
          <a:solidFill>
            <a:schemeClr val="accent3"/>
          </a:solidFill>
          <a:ln w="12700">
            <a:solidFill>
              <a:schemeClr val="accent3"/>
            </a:solidFill>
            <a:prstDash val="solid"/>
          </a:ln>
        </p:spPr>
      </p:sp>
      <p:sp>
        <p:nvSpPr>
          <p:cNvPr id="17" name="Text 15"/>
          <p:cNvSpPr txBox="1"/>
          <p:nvPr/>
        </p:nvSpPr>
        <p:spPr>
          <a:xfrm>
            <a:off x="1051560" y="4983480"/>
            <a:ext cx="2743200" cy="274320"/>
          </a:xfrm>
          <a:prstGeom prst="rect">
            <a:avLst/>
          </a:prstGeom>
          <a:noFill/>
          <a:ln/>
        </p:spPr>
        <p:txBody>
          <a:bodyPr wrap="square" lIns="0" tIns="0" rIns="0" bIns="0" rtlCol="0" anchor="t"/>
          <a:lstStyle/>
          <a:p>
            <a:pPr indent="0" marL="0">
              <a:buNone/>
            </a:pPr>
            <a:r>
              <a:rPr lang="en-US" sz="1400" dirty="0">
                <a:solidFill>
                  <a:schemeClr val="bg1"/>
                </a:solidFill>
              </a:rPr>
              <a:t>Numbers no one can check</a:t>
            </a:r>
            <a:endParaRPr lang="en-US" sz="1400" dirty="0"/>
          </a:p>
        </p:txBody>
      </p:sp>
      <p:sp>
        <p:nvSpPr>
          <p:cNvPr id="18" name="Shape 16"/>
          <p:cNvSpPr/>
          <p:nvPr/>
        </p:nvSpPr>
        <p:spPr>
          <a:xfrm>
            <a:off x="4160520" y="3611880"/>
            <a:ext cx="731520" cy="91"/>
          </a:xfrm>
          <a:prstGeom prst="line">
            <a:avLst/>
          </a:prstGeom>
          <a:noFill/>
          <a:ln w="15875">
            <a:solidFill>
              <a:schemeClr val="bg2"/>
            </a:solidFill>
            <a:prstDash val="solid"/>
            <a:tailEnd type="triangle"/>
          </a:ln>
        </p:spPr>
      </p:sp>
      <p:sp>
        <p:nvSpPr>
          <p:cNvPr id="19" name="Shape 17"/>
          <p:cNvSpPr/>
          <p:nvPr/>
        </p:nvSpPr>
        <p:spPr>
          <a:xfrm>
            <a:off x="5120640" y="1828800"/>
            <a:ext cx="6519672" cy="749808"/>
          </a:xfrm>
          <a:prstGeom prst="rect">
            <a:avLst/>
          </a:prstGeom>
          <a:solidFill>
            <a:schemeClr val="accent4"/>
          </a:solidFill>
          <a:ln w="9525">
            <a:solidFill>
              <a:schemeClr val="accent5"/>
            </a:solidFill>
            <a:prstDash val="solid"/>
          </a:ln>
        </p:spPr>
      </p:sp>
      <p:pic>
        <p:nvPicPr>
          <p:cNvPr id="20" name="Image 0" descr="Z:\Projects\Ragnarok\presentation\assets\stave_ice.png">    </p:cNvPr>
          <p:cNvPicPr>
            <a:picLocks noChangeAspect="1"/>
          </p:cNvPicPr>
          <p:nvPr/>
        </p:nvPicPr>
        <p:blipFill>
          <a:blip r:embed="rId1"/>
          <a:stretch>
            <a:fillRect/>
          </a:stretch>
        </p:blipFill>
        <p:spPr>
          <a:xfrm>
            <a:off x="5349240" y="2020824"/>
            <a:ext cx="182880" cy="365760"/>
          </a:xfrm>
          <a:prstGeom prst="rect">
            <a:avLst/>
          </a:prstGeom>
        </p:spPr>
      </p:pic>
      <p:sp>
        <p:nvSpPr>
          <p:cNvPr id="21" name="Text 18"/>
          <p:cNvSpPr txBox="1"/>
          <p:nvPr/>
        </p:nvSpPr>
        <p:spPr>
          <a:xfrm>
            <a:off x="5760720" y="1938528"/>
            <a:ext cx="2011680" cy="548640"/>
          </a:xfrm>
          <a:prstGeom prst="rect">
            <a:avLst/>
          </a:prstGeom>
          <a:noFill/>
          <a:ln/>
        </p:spPr>
        <p:txBody>
          <a:bodyPr wrap="square" lIns="0" tIns="0" rIns="0" bIns="0" rtlCol="0" anchor="ctr"/>
          <a:lstStyle/>
          <a:p>
            <a:pPr indent="0" marL="0">
              <a:buNone/>
            </a:pPr>
            <a:r>
              <a:rPr lang="en-US" sz="2000" spc="200" kern="0" dirty="0">
                <a:solidFill>
                  <a:schemeClr val="accent1"/>
                </a:solidFill>
                <a:latin typeface="Garamond" pitchFamily="34" charset="0"/>
                <a:ea typeface="Garamond" pitchFamily="34" charset="-122"/>
                <a:cs typeface="Garamond" pitchFamily="34" charset="-120"/>
              </a:rPr>
              <a:t>RESEARCH</a:t>
            </a:r>
            <a:endParaRPr lang="en-US" sz="2000" dirty="0"/>
          </a:p>
        </p:txBody>
      </p:sp>
      <p:sp>
        <p:nvSpPr>
          <p:cNvPr id="22" name="Text 19"/>
          <p:cNvSpPr txBox="1"/>
          <p:nvPr/>
        </p:nvSpPr>
        <p:spPr>
          <a:xfrm>
            <a:off x="7863840" y="1938528"/>
            <a:ext cx="3611880" cy="548640"/>
          </a:xfrm>
          <a:prstGeom prst="rect">
            <a:avLst/>
          </a:prstGeom>
          <a:noFill/>
          <a:ln/>
        </p:spPr>
        <p:txBody>
          <a:bodyPr wrap="square" lIns="0" tIns="0" rIns="0" bIns="0" rtlCol="0" anchor="ctr"/>
          <a:lstStyle/>
          <a:p>
            <a:pPr indent="0" marL="0">
              <a:buNone/>
            </a:pPr>
            <a:r>
              <a:rPr lang="en-US" sz="1400" dirty="0">
                <a:solidFill>
                  <a:schemeClr val="bg1"/>
                </a:solidFill>
              </a:rPr>
              <a:t>Heimdall builds the case file and names what is missing</a:t>
            </a:r>
            <a:endParaRPr lang="en-US" sz="1400" dirty="0"/>
          </a:p>
        </p:txBody>
      </p:sp>
      <p:sp>
        <p:nvSpPr>
          <p:cNvPr id="23" name="Shape 20"/>
          <p:cNvSpPr/>
          <p:nvPr/>
        </p:nvSpPr>
        <p:spPr>
          <a:xfrm>
            <a:off x="5120640" y="2743200"/>
            <a:ext cx="6519672" cy="749808"/>
          </a:xfrm>
          <a:prstGeom prst="rect">
            <a:avLst/>
          </a:prstGeom>
          <a:solidFill>
            <a:schemeClr val="accent4"/>
          </a:solidFill>
          <a:ln w="9525">
            <a:solidFill>
              <a:schemeClr val="accent5"/>
            </a:solidFill>
            <a:prstDash val="solid"/>
          </a:ln>
        </p:spPr>
      </p:sp>
      <p:pic>
        <p:nvPicPr>
          <p:cNvPr id="24" name="Image 1" descr="Z:\Projects\Ragnarok\presentation\assets\stave_ice.png">    </p:cNvPr>
          <p:cNvPicPr>
            <a:picLocks noChangeAspect="1"/>
          </p:cNvPicPr>
          <p:nvPr/>
        </p:nvPicPr>
        <p:blipFill>
          <a:blip r:embed="rId2"/>
          <a:stretch>
            <a:fillRect/>
          </a:stretch>
        </p:blipFill>
        <p:spPr>
          <a:xfrm>
            <a:off x="5349240" y="2935224"/>
            <a:ext cx="182880" cy="365760"/>
          </a:xfrm>
          <a:prstGeom prst="rect">
            <a:avLst/>
          </a:prstGeom>
        </p:spPr>
      </p:pic>
      <p:sp>
        <p:nvSpPr>
          <p:cNvPr id="25" name="Text 21"/>
          <p:cNvSpPr txBox="1"/>
          <p:nvPr/>
        </p:nvSpPr>
        <p:spPr>
          <a:xfrm>
            <a:off x="5760720" y="2852928"/>
            <a:ext cx="2011680" cy="548640"/>
          </a:xfrm>
          <a:prstGeom prst="rect">
            <a:avLst/>
          </a:prstGeom>
          <a:noFill/>
          <a:ln/>
        </p:spPr>
        <p:txBody>
          <a:bodyPr wrap="square" lIns="0" tIns="0" rIns="0" bIns="0" rtlCol="0" anchor="ctr"/>
          <a:lstStyle/>
          <a:p>
            <a:pPr indent="0" marL="0">
              <a:buNone/>
            </a:pPr>
            <a:r>
              <a:rPr lang="en-US" sz="2000" spc="200" kern="0" dirty="0">
                <a:solidFill>
                  <a:schemeClr val="bg1"/>
                </a:solidFill>
                <a:latin typeface="Garamond" pitchFamily="34" charset="0"/>
                <a:ea typeface="Garamond" pitchFamily="34" charset="-122"/>
                <a:cs typeface="Garamond" pitchFamily="34" charset="-120"/>
              </a:rPr>
              <a:t>CHALLENGE</a:t>
            </a:r>
            <a:endParaRPr lang="en-US" sz="2000" dirty="0"/>
          </a:p>
        </p:txBody>
      </p:sp>
      <p:sp>
        <p:nvSpPr>
          <p:cNvPr id="26" name="Text 22"/>
          <p:cNvSpPr txBox="1"/>
          <p:nvPr/>
        </p:nvSpPr>
        <p:spPr>
          <a:xfrm>
            <a:off x="7863840" y="2852928"/>
            <a:ext cx="3611880" cy="548640"/>
          </a:xfrm>
          <a:prstGeom prst="rect">
            <a:avLst/>
          </a:prstGeom>
          <a:noFill/>
          <a:ln/>
        </p:spPr>
        <p:txBody>
          <a:bodyPr wrap="square" lIns="0" tIns="0" rIns="0" bIns="0" rtlCol="0" anchor="ctr"/>
          <a:lstStyle/>
          <a:p>
            <a:pPr indent="0" marL="0">
              <a:buNone/>
            </a:pPr>
            <a:r>
              <a:rPr lang="en-US" sz="1400" dirty="0">
                <a:solidFill>
                  <a:schemeClr val="bg1"/>
                </a:solidFill>
              </a:rPr>
              <a:t>Thor and Loki argue opposite sides and attack each other's claims</a:t>
            </a:r>
            <a:endParaRPr lang="en-US" sz="1400" dirty="0"/>
          </a:p>
        </p:txBody>
      </p:sp>
      <p:sp>
        <p:nvSpPr>
          <p:cNvPr id="27" name="Shape 23"/>
          <p:cNvSpPr/>
          <p:nvPr/>
        </p:nvSpPr>
        <p:spPr>
          <a:xfrm>
            <a:off x="5120640" y="3657600"/>
            <a:ext cx="6519672" cy="749808"/>
          </a:xfrm>
          <a:prstGeom prst="rect">
            <a:avLst/>
          </a:prstGeom>
          <a:solidFill>
            <a:schemeClr val="accent4"/>
          </a:solidFill>
          <a:ln w="9525">
            <a:solidFill>
              <a:schemeClr val="accent5"/>
            </a:solidFill>
            <a:prstDash val="solid"/>
          </a:ln>
        </p:spPr>
      </p:sp>
      <p:pic>
        <p:nvPicPr>
          <p:cNvPr id="28" name="Image 2" descr="Z:\Projects\Ragnarok\presentation\assets\stave_ice.png">    </p:cNvPr>
          <p:cNvPicPr>
            <a:picLocks noChangeAspect="1"/>
          </p:cNvPicPr>
          <p:nvPr/>
        </p:nvPicPr>
        <p:blipFill>
          <a:blip r:embed="rId3"/>
          <a:stretch>
            <a:fillRect/>
          </a:stretch>
        </p:blipFill>
        <p:spPr>
          <a:xfrm>
            <a:off x="5349240" y="3849624"/>
            <a:ext cx="182880" cy="365760"/>
          </a:xfrm>
          <a:prstGeom prst="rect">
            <a:avLst/>
          </a:prstGeom>
        </p:spPr>
      </p:pic>
      <p:sp>
        <p:nvSpPr>
          <p:cNvPr id="29" name="Text 24"/>
          <p:cNvSpPr txBox="1"/>
          <p:nvPr/>
        </p:nvSpPr>
        <p:spPr>
          <a:xfrm>
            <a:off x="5760720" y="3767328"/>
            <a:ext cx="2011680" cy="548640"/>
          </a:xfrm>
          <a:prstGeom prst="rect">
            <a:avLst/>
          </a:prstGeom>
          <a:noFill/>
          <a:ln/>
        </p:spPr>
        <p:txBody>
          <a:bodyPr wrap="square" lIns="0" tIns="0" rIns="0" bIns="0" rtlCol="0" anchor="ctr"/>
          <a:lstStyle/>
          <a:p>
            <a:pPr indent="0" marL="0">
              <a:buNone/>
            </a:pPr>
            <a:r>
              <a:rPr lang="en-US" sz="2000" spc="200" kern="0" dirty="0">
                <a:solidFill>
                  <a:schemeClr val="accent1"/>
                </a:solidFill>
                <a:latin typeface="Garamond" pitchFamily="34" charset="0"/>
                <a:ea typeface="Garamond" pitchFamily="34" charset="-122"/>
                <a:cs typeface="Garamond" pitchFamily="34" charset="-120"/>
              </a:rPr>
              <a:t>VERIFY</a:t>
            </a:r>
            <a:endParaRPr lang="en-US" sz="2000" dirty="0"/>
          </a:p>
        </p:txBody>
      </p:sp>
      <p:sp>
        <p:nvSpPr>
          <p:cNvPr id="30" name="Text 25"/>
          <p:cNvSpPr txBox="1"/>
          <p:nvPr/>
        </p:nvSpPr>
        <p:spPr>
          <a:xfrm>
            <a:off x="7863840" y="3767328"/>
            <a:ext cx="3611880" cy="548640"/>
          </a:xfrm>
          <a:prstGeom prst="rect">
            <a:avLst/>
          </a:prstGeom>
          <a:noFill/>
          <a:ln/>
        </p:spPr>
        <p:txBody>
          <a:bodyPr wrap="square" lIns="0" tIns="0" rIns="0" bIns="0" rtlCol="0" anchor="ctr"/>
          <a:lstStyle/>
          <a:p>
            <a:pPr indent="0" marL="0">
              <a:buNone/>
            </a:pPr>
            <a:r>
              <a:rPr lang="en-US" sz="1400" dirty="0">
                <a:solidFill>
                  <a:schemeClr val="bg1"/>
                </a:solidFill>
              </a:rPr>
              <a:t>Code checks citations and does every calculation</a:t>
            </a:r>
            <a:endParaRPr lang="en-US" sz="1400" dirty="0"/>
          </a:p>
        </p:txBody>
      </p:sp>
      <p:sp>
        <p:nvSpPr>
          <p:cNvPr id="31" name="Shape 26"/>
          <p:cNvSpPr/>
          <p:nvPr/>
        </p:nvSpPr>
        <p:spPr>
          <a:xfrm>
            <a:off x="5120640" y="4572000"/>
            <a:ext cx="6519672" cy="749808"/>
          </a:xfrm>
          <a:prstGeom prst="rect">
            <a:avLst/>
          </a:prstGeom>
          <a:solidFill>
            <a:schemeClr val="accent4"/>
          </a:solidFill>
          <a:ln w="15875">
            <a:solidFill>
              <a:schemeClr val="accent2"/>
            </a:solidFill>
            <a:prstDash val="solid"/>
          </a:ln>
        </p:spPr>
      </p:sp>
      <p:pic>
        <p:nvPicPr>
          <p:cNvPr id="32" name="Image 3" descr="Z:\Projects\Ragnarok\presentation\assets\stave_gold.png">    </p:cNvPr>
          <p:cNvPicPr>
            <a:picLocks noChangeAspect="1"/>
          </p:cNvPicPr>
          <p:nvPr/>
        </p:nvPicPr>
        <p:blipFill>
          <a:blip r:embed="rId4"/>
          <a:stretch>
            <a:fillRect/>
          </a:stretch>
        </p:blipFill>
        <p:spPr>
          <a:xfrm>
            <a:off x="5349240" y="4764024"/>
            <a:ext cx="182880" cy="365760"/>
          </a:xfrm>
          <a:prstGeom prst="rect">
            <a:avLst/>
          </a:prstGeom>
        </p:spPr>
      </p:pic>
      <p:sp>
        <p:nvSpPr>
          <p:cNvPr id="33" name="Text 27"/>
          <p:cNvSpPr txBox="1"/>
          <p:nvPr/>
        </p:nvSpPr>
        <p:spPr>
          <a:xfrm>
            <a:off x="5760720" y="4681728"/>
            <a:ext cx="2011680" cy="548640"/>
          </a:xfrm>
          <a:prstGeom prst="rect">
            <a:avLst/>
          </a:prstGeom>
          <a:noFill/>
          <a:ln/>
        </p:spPr>
        <p:txBody>
          <a:bodyPr wrap="square" lIns="0" tIns="0" rIns="0" bIns="0" rtlCol="0" anchor="ctr"/>
          <a:lstStyle/>
          <a:p>
            <a:pPr indent="0" marL="0">
              <a:buNone/>
            </a:pPr>
            <a:r>
              <a:rPr lang="en-US" sz="2000" spc="200" kern="0" dirty="0">
                <a:solidFill>
                  <a:schemeClr val="accent2"/>
                </a:solidFill>
                <a:latin typeface="Garamond" pitchFamily="34" charset="0"/>
                <a:ea typeface="Garamond" pitchFamily="34" charset="-122"/>
                <a:cs typeface="Garamond" pitchFamily="34" charset="-120"/>
              </a:rPr>
              <a:t>JUDGE</a:t>
            </a:r>
            <a:endParaRPr lang="en-US" sz="2000" dirty="0"/>
          </a:p>
        </p:txBody>
      </p:sp>
      <p:sp>
        <p:nvSpPr>
          <p:cNvPr id="34" name="Text 28"/>
          <p:cNvSpPr txBox="1"/>
          <p:nvPr/>
        </p:nvSpPr>
        <p:spPr>
          <a:xfrm>
            <a:off x="7863840" y="4681728"/>
            <a:ext cx="3611880" cy="548640"/>
          </a:xfrm>
          <a:prstGeom prst="rect">
            <a:avLst/>
          </a:prstGeom>
          <a:noFill/>
          <a:ln/>
        </p:spPr>
        <p:txBody>
          <a:bodyPr wrap="square" lIns="0" tIns="0" rIns="0" bIns="0" rtlCol="0" anchor="ctr"/>
          <a:lstStyle/>
          <a:p>
            <a:pPr indent="0" marL="0">
              <a:buNone/>
            </a:pPr>
            <a:r>
              <a:rPr lang="en-US" sz="1400" dirty="0">
                <a:solidFill>
                  <a:schemeClr val="bg1"/>
                </a:solidFill>
              </a:rPr>
              <a:t>Odin rules on each claim and decides if more research is needed</a:t>
            </a:r>
            <a:endParaRPr lang="en-US" sz="1400" dirty="0"/>
          </a:p>
        </p:txBody>
      </p:sp>
      <p:sp>
        <p:nvSpPr>
          <p:cNvPr id="35" name="Text 29"/>
          <p:cNvSpPr txBox="1"/>
          <p:nvPr/>
        </p:nvSpPr>
        <p:spPr>
          <a:xfrm>
            <a:off x="5120640" y="5623560"/>
            <a:ext cx="6519672" cy="502920"/>
          </a:xfrm>
          <a:prstGeom prst="rect">
            <a:avLst/>
          </a:prstGeom>
          <a:noFill/>
          <a:ln/>
        </p:spPr>
        <p:txBody>
          <a:bodyPr wrap="square" lIns="0" tIns="0" rIns="0" bIns="0" rtlCol="0" anchor="t"/>
          <a:lstStyle/>
          <a:p>
            <a:pPr indent="0" marL="0">
              <a:buNone/>
            </a:pPr>
            <a:r>
              <a:rPr lang="en-US" sz="1300" dirty="0">
                <a:solidFill>
                  <a:schemeClr val="bg2"/>
                </a:solidFill>
              </a:rPr>
              <a:t>A single answer can be right. Separating the stages makes disagreement and evidence gaps visible instead of hidden.</a:t>
            </a:r>
            <a:endParaRPr lang="en-US" sz="13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THE SYSTEM</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Meet the four agents behind the investigation</a:t>
            </a:r>
            <a:endParaRPr lang="en-US" sz="3200" dirty="0"/>
          </a:p>
        </p:txBody>
      </p:sp>
      <p:sp>
        <p:nvSpPr>
          <p:cNvPr id="4" name="Shape 2"/>
          <p:cNvSpPr/>
          <p:nvPr/>
        </p:nvSpPr>
        <p:spPr>
          <a:xfrm>
            <a:off x="2459736" y="2395728"/>
            <a:ext cx="7272223" cy="91"/>
          </a:xfrm>
          <a:prstGeom prst="line">
            <a:avLst/>
          </a:prstGeom>
          <a:noFill/>
          <a:ln w="12700">
            <a:solidFill>
              <a:schemeClr val="accent5"/>
            </a:solidFill>
            <a:prstDash val="dash"/>
          </a:ln>
        </p:spPr>
      </p:sp>
      <p:pic>
        <p:nvPicPr>
          <p:cNvPr id="5" name="Image 0" descr="Z:\Projects\Ragnarok\presentation\assets\em_heimdall.png">    </p:cNvPr>
          <p:cNvPicPr>
            <a:picLocks noChangeAspect="1"/>
          </p:cNvPicPr>
          <p:nvPr/>
        </p:nvPicPr>
        <p:blipFill>
          <a:blip r:embed="rId1"/>
          <a:stretch>
            <a:fillRect/>
          </a:stretch>
        </p:blipFill>
        <p:spPr>
          <a:xfrm>
            <a:off x="1252728" y="1828800"/>
            <a:ext cx="1133856" cy="1133856"/>
          </a:xfrm>
          <a:prstGeom prst="rect">
            <a:avLst/>
          </a:prstGeom>
        </p:spPr>
      </p:pic>
      <p:sp>
        <p:nvSpPr>
          <p:cNvPr id="6" name="Text 3"/>
          <p:cNvSpPr txBox="1"/>
          <p:nvPr/>
        </p:nvSpPr>
        <p:spPr>
          <a:xfrm>
            <a:off x="548640" y="3035808"/>
            <a:ext cx="2542032" cy="457200"/>
          </a:xfrm>
          <a:prstGeom prst="rect">
            <a:avLst/>
          </a:prstGeom>
          <a:noFill/>
          <a:ln/>
        </p:spPr>
        <p:txBody>
          <a:bodyPr wrap="square" lIns="0" tIns="0" rIns="0" bIns="0" rtlCol="0" anchor="t"/>
          <a:lstStyle/>
          <a:p>
            <a:pPr algn="ctr" indent="0" marL="0">
              <a:buNone/>
            </a:pPr>
            <a:r>
              <a:rPr lang="en-US" sz="2600" spc="400" kern="0" dirty="0">
                <a:solidFill>
                  <a:schemeClr val="accent1"/>
                </a:solidFill>
                <a:latin typeface="Garamond" pitchFamily="34" charset="0"/>
                <a:ea typeface="Garamond" pitchFamily="34" charset="-122"/>
                <a:cs typeface="Garamond" pitchFamily="34" charset="-120"/>
              </a:rPr>
              <a:t>HEIMDALL</a:t>
            </a:r>
            <a:endParaRPr lang="en-US" sz="2600" dirty="0"/>
          </a:p>
        </p:txBody>
      </p:sp>
      <p:sp>
        <p:nvSpPr>
          <p:cNvPr id="7" name="Text 4"/>
          <p:cNvSpPr txBox="1"/>
          <p:nvPr/>
        </p:nvSpPr>
        <p:spPr>
          <a:xfrm>
            <a:off x="548640" y="3474720"/>
            <a:ext cx="2542032" cy="228600"/>
          </a:xfrm>
          <a:prstGeom prst="rect">
            <a:avLst/>
          </a:prstGeom>
          <a:noFill/>
          <a:ln/>
        </p:spPr>
        <p:txBody>
          <a:bodyPr wrap="square" lIns="0" tIns="0" rIns="0" bIns="0" rtlCol="0" anchor="t"/>
          <a:lstStyle/>
          <a:p>
            <a:pPr algn="ctr" indent="0" marL="0">
              <a:buNone/>
            </a:pPr>
            <a:r>
              <a:rPr lang="en-US" sz="1000" spc="200" kern="0" dirty="0">
                <a:solidFill>
                  <a:schemeClr val="bg2"/>
                </a:solidFill>
                <a:latin typeface="Consolas" pitchFamily="34" charset="0"/>
                <a:ea typeface="Consolas" pitchFamily="34" charset="-122"/>
                <a:cs typeface="Consolas" pitchFamily="34" charset="-120"/>
              </a:rPr>
              <a:t>THE INVESTIGATOR</a:t>
            </a:r>
            <a:endParaRPr lang="en-US" sz="1000" dirty="0"/>
          </a:p>
        </p:txBody>
      </p:sp>
      <p:sp>
        <p:nvSpPr>
          <p:cNvPr id="8" name="Text 5"/>
          <p:cNvSpPr txBox="1"/>
          <p:nvPr/>
        </p:nvSpPr>
        <p:spPr>
          <a:xfrm>
            <a:off x="640080" y="3858768"/>
            <a:ext cx="2359152"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Searches documents and trade tables</a:t>
            </a:r>
            <a:endParaRPr lang="en-US" sz="1400" dirty="0"/>
          </a:p>
          <a:p>
            <a:pPr marL="177800" indent="-177800">
              <a:spcAft>
                <a:spcPts val="600"/>
              </a:spcAft>
              <a:buSzPct val="100000"/>
              <a:buChar char="•"/>
            </a:pPr>
            <a:r>
              <a:rPr lang="en-US" sz="1400" dirty="0">
                <a:solidFill>
                  <a:schemeClr val="bg1"/>
                </a:solidFill>
              </a:rPr>
              <a:t>Verifies the event, builds the case file</a:t>
            </a:r>
            <a:endParaRPr lang="en-US" sz="1400" dirty="0"/>
          </a:p>
          <a:p>
            <a:pPr marL="177800" indent="-177800">
              <a:spcAft>
                <a:spcPts val="600"/>
              </a:spcAft>
              <a:buSzPct val="100000"/>
              <a:buChar char="•"/>
            </a:pPr>
            <a:r>
              <a:rPr lang="en-US" sz="1400" dirty="0">
                <a:solidFill>
                  <a:schemeClr val="bg1"/>
                </a:solidFill>
              </a:rPr>
              <a:t>Flags corrections, rumours and gaps</a:t>
            </a:r>
            <a:endParaRPr lang="en-US" sz="1400" dirty="0"/>
          </a:p>
          <a:p>
            <a:pPr marL="177800" indent="-177800">
              <a:spcAft>
                <a:spcPts val="600"/>
              </a:spcAft>
              <a:buSzPct val="100000"/>
              <a:buChar char="•"/>
            </a:pPr>
            <a:r>
              <a:rPr lang="en-US" sz="1400" dirty="0">
                <a:solidFill>
                  <a:schemeClr val="bg1"/>
                </a:solidFill>
              </a:rPr>
              <a:t>Runs targeted research on a send-back</a:t>
            </a:r>
            <a:endParaRPr lang="en-US" sz="1400" dirty="0"/>
          </a:p>
        </p:txBody>
      </p:sp>
      <p:pic>
        <p:nvPicPr>
          <p:cNvPr id="9" name="Image 1" descr="Z:\Projects\Ragnarok\presentation\assets\em_thor.png">    </p:cNvPr>
          <p:cNvPicPr>
            <a:picLocks noChangeAspect="1"/>
          </p:cNvPicPr>
          <p:nvPr/>
        </p:nvPicPr>
        <p:blipFill>
          <a:blip r:embed="rId2"/>
          <a:stretch>
            <a:fillRect/>
          </a:stretch>
        </p:blipFill>
        <p:spPr>
          <a:xfrm>
            <a:off x="4103522" y="1828800"/>
            <a:ext cx="1133856" cy="1133856"/>
          </a:xfrm>
          <a:prstGeom prst="rect">
            <a:avLst/>
          </a:prstGeom>
        </p:spPr>
      </p:pic>
      <p:sp>
        <p:nvSpPr>
          <p:cNvPr id="10" name="Text 6"/>
          <p:cNvSpPr txBox="1"/>
          <p:nvPr/>
        </p:nvSpPr>
        <p:spPr>
          <a:xfrm>
            <a:off x="3399434" y="3035808"/>
            <a:ext cx="2542032" cy="457200"/>
          </a:xfrm>
          <a:prstGeom prst="rect">
            <a:avLst/>
          </a:prstGeom>
          <a:noFill/>
          <a:ln/>
        </p:spPr>
        <p:txBody>
          <a:bodyPr wrap="square" lIns="0" tIns="0" rIns="0" bIns="0" rtlCol="0" anchor="t"/>
          <a:lstStyle/>
          <a:p>
            <a:pPr algn="ctr" indent="0" marL="0">
              <a:buNone/>
            </a:pPr>
            <a:r>
              <a:rPr lang="en-US" sz="2600" spc="400" kern="0" dirty="0">
                <a:solidFill>
                  <a:schemeClr val="bg1"/>
                </a:solidFill>
                <a:latin typeface="Garamond" pitchFamily="34" charset="0"/>
                <a:ea typeface="Garamond" pitchFamily="34" charset="-122"/>
                <a:cs typeface="Garamond" pitchFamily="34" charset="-120"/>
              </a:rPr>
              <a:t>THOR</a:t>
            </a:r>
            <a:endParaRPr lang="en-US" sz="2600" dirty="0"/>
          </a:p>
        </p:txBody>
      </p:sp>
      <p:sp>
        <p:nvSpPr>
          <p:cNvPr id="11" name="Text 7"/>
          <p:cNvSpPr txBox="1"/>
          <p:nvPr/>
        </p:nvSpPr>
        <p:spPr>
          <a:xfrm>
            <a:off x="3399434" y="3474720"/>
            <a:ext cx="2542032" cy="228600"/>
          </a:xfrm>
          <a:prstGeom prst="rect">
            <a:avLst/>
          </a:prstGeom>
          <a:noFill/>
          <a:ln/>
        </p:spPr>
        <p:txBody>
          <a:bodyPr wrap="square" lIns="0" tIns="0" rIns="0" bIns="0" rtlCol="0" anchor="t"/>
          <a:lstStyle/>
          <a:p>
            <a:pPr algn="ctr" indent="0" marL="0">
              <a:buNone/>
            </a:pPr>
            <a:r>
              <a:rPr lang="en-US" sz="1000" spc="200" kern="0" dirty="0">
                <a:solidFill>
                  <a:schemeClr val="bg2"/>
                </a:solidFill>
                <a:latin typeface="Consolas" pitchFamily="34" charset="0"/>
                <a:ea typeface="Consolas" pitchFamily="34" charset="-122"/>
                <a:cs typeface="Consolas" pitchFamily="34" charset="-120"/>
              </a:rPr>
              <a:t>HIGH EXPOSURE</a:t>
            </a:r>
            <a:endParaRPr lang="en-US" sz="1000" dirty="0"/>
          </a:p>
        </p:txBody>
      </p:sp>
      <p:sp>
        <p:nvSpPr>
          <p:cNvPr id="12" name="Text 8"/>
          <p:cNvSpPr txBox="1"/>
          <p:nvPr/>
        </p:nvSpPr>
        <p:spPr>
          <a:xfrm>
            <a:off x="3490874" y="3858768"/>
            <a:ext cx="2359152"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Argues exposure is high</a:t>
            </a:r>
            <a:endParaRPr lang="en-US" sz="1400" dirty="0"/>
          </a:p>
          <a:p>
            <a:pPr marL="177800" indent="-177800">
              <a:spcAft>
                <a:spcPts val="600"/>
              </a:spcAft>
              <a:buSzPct val="100000"/>
              <a:buChar char="•"/>
            </a:pPr>
            <a:r>
              <a:rPr lang="en-US" sz="1400" dirty="0">
                <a:solidFill>
                  <a:schemeClr val="bg1"/>
                </a:solidFill>
              </a:rPr>
              <a:t>Cited claims, high estimate</a:t>
            </a:r>
            <a:endParaRPr lang="en-US" sz="1400" dirty="0"/>
          </a:p>
          <a:p>
            <a:pPr marL="177800" indent="-177800">
              <a:spcAft>
                <a:spcPts val="600"/>
              </a:spcAft>
              <a:buSzPct val="100000"/>
              <a:buChar char="•"/>
            </a:pPr>
            <a:r>
              <a:rPr lang="en-US" sz="1400" dirty="0">
                <a:solidFill>
                  <a:schemeClr val="bg1"/>
                </a:solidFill>
              </a:rPr>
              <a:t>Makes the case for severity</a:t>
            </a:r>
            <a:endParaRPr lang="en-US" sz="1400" dirty="0"/>
          </a:p>
        </p:txBody>
      </p:sp>
      <p:pic>
        <p:nvPicPr>
          <p:cNvPr id="13" name="Image 2" descr="Z:\Projects\Ragnarok\presentation\assets\em_loki.png">    </p:cNvPr>
          <p:cNvPicPr>
            <a:picLocks noChangeAspect="1"/>
          </p:cNvPicPr>
          <p:nvPr/>
        </p:nvPicPr>
        <p:blipFill>
          <a:blip r:embed="rId3"/>
          <a:stretch>
            <a:fillRect/>
          </a:stretch>
        </p:blipFill>
        <p:spPr>
          <a:xfrm>
            <a:off x="6954317" y="1828800"/>
            <a:ext cx="1133856" cy="1133856"/>
          </a:xfrm>
          <a:prstGeom prst="rect">
            <a:avLst/>
          </a:prstGeom>
        </p:spPr>
      </p:pic>
      <p:sp>
        <p:nvSpPr>
          <p:cNvPr id="14" name="Text 9"/>
          <p:cNvSpPr txBox="1"/>
          <p:nvPr/>
        </p:nvSpPr>
        <p:spPr>
          <a:xfrm>
            <a:off x="6250229" y="3035808"/>
            <a:ext cx="2542032" cy="457200"/>
          </a:xfrm>
          <a:prstGeom prst="rect">
            <a:avLst/>
          </a:prstGeom>
          <a:noFill/>
          <a:ln/>
        </p:spPr>
        <p:txBody>
          <a:bodyPr wrap="square" lIns="0" tIns="0" rIns="0" bIns="0" rtlCol="0" anchor="t"/>
          <a:lstStyle/>
          <a:p>
            <a:pPr algn="ctr" indent="0" marL="0">
              <a:buNone/>
            </a:pPr>
            <a:r>
              <a:rPr lang="en-US" sz="2600" spc="400" kern="0" dirty="0">
                <a:solidFill>
                  <a:schemeClr val="bg2"/>
                </a:solidFill>
                <a:latin typeface="Garamond" pitchFamily="34" charset="0"/>
                <a:ea typeface="Garamond" pitchFamily="34" charset="-122"/>
                <a:cs typeface="Garamond" pitchFamily="34" charset="-120"/>
              </a:rPr>
              <a:t>LOKI</a:t>
            </a:r>
            <a:endParaRPr lang="en-US" sz="2600" dirty="0"/>
          </a:p>
        </p:txBody>
      </p:sp>
      <p:sp>
        <p:nvSpPr>
          <p:cNvPr id="15" name="Text 10"/>
          <p:cNvSpPr txBox="1"/>
          <p:nvPr/>
        </p:nvSpPr>
        <p:spPr>
          <a:xfrm>
            <a:off x="6250229" y="3474720"/>
            <a:ext cx="2542032" cy="228600"/>
          </a:xfrm>
          <a:prstGeom prst="rect">
            <a:avLst/>
          </a:prstGeom>
          <a:noFill/>
          <a:ln/>
        </p:spPr>
        <p:txBody>
          <a:bodyPr wrap="square" lIns="0" tIns="0" rIns="0" bIns="0" rtlCol="0" anchor="t"/>
          <a:lstStyle/>
          <a:p>
            <a:pPr algn="ctr" indent="0" marL="0">
              <a:buNone/>
            </a:pPr>
            <a:r>
              <a:rPr lang="en-US" sz="1000" spc="200" kern="0" dirty="0">
                <a:solidFill>
                  <a:schemeClr val="bg2"/>
                </a:solidFill>
                <a:latin typeface="Consolas" pitchFamily="34" charset="0"/>
                <a:ea typeface="Consolas" pitchFamily="34" charset="-122"/>
                <a:cs typeface="Consolas" pitchFamily="34" charset="-120"/>
              </a:rPr>
              <a:t>LIMITED EXPOSURE</a:t>
            </a:r>
            <a:endParaRPr lang="en-US" sz="1000" dirty="0"/>
          </a:p>
        </p:txBody>
      </p:sp>
      <p:sp>
        <p:nvSpPr>
          <p:cNvPr id="16" name="Text 11"/>
          <p:cNvSpPr txBox="1"/>
          <p:nvPr/>
        </p:nvSpPr>
        <p:spPr>
          <a:xfrm>
            <a:off x="6341669" y="3858768"/>
            <a:ext cx="2359152"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Argues independently for limited exposure</a:t>
            </a:r>
            <a:endParaRPr lang="en-US" sz="1400" dirty="0"/>
          </a:p>
          <a:p>
            <a:pPr marL="177800" indent="-177800">
              <a:spcAft>
                <a:spcPts val="600"/>
              </a:spcAft>
              <a:buSzPct val="100000"/>
              <a:buChar char="•"/>
            </a:pPr>
            <a:r>
              <a:rPr lang="en-US" sz="1400" dirty="0">
                <a:solidFill>
                  <a:schemeClr val="bg1"/>
                </a:solidFill>
              </a:rPr>
              <a:t>Substitutes, other routes, stocks</a:t>
            </a:r>
            <a:endParaRPr lang="en-US" sz="1400" dirty="0"/>
          </a:p>
          <a:p>
            <a:pPr marL="177800" indent="-177800">
              <a:spcAft>
                <a:spcPts val="600"/>
              </a:spcAft>
              <a:buSzPct val="100000"/>
              <a:buChar char="•"/>
            </a:pPr>
            <a:r>
              <a:rPr lang="en-US" sz="1400" dirty="0">
                <a:solidFill>
                  <a:schemeClr val="bg1"/>
                </a:solidFill>
              </a:rPr>
              <a:t>Challenges overstated claims</a:t>
            </a:r>
            <a:endParaRPr lang="en-US" sz="1400" dirty="0"/>
          </a:p>
        </p:txBody>
      </p:sp>
      <p:pic>
        <p:nvPicPr>
          <p:cNvPr id="17" name="Image 3" descr="Z:\Projects\Ragnarok\presentation\assets\em_odin.png">    </p:cNvPr>
          <p:cNvPicPr>
            <a:picLocks noChangeAspect="1"/>
          </p:cNvPicPr>
          <p:nvPr/>
        </p:nvPicPr>
        <p:blipFill>
          <a:blip r:embed="rId4"/>
          <a:stretch>
            <a:fillRect/>
          </a:stretch>
        </p:blipFill>
        <p:spPr>
          <a:xfrm>
            <a:off x="9805111" y="1828800"/>
            <a:ext cx="1133856" cy="1133856"/>
          </a:xfrm>
          <a:prstGeom prst="rect">
            <a:avLst/>
          </a:prstGeom>
        </p:spPr>
      </p:pic>
      <p:sp>
        <p:nvSpPr>
          <p:cNvPr id="18" name="Text 12"/>
          <p:cNvSpPr txBox="1"/>
          <p:nvPr/>
        </p:nvSpPr>
        <p:spPr>
          <a:xfrm>
            <a:off x="9101023" y="3035808"/>
            <a:ext cx="2542032" cy="457200"/>
          </a:xfrm>
          <a:prstGeom prst="rect">
            <a:avLst/>
          </a:prstGeom>
          <a:noFill/>
          <a:ln/>
        </p:spPr>
        <p:txBody>
          <a:bodyPr wrap="square" lIns="0" tIns="0" rIns="0" bIns="0" rtlCol="0" anchor="t"/>
          <a:lstStyle/>
          <a:p>
            <a:pPr algn="ctr" indent="0" marL="0">
              <a:buNone/>
            </a:pPr>
            <a:r>
              <a:rPr lang="en-US" sz="2600" spc="400" kern="0" dirty="0">
                <a:solidFill>
                  <a:schemeClr val="accent2"/>
                </a:solidFill>
                <a:latin typeface="Garamond" pitchFamily="34" charset="0"/>
                <a:ea typeface="Garamond" pitchFamily="34" charset="-122"/>
                <a:cs typeface="Garamond" pitchFamily="34" charset="-120"/>
              </a:rPr>
              <a:t>ODIN</a:t>
            </a:r>
            <a:endParaRPr lang="en-US" sz="2600" dirty="0"/>
          </a:p>
        </p:txBody>
      </p:sp>
      <p:sp>
        <p:nvSpPr>
          <p:cNvPr id="19" name="Text 13"/>
          <p:cNvSpPr txBox="1"/>
          <p:nvPr/>
        </p:nvSpPr>
        <p:spPr>
          <a:xfrm>
            <a:off x="9101023" y="3474720"/>
            <a:ext cx="2542032" cy="228600"/>
          </a:xfrm>
          <a:prstGeom prst="rect">
            <a:avLst/>
          </a:prstGeom>
          <a:noFill/>
          <a:ln/>
        </p:spPr>
        <p:txBody>
          <a:bodyPr wrap="square" lIns="0" tIns="0" rIns="0" bIns="0" rtlCol="0" anchor="t"/>
          <a:lstStyle/>
          <a:p>
            <a:pPr algn="ctr" indent="0" marL="0">
              <a:buNone/>
            </a:pPr>
            <a:r>
              <a:rPr lang="en-US" sz="1000" spc="200" kern="0" dirty="0">
                <a:solidFill>
                  <a:schemeClr val="bg2"/>
                </a:solidFill>
                <a:latin typeface="Consolas" pitchFamily="34" charset="0"/>
                <a:ea typeface="Consolas" pitchFamily="34" charset="-122"/>
                <a:cs typeface="Consolas" pitchFamily="34" charset="-120"/>
              </a:rPr>
              <a:t>THE JUDGE</a:t>
            </a:r>
            <a:endParaRPr lang="en-US" sz="1000" dirty="0"/>
          </a:p>
        </p:txBody>
      </p:sp>
      <p:sp>
        <p:nvSpPr>
          <p:cNvPr id="20" name="Text 14"/>
          <p:cNvSpPr txBox="1"/>
          <p:nvPr/>
        </p:nvSpPr>
        <p:spPr>
          <a:xfrm>
            <a:off x="9192463" y="3858768"/>
            <a:ext cx="2359152"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Rules on every claim</a:t>
            </a:r>
            <a:endParaRPr lang="en-US" sz="1400" dirty="0"/>
          </a:p>
          <a:p>
            <a:pPr marL="177800" indent="-177800">
              <a:spcAft>
                <a:spcPts val="600"/>
              </a:spcAft>
              <a:buSzPct val="100000"/>
              <a:buChar char="•"/>
            </a:pPr>
            <a:r>
              <a:rPr lang="en-US" sz="1400" dirty="0">
                <a:solidFill>
                  <a:schemeClr val="bg1"/>
                </a:solidFill>
              </a:rPr>
              <a:t>Builds his own range from evidence</a:t>
            </a:r>
            <a:endParaRPr lang="en-US" sz="1400" dirty="0"/>
          </a:p>
          <a:p>
            <a:pPr marL="177800" indent="-177800">
              <a:spcAft>
                <a:spcPts val="600"/>
              </a:spcAft>
              <a:buSzPct val="100000"/>
              <a:buChar char="•"/>
            </a:pPr>
            <a:r>
              <a:rPr lang="en-US" sz="1400" dirty="0">
                <a:solidFill>
                  <a:schemeClr val="bg1"/>
                </a:solidFill>
              </a:rPr>
              <a:t>Decides if more research is needed</a:t>
            </a:r>
            <a:endParaRPr lang="en-US" sz="1400" dirty="0"/>
          </a:p>
          <a:p>
            <a:pPr marL="177800" indent="-177800">
              <a:spcAft>
                <a:spcPts val="600"/>
              </a:spcAft>
              <a:buSzPct val="100000"/>
              <a:buChar char="•"/>
            </a:pPr>
            <a:r>
              <a:rPr lang="en-US" sz="1400" dirty="0">
                <a:solidFill>
                  <a:schemeClr val="bg1"/>
                </a:solidFill>
              </a:rPr>
              <a:t>Writes the briefing from his rulings</a:t>
            </a:r>
            <a:endParaRPr lang="en-US" sz="1400" dirty="0"/>
          </a:p>
        </p:txBody>
      </p:sp>
      <p:sp>
        <p:nvSpPr>
          <p:cNvPr id="21" name="Text 15"/>
          <p:cNvSpPr txBox="1"/>
          <p:nvPr/>
        </p:nvSpPr>
        <p:spPr>
          <a:xfrm>
            <a:off x="548640" y="6089904"/>
            <a:ext cx="11094415" cy="256032"/>
          </a:xfrm>
          <a:prstGeom prst="rect">
            <a:avLst/>
          </a:prstGeom>
          <a:noFill/>
          <a:ln/>
        </p:spPr>
        <p:txBody>
          <a:bodyPr wrap="square" lIns="0" tIns="0" rIns="0" bIns="0" rtlCol="0" anchor="t"/>
          <a:lstStyle/>
          <a:p>
            <a:pPr indent="0" marL="0">
              <a:buNone/>
            </a:pPr>
            <a:r>
              <a:rPr lang="en-US" sz="1200" dirty="0">
                <a:solidFill>
                  <a:schemeClr val="bg2"/>
                </a:solidFill>
              </a:rPr>
              <a:t>Heimdall opens every case. Odin has the last word. Thor and Loki see each other's claims only at cross-examination.</a:t>
            </a:r>
            <a:endParaRPr lang="en-US" sz="12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THE WORKFLOW</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Not four chatbots. One orchestrated investigation.</a:t>
            </a:r>
            <a:endParaRPr lang="en-US" sz="3200" dirty="0"/>
          </a:p>
        </p:txBody>
      </p:sp>
      <p:sp>
        <p:nvSpPr>
          <p:cNvPr id="4" name="Shape 2"/>
          <p:cNvSpPr/>
          <p:nvPr/>
        </p:nvSpPr>
        <p:spPr>
          <a:xfrm>
            <a:off x="548640" y="2514600"/>
            <a:ext cx="1463040" cy="1005840"/>
          </a:xfrm>
          <a:prstGeom prst="rect">
            <a:avLst/>
          </a:prstGeom>
          <a:solidFill>
            <a:schemeClr val="accent4"/>
          </a:solidFill>
          <a:ln w="12700">
            <a:solidFill>
              <a:schemeClr val="accent5"/>
            </a:solidFill>
            <a:prstDash val="solid"/>
          </a:ln>
        </p:spPr>
      </p:sp>
      <p:sp>
        <p:nvSpPr>
          <p:cNvPr id="5" name="Text 3"/>
          <p:cNvSpPr txBox="1"/>
          <p:nvPr/>
        </p:nvSpPr>
        <p:spPr>
          <a:xfrm>
            <a:off x="658368" y="2624328"/>
            <a:ext cx="1243584" cy="274320"/>
          </a:xfrm>
          <a:prstGeom prst="rect">
            <a:avLst/>
          </a:prstGeom>
          <a:noFill/>
          <a:ln/>
        </p:spPr>
        <p:txBody>
          <a:bodyPr wrap="square" lIns="0" tIns="0" rIns="0" bIns="0" rtlCol="0" anchor="t"/>
          <a:lstStyle/>
          <a:p>
            <a:pPr indent="0" marL="0">
              <a:buNone/>
            </a:pPr>
            <a:r>
              <a:rPr lang="en-US" sz="1400" b="1" dirty="0">
                <a:solidFill>
                  <a:schemeClr val="bg1"/>
                </a:solidFill>
              </a:rPr>
              <a:t>Question</a:t>
            </a:r>
            <a:endParaRPr lang="en-US" sz="1400" dirty="0"/>
          </a:p>
        </p:txBody>
      </p:sp>
      <p:sp>
        <p:nvSpPr>
          <p:cNvPr id="6" name="Text 4"/>
          <p:cNvSpPr txBox="1"/>
          <p:nvPr/>
        </p:nvSpPr>
        <p:spPr>
          <a:xfrm>
            <a:off x="658368" y="2916936"/>
            <a:ext cx="1243584" cy="548640"/>
          </a:xfrm>
          <a:prstGeom prst="rect">
            <a:avLst/>
          </a:prstGeom>
          <a:noFill/>
          <a:ln/>
        </p:spPr>
        <p:txBody>
          <a:bodyPr wrap="square" lIns="0" tIns="0" rIns="0" bIns="0" rtlCol="0" anchor="t"/>
          <a:lstStyle/>
          <a:p>
            <a:pPr indent="0" marL="0">
              <a:buNone/>
            </a:pPr>
            <a:r>
              <a:rPr lang="en-US" sz="1100" dirty="0">
                <a:solidFill>
                  <a:schemeClr val="bg2"/>
                </a:solidFill>
              </a:rPr>
              <a:t>and as-of date, from the user</a:t>
            </a:r>
            <a:endParaRPr lang="en-US" sz="1100" dirty="0"/>
          </a:p>
        </p:txBody>
      </p:sp>
      <p:sp>
        <p:nvSpPr>
          <p:cNvPr id="7" name="Shape 5"/>
          <p:cNvSpPr/>
          <p:nvPr/>
        </p:nvSpPr>
        <p:spPr>
          <a:xfrm>
            <a:off x="2468880" y="2514600"/>
            <a:ext cx="1463040" cy="1005840"/>
          </a:xfrm>
          <a:prstGeom prst="rect">
            <a:avLst/>
          </a:prstGeom>
          <a:solidFill>
            <a:schemeClr val="accent4"/>
          </a:solidFill>
          <a:ln w="15875">
            <a:solidFill>
              <a:schemeClr val="accent1"/>
            </a:solidFill>
            <a:prstDash val="solid"/>
          </a:ln>
        </p:spPr>
      </p:sp>
      <p:sp>
        <p:nvSpPr>
          <p:cNvPr id="8" name="Text 6"/>
          <p:cNvSpPr txBox="1"/>
          <p:nvPr/>
        </p:nvSpPr>
        <p:spPr>
          <a:xfrm>
            <a:off x="2578608" y="2624328"/>
            <a:ext cx="1243584" cy="274320"/>
          </a:xfrm>
          <a:prstGeom prst="rect">
            <a:avLst/>
          </a:prstGeom>
          <a:noFill/>
          <a:ln/>
        </p:spPr>
        <p:txBody>
          <a:bodyPr wrap="square" lIns="0" tIns="0" rIns="0" bIns="0" rtlCol="0" anchor="t"/>
          <a:lstStyle/>
          <a:p>
            <a:pPr indent="0" marL="0">
              <a:buNone/>
            </a:pPr>
            <a:r>
              <a:rPr lang="en-US" sz="1400" b="1" dirty="0">
                <a:solidFill>
                  <a:schemeClr val="accent1"/>
                </a:solidFill>
              </a:rPr>
              <a:t>Heimdall</a:t>
            </a:r>
            <a:endParaRPr lang="en-US" sz="1400" dirty="0"/>
          </a:p>
        </p:txBody>
      </p:sp>
      <p:sp>
        <p:nvSpPr>
          <p:cNvPr id="9" name="Text 7"/>
          <p:cNvSpPr txBox="1"/>
          <p:nvPr/>
        </p:nvSpPr>
        <p:spPr>
          <a:xfrm>
            <a:off x="2578608" y="2916936"/>
            <a:ext cx="1243584" cy="548640"/>
          </a:xfrm>
          <a:prstGeom prst="rect">
            <a:avLst/>
          </a:prstGeom>
          <a:noFill/>
          <a:ln/>
        </p:spPr>
        <p:txBody>
          <a:bodyPr wrap="square" lIns="0" tIns="0" rIns="0" bIns="0" rtlCol="0" anchor="t"/>
          <a:lstStyle/>
          <a:p>
            <a:pPr indent="0" marL="0">
              <a:buNone/>
            </a:pPr>
            <a:r>
              <a:rPr lang="en-US" sz="1100" dirty="0">
                <a:solidFill>
                  <a:schemeClr val="bg2"/>
                </a:solidFill>
              </a:rPr>
              <a:t>research, case file, event check</a:t>
            </a:r>
            <a:endParaRPr lang="en-US" sz="1100" dirty="0"/>
          </a:p>
        </p:txBody>
      </p:sp>
      <p:sp>
        <p:nvSpPr>
          <p:cNvPr id="10" name="Shape 8"/>
          <p:cNvSpPr/>
          <p:nvPr/>
        </p:nvSpPr>
        <p:spPr>
          <a:xfrm>
            <a:off x="4389120" y="1783080"/>
            <a:ext cx="1463040" cy="914400"/>
          </a:xfrm>
          <a:prstGeom prst="rect">
            <a:avLst/>
          </a:prstGeom>
          <a:solidFill>
            <a:schemeClr val="accent4"/>
          </a:solidFill>
          <a:ln w="12700">
            <a:solidFill>
              <a:schemeClr val="bg1"/>
            </a:solidFill>
            <a:prstDash val="solid"/>
          </a:ln>
        </p:spPr>
      </p:sp>
      <p:sp>
        <p:nvSpPr>
          <p:cNvPr id="11" name="Text 9"/>
          <p:cNvSpPr txBox="1"/>
          <p:nvPr/>
        </p:nvSpPr>
        <p:spPr>
          <a:xfrm>
            <a:off x="4498848" y="1892808"/>
            <a:ext cx="1243584" cy="274320"/>
          </a:xfrm>
          <a:prstGeom prst="rect">
            <a:avLst/>
          </a:prstGeom>
          <a:noFill/>
          <a:ln/>
        </p:spPr>
        <p:txBody>
          <a:bodyPr wrap="square" lIns="0" tIns="0" rIns="0" bIns="0" rtlCol="0" anchor="t"/>
          <a:lstStyle/>
          <a:p>
            <a:pPr indent="0" marL="0">
              <a:buNone/>
            </a:pPr>
            <a:r>
              <a:rPr lang="en-US" sz="1400" b="1" dirty="0">
                <a:solidFill>
                  <a:schemeClr val="bg1"/>
                </a:solidFill>
              </a:rPr>
              <a:t>Thor</a:t>
            </a:r>
            <a:endParaRPr lang="en-US" sz="1400" dirty="0"/>
          </a:p>
        </p:txBody>
      </p:sp>
      <p:sp>
        <p:nvSpPr>
          <p:cNvPr id="12" name="Text 10"/>
          <p:cNvSpPr txBox="1"/>
          <p:nvPr/>
        </p:nvSpPr>
        <p:spPr>
          <a:xfrm>
            <a:off x="4498848" y="2185416"/>
            <a:ext cx="1243584" cy="457200"/>
          </a:xfrm>
          <a:prstGeom prst="rect">
            <a:avLst/>
          </a:prstGeom>
          <a:noFill/>
          <a:ln/>
        </p:spPr>
        <p:txBody>
          <a:bodyPr wrap="square" lIns="0" tIns="0" rIns="0" bIns="0" rtlCol="0" anchor="t"/>
          <a:lstStyle/>
          <a:p>
            <a:pPr indent="0" marL="0">
              <a:buNone/>
            </a:pPr>
            <a:r>
              <a:rPr lang="en-US" sz="1100" dirty="0">
                <a:solidFill>
                  <a:schemeClr val="bg2"/>
                </a:solidFill>
              </a:rPr>
              <a:t>claims, high estimate</a:t>
            </a:r>
            <a:endParaRPr lang="en-US" sz="1100" dirty="0"/>
          </a:p>
        </p:txBody>
      </p:sp>
      <p:sp>
        <p:nvSpPr>
          <p:cNvPr id="13" name="Shape 11"/>
          <p:cNvSpPr/>
          <p:nvPr/>
        </p:nvSpPr>
        <p:spPr>
          <a:xfrm>
            <a:off x="4389120" y="3337560"/>
            <a:ext cx="1463040" cy="914400"/>
          </a:xfrm>
          <a:prstGeom prst="rect">
            <a:avLst/>
          </a:prstGeom>
          <a:solidFill>
            <a:schemeClr val="accent4"/>
          </a:solidFill>
          <a:ln w="12700">
            <a:solidFill>
              <a:schemeClr val="bg2"/>
            </a:solidFill>
            <a:prstDash val="solid"/>
          </a:ln>
        </p:spPr>
      </p:sp>
      <p:sp>
        <p:nvSpPr>
          <p:cNvPr id="14" name="Text 12"/>
          <p:cNvSpPr txBox="1"/>
          <p:nvPr/>
        </p:nvSpPr>
        <p:spPr>
          <a:xfrm>
            <a:off x="4498848" y="3447288"/>
            <a:ext cx="1243584" cy="274320"/>
          </a:xfrm>
          <a:prstGeom prst="rect">
            <a:avLst/>
          </a:prstGeom>
          <a:noFill/>
          <a:ln/>
        </p:spPr>
        <p:txBody>
          <a:bodyPr wrap="square" lIns="0" tIns="0" rIns="0" bIns="0" rtlCol="0" anchor="t"/>
          <a:lstStyle/>
          <a:p>
            <a:pPr indent="0" marL="0">
              <a:buNone/>
            </a:pPr>
            <a:r>
              <a:rPr lang="en-US" sz="1400" b="1" dirty="0">
                <a:solidFill>
                  <a:schemeClr val="bg2"/>
                </a:solidFill>
              </a:rPr>
              <a:t>Loki</a:t>
            </a:r>
            <a:endParaRPr lang="en-US" sz="1400" dirty="0"/>
          </a:p>
        </p:txBody>
      </p:sp>
      <p:sp>
        <p:nvSpPr>
          <p:cNvPr id="15" name="Text 13"/>
          <p:cNvSpPr txBox="1"/>
          <p:nvPr/>
        </p:nvSpPr>
        <p:spPr>
          <a:xfrm>
            <a:off x="4498848" y="3739896"/>
            <a:ext cx="1243584" cy="457200"/>
          </a:xfrm>
          <a:prstGeom prst="rect">
            <a:avLst/>
          </a:prstGeom>
          <a:noFill/>
          <a:ln/>
        </p:spPr>
        <p:txBody>
          <a:bodyPr wrap="square" lIns="0" tIns="0" rIns="0" bIns="0" rtlCol="0" anchor="t"/>
          <a:lstStyle/>
          <a:p>
            <a:pPr indent="0" marL="0">
              <a:buNone/>
            </a:pPr>
            <a:r>
              <a:rPr lang="en-US" sz="1100" dirty="0">
                <a:solidFill>
                  <a:schemeClr val="bg2"/>
                </a:solidFill>
              </a:rPr>
              <a:t>claims, low estimate</a:t>
            </a:r>
            <a:endParaRPr lang="en-US" sz="1100" dirty="0"/>
          </a:p>
        </p:txBody>
      </p:sp>
      <p:sp>
        <p:nvSpPr>
          <p:cNvPr id="16" name="Shape 14"/>
          <p:cNvSpPr/>
          <p:nvPr/>
        </p:nvSpPr>
        <p:spPr>
          <a:xfrm>
            <a:off x="6309360" y="2514600"/>
            <a:ext cx="1463040" cy="1005840"/>
          </a:xfrm>
          <a:prstGeom prst="rect">
            <a:avLst/>
          </a:prstGeom>
          <a:solidFill>
            <a:schemeClr val="accent4"/>
          </a:solidFill>
          <a:ln w="15875">
            <a:solidFill>
              <a:schemeClr val="accent3"/>
            </a:solidFill>
            <a:prstDash val="solid"/>
          </a:ln>
        </p:spPr>
      </p:sp>
      <p:sp>
        <p:nvSpPr>
          <p:cNvPr id="17" name="Text 15"/>
          <p:cNvSpPr txBox="1"/>
          <p:nvPr/>
        </p:nvSpPr>
        <p:spPr>
          <a:xfrm>
            <a:off x="6419088" y="2624328"/>
            <a:ext cx="1243584" cy="274320"/>
          </a:xfrm>
          <a:prstGeom prst="rect">
            <a:avLst/>
          </a:prstGeom>
          <a:noFill/>
          <a:ln/>
        </p:spPr>
        <p:txBody>
          <a:bodyPr wrap="square" lIns="0" tIns="0" rIns="0" bIns="0" rtlCol="0" anchor="t"/>
          <a:lstStyle/>
          <a:p>
            <a:pPr indent="0" marL="0">
              <a:buNone/>
            </a:pPr>
            <a:r>
              <a:rPr lang="en-US" sz="1400" b="1" dirty="0">
                <a:solidFill>
                  <a:schemeClr val="accent3"/>
                </a:solidFill>
              </a:rPr>
              <a:t>Cross-exam</a:t>
            </a:r>
            <a:endParaRPr lang="en-US" sz="1400" dirty="0"/>
          </a:p>
        </p:txBody>
      </p:sp>
      <p:sp>
        <p:nvSpPr>
          <p:cNvPr id="18" name="Text 16"/>
          <p:cNvSpPr txBox="1"/>
          <p:nvPr/>
        </p:nvSpPr>
        <p:spPr>
          <a:xfrm>
            <a:off x="6419088" y="2916936"/>
            <a:ext cx="1243584" cy="548640"/>
          </a:xfrm>
          <a:prstGeom prst="rect">
            <a:avLst/>
          </a:prstGeom>
          <a:noFill/>
          <a:ln/>
        </p:spPr>
        <p:txBody>
          <a:bodyPr wrap="square" lIns="0" tIns="0" rIns="0" bIns="0" rtlCol="0" anchor="t"/>
          <a:lstStyle/>
          <a:p>
            <a:pPr indent="0" marL="0">
              <a:buNone/>
            </a:pPr>
            <a:r>
              <a:rPr lang="en-US" sz="1100" dirty="0">
                <a:solidFill>
                  <a:schemeClr val="bg2"/>
                </a:solidFill>
              </a:rPr>
              <a:t>attack; defend with new evidence or concede</a:t>
            </a:r>
            <a:endParaRPr lang="en-US" sz="1100" dirty="0"/>
          </a:p>
        </p:txBody>
      </p:sp>
      <p:sp>
        <p:nvSpPr>
          <p:cNvPr id="19" name="Shape 17"/>
          <p:cNvSpPr/>
          <p:nvPr/>
        </p:nvSpPr>
        <p:spPr>
          <a:xfrm>
            <a:off x="8229600" y="2514600"/>
            <a:ext cx="1463040" cy="1005840"/>
          </a:xfrm>
          <a:prstGeom prst="rect">
            <a:avLst/>
          </a:prstGeom>
          <a:solidFill>
            <a:schemeClr val="accent4"/>
          </a:solidFill>
          <a:ln w="19050">
            <a:solidFill>
              <a:schemeClr val="accent2"/>
            </a:solidFill>
            <a:prstDash val="solid"/>
          </a:ln>
        </p:spPr>
      </p:sp>
      <p:sp>
        <p:nvSpPr>
          <p:cNvPr id="20" name="Text 18"/>
          <p:cNvSpPr txBox="1"/>
          <p:nvPr/>
        </p:nvSpPr>
        <p:spPr>
          <a:xfrm>
            <a:off x="8339328" y="2624328"/>
            <a:ext cx="1243584" cy="274320"/>
          </a:xfrm>
          <a:prstGeom prst="rect">
            <a:avLst/>
          </a:prstGeom>
          <a:noFill/>
          <a:ln/>
        </p:spPr>
        <p:txBody>
          <a:bodyPr wrap="square" lIns="0" tIns="0" rIns="0" bIns="0" rtlCol="0" anchor="t"/>
          <a:lstStyle/>
          <a:p>
            <a:pPr indent="0" marL="0">
              <a:buNone/>
            </a:pPr>
            <a:r>
              <a:rPr lang="en-US" sz="1400" b="1" dirty="0">
                <a:solidFill>
                  <a:schemeClr val="accent2"/>
                </a:solidFill>
              </a:rPr>
              <a:t>Odin</a:t>
            </a:r>
            <a:endParaRPr lang="en-US" sz="1400" dirty="0"/>
          </a:p>
        </p:txBody>
      </p:sp>
      <p:sp>
        <p:nvSpPr>
          <p:cNvPr id="21" name="Text 19"/>
          <p:cNvSpPr txBox="1"/>
          <p:nvPr/>
        </p:nvSpPr>
        <p:spPr>
          <a:xfrm>
            <a:off x="8339328" y="2916936"/>
            <a:ext cx="1243584" cy="548640"/>
          </a:xfrm>
          <a:prstGeom prst="rect">
            <a:avLst/>
          </a:prstGeom>
          <a:noFill/>
          <a:ln/>
        </p:spPr>
        <p:txBody>
          <a:bodyPr wrap="square" lIns="0" tIns="0" rIns="0" bIns="0" rtlCol="0" anchor="t"/>
          <a:lstStyle/>
          <a:p>
            <a:pPr indent="0" marL="0">
              <a:buNone/>
            </a:pPr>
            <a:r>
              <a:rPr lang="en-US" sz="1100" dirty="0">
                <a:solidFill>
                  <a:schemeClr val="bg2"/>
                </a:solidFill>
              </a:rPr>
              <a:t>rulings, own range, sufficiency</a:t>
            </a:r>
            <a:endParaRPr lang="en-US" sz="1100" dirty="0"/>
          </a:p>
        </p:txBody>
      </p:sp>
      <p:sp>
        <p:nvSpPr>
          <p:cNvPr id="22" name="Shape 20"/>
          <p:cNvSpPr/>
          <p:nvPr/>
        </p:nvSpPr>
        <p:spPr>
          <a:xfrm>
            <a:off x="10177272" y="2514600"/>
            <a:ext cx="1463040" cy="1005840"/>
          </a:xfrm>
          <a:prstGeom prst="rect">
            <a:avLst/>
          </a:prstGeom>
          <a:solidFill>
            <a:schemeClr val="accent4"/>
          </a:solidFill>
          <a:ln w="12700">
            <a:solidFill>
              <a:schemeClr val="accent5"/>
            </a:solidFill>
            <a:prstDash val="solid"/>
          </a:ln>
        </p:spPr>
      </p:sp>
      <p:sp>
        <p:nvSpPr>
          <p:cNvPr id="23" name="Text 21"/>
          <p:cNvSpPr txBox="1"/>
          <p:nvPr/>
        </p:nvSpPr>
        <p:spPr>
          <a:xfrm>
            <a:off x="10287000" y="2624328"/>
            <a:ext cx="1243584" cy="274320"/>
          </a:xfrm>
          <a:prstGeom prst="rect">
            <a:avLst/>
          </a:prstGeom>
          <a:noFill/>
          <a:ln/>
        </p:spPr>
        <p:txBody>
          <a:bodyPr wrap="square" lIns="0" tIns="0" rIns="0" bIns="0" rtlCol="0" anchor="t"/>
          <a:lstStyle/>
          <a:p>
            <a:pPr indent="0" marL="0">
              <a:buNone/>
            </a:pPr>
            <a:r>
              <a:rPr lang="en-US" sz="1400" b="1" dirty="0">
                <a:solidFill>
                  <a:schemeClr val="bg1"/>
                </a:solidFill>
              </a:rPr>
              <a:t>Briefing</a:t>
            </a:r>
            <a:endParaRPr lang="en-US" sz="1400" dirty="0"/>
          </a:p>
        </p:txBody>
      </p:sp>
      <p:sp>
        <p:nvSpPr>
          <p:cNvPr id="24" name="Text 22"/>
          <p:cNvSpPr txBox="1"/>
          <p:nvPr/>
        </p:nvSpPr>
        <p:spPr>
          <a:xfrm>
            <a:off x="10287000" y="2916936"/>
            <a:ext cx="1243584" cy="548640"/>
          </a:xfrm>
          <a:prstGeom prst="rect">
            <a:avLst/>
          </a:prstGeom>
          <a:noFill/>
          <a:ln/>
        </p:spPr>
        <p:txBody>
          <a:bodyPr wrap="square" lIns="0" tIns="0" rIns="0" bIns="0" rtlCol="0" anchor="t"/>
          <a:lstStyle/>
          <a:p>
            <a:pPr indent="0" marL="0">
              <a:buNone/>
            </a:pPr>
            <a:r>
              <a:rPr lang="en-US" sz="1100" dirty="0">
                <a:solidFill>
                  <a:schemeClr val="bg2"/>
                </a:solidFill>
              </a:rPr>
              <a:t>from rulings only</a:t>
            </a:r>
            <a:endParaRPr lang="en-US" sz="1100" dirty="0"/>
          </a:p>
        </p:txBody>
      </p:sp>
      <p:sp>
        <p:nvSpPr>
          <p:cNvPr id="25" name="Text 23"/>
          <p:cNvSpPr txBox="1"/>
          <p:nvPr/>
        </p:nvSpPr>
        <p:spPr>
          <a:xfrm>
            <a:off x="4389120" y="2724912"/>
            <a:ext cx="1463040" cy="228600"/>
          </a:xfrm>
          <a:prstGeom prst="rect">
            <a:avLst/>
          </a:prstGeom>
          <a:noFill/>
          <a:ln/>
        </p:spPr>
        <p:txBody>
          <a:bodyPr wrap="square" lIns="0" tIns="0" rIns="0" bIns="0" rtlCol="0" anchor="t"/>
          <a:lstStyle/>
          <a:p>
            <a:pPr algn="ctr" indent="0" marL="0">
              <a:buNone/>
            </a:pPr>
            <a:r>
              <a:rPr lang="en-US" sz="1000" dirty="0">
                <a:solidFill>
                  <a:schemeClr val="bg2"/>
                </a:solidFill>
                <a:latin typeface="Consolas" pitchFamily="34" charset="0"/>
                <a:ea typeface="Consolas" pitchFamily="34" charset="-122"/>
                <a:cs typeface="Consolas" pitchFamily="34" charset="-120"/>
              </a:rPr>
              <a:t>in parallel</a:t>
            </a:r>
            <a:endParaRPr lang="en-US" sz="1000" dirty="0"/>
          </a:p>
        </p:txBody>
      </p:sp>
      <p:sp>
        <p:nvSpPr>
          <p:cNvPr id="26" name="Shape 24"/>
          <p:cNvSpPr/>
          <p:nvPr/>
        </p:nvSpPr>
        <p:spPr>
          <a:xfrm>
            <a:off x="2011680" y="3017520"/>
            <a:ext cx="457200" cy="91"/>
          </a:xfrm>
          <a:prstGeom prst="line">
            <a:avLst/>
          </a:prstGeom>
          <a:noFill/>
          <a:ln w="15875">
            <a:solidFill>
              <a:schemeClr val="bg2"/>
            </a:solidFill>
            <a:prstDash val="solid"/>
            <a:tailEnd type="triangle"/>
          </a:ln>
        </p:spPr>
      </p:sp>
      <p:sp>
        <p:nvSpPr>
          <p:cNvPr id="27" name="Shape 25"/>
          <p:cNvSpPr/>
          <p:nvPr/>
        </p:nvSpPr>
        <p:spPr>
          <a:xfrm flipV="1">
            <a:off x="3931920" y="2240280"/>
            <a:ext cx="457200" cy="685800"/>
          </a:xfrm>
          <a:prstGeom prst="line">
            <a:avLst/>
          </a:prstGeom>
          <a:noFill/>
          <a:ln w="15875">
            <a:solidFill>
              <a:schemeClr val="bg2"/>
            </a:solidFill>
            <a:prstDash val="solid"/>
            <a:tailEnd type="triangle"/>
          </a:ln>
        </p:spPr>
      </p:sp>
      <p:sp>
        <p:nvSpPr>
          <p:cNvPr id="28" name="Shape 26"/>
          <p:cNvSpPr/>
          <p:nvPr/>
        </p:nvSpPr>
        <p:spPr>
          <a:xfrm>
            <a:off x="3931920" y="3108960"/>
            <a:ext cx="457200" cy="685800"/>
          </a:xfrm>
          <a:prstGeom prst="line">
            <a:avLst/>
          </a:prstGeom>
          <a:noFill/>
          <a:ln w="15875">
            <a:solidFill>
              <a:schemeClr val="bg2"/>
            </a:solidFill>
            <a:prstDash val="solid"/>
            <a:tailEnd type="triangle"/>
          </a:ln>
        </p:spPr>
      </p:sp>
      <p:sp>
        <p:nvSpPr>
          <p:cNvPr id="29" name="Shape 27"/>
          <p:cNvSpPr/>
          <p:nvPr/>
        </p:nvSpPr>
        <p:spPr>
          <a:xfrm>
            <a:off x="5852160" y="2240280"/>
            <a:ext cx="457200" cy="685800"/>
          </a:xfrm>
          <a:prstGeom prst="line">
            <a:avLst/>
          </a:prstGeom>
          <a:noFill/>
          <a:ln w="15875">
            <a:solidFill>
              <a:schemeClr val="bg2"/>
            </a:solidFill>
            <a:prstDash val="solid"/>
            <a:tailEnd type="triangle"/>
          </a:ln>
        </p:spPr>
      </p:sp>
      <p:sp>
        <p:nvSpPr>
          <p:cNvPr id="30" name="Shape 28"/>
          <p:cNvSpPr/>
          <p:nvPr/>
        </p:nvSpPr>
        <p:spPr>
          <a:xfrm flipV="1">
            <a:off x="5852160" y="3108960"/>
            <a:ext cx="457200" cy="685800"/>
          </a:xfrm>
          <a:prstGeom prst="line">
            <a:avLst/>
          </a:prstGeom>
          <a:noFill/>
          <a:ln w="15875">
            <a:solidFill>
              <a:schemeClr val="bg2"/>
            </a:solidFill>
            <a:prstDash val="solid"/>
            <a:tailEnd type="triangle"/>
          </a:ln>
        </p:spPr>
      </p:sp>
      <p:sp>
        <p:nvSpPr>
          <p:cNvPr id="31" name="Shape 29"/>
          <p:cNvSpPr/>
          <p:nvPr/>
        </p:nvSpPr>
        <p:spPr>
          <a:xfrm>
            <a:off x="7772400" y="3017520"/>
            <a:ext cx="457200" cy="91"/>
          </a:xfrm>
          <a:prstGeom prst="line">
            <a:avLst/>
          </a:prstGeom>
          <a:noFill/>
          <a:ln w="15875">
            <a:solidFill>
              <a:schemeClr val="bg2"/>
            </a:solidFill>
            <a:prstDash val="solid"/>
            <a:tailEnd type="triangle"/>
          </a:ln>
        </p:spPr>
      </p:sp>
      <p:sp>
        <p:nvSpPr>
          <p:cNvPr id="32" name="Shape 30"/>
          <p:cNvSpPr/>
          <p:nvPr/>
        </p:nvSpPr>
        <p:spPr>
          <a:xfrm>
            <a:off x="9692640" y="3017520"/>
            <a:ext cx="484632" cy="91"/>
          </a:xfrm>
          <a:prstGeom prst="line">
            <a:avLst/>
          </a:prstGeom>
          <a:noFill/>
          <a:ln w="15875">
            <a:solidFill>
              <a:schemeClr val="accent2"/>
            </a:solidFill>
            <a:prstDash val="solid"/>
            <a:tailEnd type="triangle"/>
          </a:ln>
        </p:spPr>
      </p:sp>
      <p:sp>
        <p:nvSpPr>
          <p:cNvPr id="33" name="Shape 31"/>
          <p:cNvSpPr/>
          <p:nvPr/>
        </p:nvSpPr>
        <p:spPr>
          <a:xfrm>
            <a:off x="8961120" y="3520440"/>
            <a:ext cx="91" cy="1051560"/>
          </a:xfrm>
          <a:prstGeom prst="line">
            <a:avLst/>
          </a:prstGeom>
          <a:noFill/>
          <a:ln w="19050">
            <a:solidFill>
              <a:schemeClr val="accent2"/>
            </a:solidFill>
            <a:prstDash val="solid"/>
          </a:ln>
        </p:spPr>
      </p:sp>
      <p:sp>
        <p:nvSpPr>
          <p:cNvPr id="34" name="Shape 32"/>
          <p:cNvSpPr/>
          <p:nvPr/>
        </p:nvSpPr>
        <p:spPr>
          <a:xfrm>
            <a:off x="3200400" y="4572000"/>
            <a:ext cx="5760720" cy="91"/>
          </a:xfrm>
          <a:prstGeom prst="line">
            <a:avLst/>
          </a:prstGeom>
          <a:noFill/>
          <a:ln w="19050">
            <a:solidFill>
              <a:schemeClr val="accent2"/>
            </a:solidFill>
            <a:prstDash val="solid"/>
          </a:ln>
        </p:spPr>
      </p:sp>
      <p:sp>
        <p:nvSpPr>
          <p:cNvPr id="35" name="Shape 33"/>
          <p:cNvSpPr/>
          <p:nvPr/>
        </p:nvSpPr>
        <p:spPr>
          <a:xfrm flipV="1">
            <a:off x="3200400" y="3520440"/>
            <a:ext cx="91" cy="1051560"/>
          </a:xfrm>
          <a:prstGeom prst="line">
            <a:avLst/>
          </a:prstGeom>
          <a:noFill/>
          <a:ln w="19050">
            <a:solidFill>
              <a:schemeClr val="accent2"/>
            </a:solidFill>
            <a:prstDash val="solid"/>
            <a:tailEnd type="triangle"/>
          </a:ln>
        </p:spPr>
      </p:sp>
      <p:sp>
        <p:nvSpPr>
          <p:cNvPr id="36" name="Text 34"/>
          <p:cNvSpPr txBox="1"/>
          <p:nvPr/>
        </p:nvSpPr>
        <p:spPr>
          <a:xfrm>
            <a:off x="3383280" y="4663440"/>
            <a:ext cx="5394960" cy="256032"/>
          </a:xfrm>
          <a:prstGeom prst="rect">
            <a:avLst/>
          </a:prstGeom>
          <a:noFill/>
          <a:ln/>
        </p:spPr>
        <p:txBody>
          <a:bodyPr wrap="square" lIns="0" tIns="0" rIns="0" bIns="0" rtlCol="0" anchor="t"/>
          <a:lstStyle/>
          <a:p>
            <a:pPr algn="ctr" indent="0" marL="0">
              <a:buNone/>
            </a:pPr>
            <a:r>
              <a:rPr lang="en-US" sz="1000" dirty="0">
                <a:solidFill>
                  <a:schemeClr val="accent2"/>
                </a:solidFill>
                <a:latin typeface="Consolas" pitchFamily="34" charset="0"/>
                <a:ea typeface="Consolas" pitchFamily="34" charset="-122"/>
                <a:cs typeface="Consolas" pitchFamily="34" charset="-120"/>
              </a:rPr>
              <a:t>SEND-BACK  ·  evidence missing → new targeted searches → run 2</a:t>
            </a:r>
            <a:endParaRPr lang="en-US" sz="1000" dirty="0"/>
          </a:p>
        </p:txBody>
      </p:sp>
      <p:sp>
        <p:nvSpPr>
          <p:cNvPr id="37" name="Text 35"/>
          <p:cNvSpPr txBox="1"/>
          <p:nvPr/>
        </p:nvSpPr>
        <p:spPr>
          <a:xfrm>
            <a:off x="548640" y="5257800"/>
            <a:ext cx="2567864"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FLOW IN CODE</a:t>
            </a:r>
            <a:endParaRPr lang="en-US" sz="1000" dirty="0"/>
          </a:p>
        </p:txBody>
      </p:sp>
      <p:sp>
        <p:nvSpPr>
          <p:cNvPr id="38" name="Text 36"/>
          <p:cNvSpPr txBox="1"/>
          <p:nvPr/>
        </p:nvSpPr>
        <p:spPr>
          <a:xfrm>
            <a:off x="548640" y="5513832"/>
            <a:ext cx="2567864" cy="731520"/>
          </a:xfrm>
          <a:prstGeom prst="rect">
            <a:avLst/>
          </a:prstGeom>
          <a:noFill/>
          <a:ln/>
        </p:spPr>
        <p:txBody>
          <a:bodyPr wrap="square" lIns="0" tIns="0" rIns="0" bIns="0" rtlCol="0" anchor="t"/>
          <a:lstStyle/>
          <a:p>
            <a:pPr indent="0" marL="0">
              <a:buNone/>
            </a:pPr>
            <a:r>
              <a:rPr lang="en-US" sz="1200" dirty="0">
                <a:solidFill>
                  <a:schemeClr val="bg1"/>
                </a:solidFill>
              </a:rPr>
              <a:t>An explicit state machine checks every transition. Agent output never picks the next step.</a:t>
            </a:r>
            <a:endParaRPr lang="en-US" sz="1200" dirty="0"/>
          </a:p>
        </p:txBody>
      </p:sp>
      <p:sp>
        <p:nvSpPr>
          <p:cNvPr id="39" name="Text 37"/>
          <p:cNvSpPr txBox="1"/>
          <p:nvPr/>
        </p:nvSpPr>
        <p:spPr>
          <a:xfrm>
            <a:off x="3390824" y="5257800"/>
            <a:ext cx="2567864"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SHARED CASE FILE</a:t>
            </a:r>
            <a:endParaRPr lang="en-US" sz="1000" dirty="0"/>
          </a:p>
        </p:txBody>
      </p:sp>
      <p:sp>
        <p:nvSpPr>
          <p:cNvPr id="40" name="Text 38"/>
          <p:cNvSpPr txBox="1"/>
          <p:nvPr/>
        </p:nvSpPr>
        <p:spPr>
          <a:xfrm>
            <a:off x="3390824" y="5513832"/>
            <a:ext cx="2567864" cy="731520"/>
          </a:xfrm>
          <a:prstGeom prst="rect">
            <a:avLst/>
          </a:prstGeom>
          <a:noFill/>
          <a:ln/>
        </p:spPr>
        <p:txBody>
          <a:bodyPr wrap="square" lIns="0" tIns="0" rIns="0" bIns="0" rtlCol="0" anchor="t"/>
          <a:lstStyle/>
          <a:p>
            <a:pPr indent="0" marL="0">
              <a:buNone/>
            </a:pPr>
            <a:r>
              <a:rPr lang="en-US" sz="1200" dirty="0">
                <a:solidFill>
                  <a:schemeClr val="bg1"/>
                </a:solidFill>
              </a:rPr>
              <a:t>Every agent works from Heimdall's case file and cites the same stable paragraph and row refs.</a:t>
            </a:r>
            <a:endParaRPr lang="en-US" sz="1200" dirty="0"/>
          </a:p>
        </p:txBody>
      </p:sp>
      <p:sp>
        <p:nvSpPr>
          <p:cNvPr id="41" name="Text 39"/>
          <p:cNvSpPr txBox="1"/>
          <p:nvPr/>
        </p:nvSpPr>
        <p:spPr>
          <a:xfrm>
            <a:off x="6233008" y="5257800"/>
            <a:ext cx="2567864"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RECORDED DEBATE</a:t>
            </a:r>
            <a:endParaRPr lang="en-US" sz="1000" dirty="0"/>
          </a:p>
        </p:txBody>
      </p:sp>
      <p:sp>
        <p:nvSpPr>
          <p:cNvPr id="42" name="Text 40"/>
          <p:cNvSpPr txBox="1"/>
          <p:nvPr/>
        </p:nvSpPr>
        <p:spPr>
          <a:xfrm>
            <a:off x="6233008" y="5513832"/>
            <a:ext cx="2567864" cy="731520"/>
          </a:xfrm>
          <a:prstGeom prst="rect">
            <a:avLst/>
          </a:prstGeom>
          <a:noFill/>
          <a:ln/>
        </p:spPr>
        <p:txBody>
          <a:bodyPr wrap="square" lIns="0" tIns="0" rIns="0" bIns="0" rtlCol="0" anchor="t"/>
          <a:lstStyle/>
          <a:p>
            <a:pPr indent="0" marL="0">
              <a:buNone/>
            </a:pPr>
            <a:r>
              <a:rPr lang="en-US" sz="1200" dirty="0">
                <a:solidFill>
                  <a:schemeClr val="bg1"/>
                </a:solidFill>
              </a:rPr>
              <a:t>Claims, attacks, defenses, concessions and rulings are append-only audit events.</a:t>
            </a:r>
            <a:endParaRPr lang="en-US" sz="1200" dirty="0"/>
          </a:p>
        </p:txBody>
      </p:sp>
      <p:sp>
        <p:nvSpPr>
          <p:cNvPr id="43" name="Text 41"/>
          <p:cNvSpPr txBox="1"/>
          <p:nvPr/>
        </p:nvSpPr>
        <p:spPr>
          <a:xfrm>
            <a:off x="9075191" y="5257800"/>
            <a:ext cx="2567864"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BOUNDED LOOP</a:t>
            </a:r>
            <a:endParaRPr lang="en-US" sz="1000" dirty="0"/>
          </a:p>
        </p:txBody>
      </p:sp>
      <p:sp>
        <p:nvSpPr>
          <p:cNvPr id="44" name="Text 42"/>
          <p:cNvSpPr txBox="1"/>
          <p:nvPr/>
        </p:nvSpPr>
        <p:spPr>
          <a:xfrm>
            <a:off x="9075191" y="5513832"/>
            <a:ext cx="2567864" cy="731520"/>
          </a:xfrm>
          <a:prstGeom prst="rect">
            <a:avLst/>
          </a:prstGeom>
          <a:noFill/>
          <a:ln/>
        </p:spPr>
        <p:txBody>
          <a:bodyPr wrap="square" lIns="0" tIns="0" rIns="0" bIns="0" rtlCol="0" anchor="t"/>
          <a:lstStyle/>
          <a:p>
            <a:pPr indent="0" marL="0">
              <a:buNone/>
            </a:pPr>
            <a:r>
              <a:rPr lang="en-US" sz="1200" dirty="0">
                <a:solidFill>
                  <a:schemeClr val="bg1"/>
                </a:solidFill>
              </a:rPr>
              <a:t>Repeated queries are refused; only new evidence counts. Runs are capped at 2 by default.</a:t>
            </a:r>
            <a:endParaRPr lang="en-US" sz="12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HOW THE SYSTEM REASONS</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Every claim must survive scrutiny</a:t>
            </a:r>
            <a:endParaRPr lang="en-US" sz="3200" dirty="0"/>
          </a:p>
        </p:txBody>
      </p:sp>
      <p:sp>
        <p:nvSpPr>
          <p:cNvPr id="4" name="Shape 2"/>
          <p:cNvSpPr/>
          <p:nvPr/>
        </p:nvSpPr>
        <p:spPr>
          <a:xfrm>
            <a:off x="548640" y="1783080"/>
            <a:ext cx="2587752" cy="2743200"/>
          </a:xfrm>
          <a:prstGeom prst="rect">
            <a:avLst/>
          </a:prstGeom>
          <a:solidFill>
            <a:schemeClr val="accent4"/>
          </a:solidFill>
          <a:ln w="9525">
            <a:solidFill>
              <a:schemeClr val="accent5"/>
            </a:solidFill>
            <a:prstDash val="solid"/>
          </a:ln>
        </p:spPr>
      </p:sp>
      <p:sp>
        <p:nvSpPr>
          <p:cNvPr id="5" name="Text 3"/>
          <p:cNvSpPr txBox="1"/>
          <p:nvPr/>
        </p:nvSpPr>
        <p:spPr>
          <a:xfrm>
            <a:off x="731520" y="1947672"/>
            <a:ext cx="2221992"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CLAIM</a:t>
            </a:r>
            <a:endParaRPr lang="en-US" sz="1000" dirty="0"/>
          </a:p>
        </p:txBody>
      </p:sp>
      <p:sp>
        <p:nvSpPr>
          <p:cNvPr id="6" name="Text 4"/>
          <p:cNvSpPr txBox="1"/>
          <p:nvPr/>
        </p:nvSpPr>
        <p:spPr>
          <a:xfrm>
            <a:off x="731520" y="2194560"/>
            <a:ext cx="2221992" cy="228600"/>
          </a:xfrm>
          <a:prstGeom prst="rect">
            <a:avLst/>
          </a:prstGeom>
          <a:noFill/>
          <a:ln/>
        </p:spPr>
        <p:txBody>
          <a:bodyPr wrap="square" lIns="0" tIns="0" rIns="0" bIns="0" rtlCol="0" anchor="t"/>
          <a:lstStyle/>
          <a:p>
            <a:pPr indent="0" marL="0">
              <a:buNone/>
            </a:pPr>
            <a:r>
              <a:rPr lang="en-US" sz="1100" dirty="0">
                <a:solidFill>
                  <a:schemeClr val="bg2"/>
                </a:solidFill>
              </a:rPr>
              <a:t>Loki  ·  L1-2  ·  inference</a:t>
            </a:r>
            <a:endParaRPr lang="en-US" sz="1100" dirty="0"/>
          </a:p>
        </p:txBody>
      </p:sp>
      <p:sp>
        <p:nvSpPr>
          <p:cNvPr id="7" name="Text 5"/>
          <p:cNvSpPr txBox="1"/>
          <p:nvPr/>
        </p:nvSpPr>
        <p:spPr>
          <a:xfrm>
            <a:off x="731520" y="2532888"/>
            <a:ext cx="2221992" cy="1463040"/>
          </a:xfrm>
          <a:prstGeom prst="rect">
            <a:avLst/>
          </a:prstGeom>
          <a:noFill/>
          <a:ln/>
        </p:spPr>
        <p:txBody>
          <a:bodyPr wrap="square" lIns="0" tIns="0" rIns="0" bIns="0" rtlCol="0" anchor="t"/>
          <a:lstStyle/>
          <a:p>
            <a:pPr indent="0" marL="0">
              <a:buNone/>
            </a:pPr>
            <a:r>
              <a:rPr lang="en-US" sz="1400" dirty="0">
                <a:solidFill>
                  <a:schemeClr val="bg1"/>
                </a:solidFill>
              </a:rPr>
              <a:t>Midgard's maize imports from Orvan stayed more resilient after the agreement ended, thanks to delayed delivery terms.</a:t>
            </a:r>
            <a:endParaRPr lang="en-US" sz="1400" dirty="0"/>
          </a:p>
        </p:txBody>
      </p:sp>
      <p:sp>
        <p:nvSpPr>
          <p:cNvPr id="8" name="Shape 6"/>
          <p:cNvSpPr/>
          <p:nvPr/>
        </p:nvSpPr>
        <p:spPr>
          <a:xfrm>
            <a:off x="731520" y="4087368"/>
            <a:ext cx="1069848" cy="256032"/>
          </a:xfrm>
          <a:prstGeom prst="rect">
            <a:avLst/>
          </a:prstGeom>
          <a:solidFill>
            <a:schemeClr val="tx1">
              <a:alpha val="70000"/>
            </a:schemeClr>
          </a:solidFill>
          <a:ln w="9525">
            <a:solidFill>
              <a:schemeClr val="accent1"/>
            </a:solidFill>
            <a:prstDash val="solid"/>
          </a:ln>
        </p:spPr>
      </p:sp>
      <p:sp>
        <p:nvSpPr>
          <p:cNvPr id="9" name="Text 7"/>
          <p:cNvSpPr txBox="1"/>
          <p:nvPr/>
        </p:nvSpPr>
        <p:spPr>
          <a:xfrm>
            <a:off x="731520" y="4087368"/>
            <a:ext cx="1069848"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ORV-0030 P14</a:t>
            </a:r>
            <a:endParaRPr lang="en-US" sz="1000" dirty="0"/>
          </a:p>
        </p:txBody>
      </p:sp>
      <p:sp>
        <p:nvSpPr>
          <p:cNvPr id="10" name="Shape 8"/>
          <p:cNvSpPr/>
          <p:nvPr/>
        </p:nvSpPr>
        <p:spPr>
          <a:xfrm>
            <a:off x="1892808" y="4087368"/>
            <a:ext cx="1069848" cy="256032"/>
          </a:xfrm>
          <a:prstGeom prst="rect">
            <a:avLst/>
          </a:prstGeom>
          <a:solidFill>
            <a:schemeClr val="tx1">
              <a:alpha val="70000"/>
            </a:schemeClr>
          </a:solidFill>
          <a:ln w="9525">
            <a:solidFill>
              <a:schemeClr val="accent1"/>
            </a:solidFill>
            <a:prstDash val="solid"/>
          </a:ln>
        </p:spPr>
      </p:sp>
      <p:sp>
        <p:nvSpPr>
          <p:cNvPr id="11" name="Text 9"/>
          <p:cNvSpPr txBox="1"/>
          <p:nvPr/>
        </p:nvSpPr>
        <p:spPr>
          <a:xfrm>
            <a:off x="1892808" y="4087368"/>
            <a:ext cx="1069848"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ORV-0030 R4</a:t>
            </a:r>
            <a:endParaRPr lang="en-US" sz="1000" dirty="0"/>
          </a:p>
        </p:txBody>
      </p:sp>
      <p:sp>
        <p:nvSpPr>
          <p:cNvPr id="12" name="Shape 10"/>
          <p:cNvSpPr/>
          <p:nvPr/>
        </p:nvSpPr>
        <p:spPr>
          <a:xfrm>
            <a:off x="3172968" y="3154680"/>
            <a:ext cx="174650" cy="91"/>
          </a:xfrm>
          <a:prstGeom prst="line">
            <a:avLst/>
          </a:prstGeom>
          <a:noFill/>
          <a:ln w="15875">
            <a:solidFill>
              <a:schemeClr val="bg2"/>
            </a:solidFill>
            <a:prstDash val="solid"/>
            <a:tailEnd type="triangle"/>
          </a:ln>
        </p:spPr>
      </p:sp>
      <p:sp>
        <p:nvSpPr>
          <p:cNvPr id="13" name="Shape 11"/>
          <p:cNvSpPr/>
          <p:nvPr/>
        </p:nvSpPr>
        <p:spPr>
          <a:xfrm>
            <a:off x="3384194" y="1783080"/>
            <a:ext cx="2587752" cy="2743200"/>
          </a:xfrm>
          <a:prstGeom prst="rect">
            <a:avLst/>
          </a:prstGeom>
          <a:solidFill>
            <a:schemeClr val="accent4"/>
          </a:solidFill>
          <a:ln w="9525">
            <a:solidFill>
              <a:schemeClr val="accent5"/>
            </a:solidFill>
            <a:prstDash val="solid"/>
          </a:ln>
        </p:spPr>
      </p:sp>
      <p:sp>
        <p:nvSpPr>
          <p:cNvPr id="14" name="Text 12"/>
          <p:cNvSpPr txBox="1"/>
          <p:nvPr/>
        </p:nvSpPr>
        <p:spPr>
          <a:xfrm>
            <a:off x="3567074" y="1947672"/>
            <a:ext cx="2221992" cy="228600"/>
          </a:xfrm>
          <a:prstGeom prst="rect">
            <a:avLst/>
          </a:prstGeom>
          <a:noFill/>
          <a:ln/>
        </p:spPr>
        <p:txBody>
          <a:bodyPr wrap="square" lIns="0" tIns="0" rIns="0" bIns="0" rtlCol="0" anchor="t"/>
          <a:lstStyle/>
          <a:p>
            <a:pPr indent="0" marL="0">
              <a:buNone/>
            </a:pPr>
            <a:r>
              <a:rPr lang="en-US" sz="1000" spc="200" kern="0" dirty="0">
                <a:solidFill>
                  <a:schemeClr val="accent3"/>
                </a:solidFill>
                <a:latin typeface="Consolas" pitchFamily="34" charset="0"/>
                <a:ea typeface="Consolas" pitchFamily="34" charset="-122"/>
                <a:cs typeface="Consolas" pitchFamily="34" charset="-120"/>
              </a:rPr>
              <a:t>ATTACK</a:t>
            </a:r>
            <a:endParaRPr lang="en-US" sz="1000" dirty="0"/>
          </a:p>
        </p:txBody>
      </p:sp>
      <p:sp>
        <p:nvSpPr>
          <p:cNvPr id="15" name="Text 13"/>
          <p:cNvSpPr txBox="1"/>
          <p:nvPr/>
        </p:nvSpPr>
        <p:spPr>
          <a:xfrm>
            <a:off x="3567074" y="2194560"/>
            <a:ext cx="2221992" cy="228600"/>
          </a:xfrm>
          <a:prstGeom prst="rect">
            <a:avLst/>
          </a:prstGeom>
          <a:noFill/>
          <a:ln/>
        </p:spPr>
        <p:txBody>
          <a:bodyPr wrap="square" lIns="0" tIns="0" rIns="0" bIns="0" rtlCol="0" anchor="t"/>
          <a:lstStyle/>
          <a:p>
            <a:pPr indent="0" marL="0">
              <a:buNone/>
            </a:pPr>
            <a:r>
              <a:rPr lang="en-US" sz="1100" dirty="0">
                <a:solidFill>
                  <a:schemeClr val="bg2"/>
                </a:solidFill>
              </a:rPr>
              <a:t>Thor  ·  A1-T3</a:t>
            </a:r>
            <a:endParaRPr lang="en-US" sz="1100" dirty="0"/>
          </a:p>
        </p:txBody>
      </p:sp>
      <p:sp>
        <p:nvSpPr>
          <p:cNvPr id="16" name="Text 14"/>
          <p:cNvSpPr txBox="1"/>
          <p:nvPr/>
        </p:nvSpPr>
        <p:spPr>
          <a:xfrm>
            <a:off x="3567074" y="2532888"/>
            <a:ext cx="2221992" cy="1463040"/>
          </a:xfrm>
          <a:prstGeom prst="rect">
            <a:avLst/>
          </a:prstGeom>
          <a:noFill/>
          <a:ln/>
        </p:spPr>
        <p:txBody>
          <a:bodyPr wrap="square" lIns="0" tIns="0" rIns="0" bIns="0" rtlCol="0" anchor="t"/>
          <a:lstStyle/>
          <a:p>
            <a:pPr indent="0" marL="0">
              <a:buNone/>
            </a:pPr>
            <a:r>
              <a:rPr lang="en-US" sz="1400" dirty="0">
                <a:solidFill>
                  <a:schemeClr val="bg1"/>
                </a:solidFill>
              </a:rPr>
              <a:t>"Resilient" describes a delay. November value fell from USD 84.7M (2025) to 31.9M (2026).</a:t>
            </a:r>
            <a:endParaRPr lang="en-US" sz="1400" dirty="0"/>
          </a:p>
        </p:txBody>
      </p:sp>
      <p:sp>
        <p:nvSpPr>
          <p:cNvPr id="17" name="Shape 15"/>
          <p:cNvSpPr/>
          <p:nvPr/>
        </p:nvSpPr>
        <p:spPr>
          <a:xfrm>
            <a:off x="3567074" y="4087368"/>
            <a:ext cx="1069848" cy="256032"/>
          </a:xfrm>
          <a:prstGeom prst="rect">
            <a:avLst/>
          </a:prstGeom>
          <a:solidFill>
            <a:schemeClr val="tx1">
              <a:alpha val="70000"/>
            </a:schemeClr>
          </a:solidFill>
          <a:ln w="9525">
            <a:solidFill>
              <a:schemeClr val="accent1"/>
            </a:solidFill>
            <a:prstDash val="solid"/>
          </a:ln>
        </p:spPr>
      </p:sp>
      <p:sp>
        <p:nvSpPr>
          <p:cNvPr id="18" name="Text 16"/>
          <p:cNvSpPr txBox="1"/>
          <p:nvPr/>
        </p:nvSpPr>
        <p:spPr>
          <a:xfrm>
            <a:off x="3567074" y="4087368"/>
            <a:ext cx="1069848"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ORV-0030 R11</a:t>
            </a:r>
            <a:endParaRPr lang="en-US" sz="1000" dirty="0"/>
          </a:p>
        </p:txBody>
      </p:sp>
      <p:sp>
        <p:nvSpPr>
          <p:cNvPr id="19" name="Shape 17"/>
          <p:cNvSpPr/>
          <p:nvPr/>
        </p:nvSpPr>
        <p:spPr>
          <a:xfrm>
            <a:off x="4728362" y="4087368"/>
            <a:ext cx="1069848" cy="256032"/>
          </a:xfrm>
          <a:prstGeom prst="rect">
            <a:avLst/>
          </a:prstGeom>
          <a:solidFill>
            <a:schemeClr val="tx1">
              <a:alpha val="70000"/>
            </a:schemeClr>
          </a:solidFill>
          <a:ln w="9525">
            <a:solidFill>
              <a:schemeClr val="accent1"/>
            </a:solidFill>
            <a:prstDash val="solid"/>
          </a:ln>
        </p:spPr>
      </p:sp>
      <p:sp>
        <p:nvSpPr>
          <p:cNvPr id="20" name="Text 18"/>
          <p:cNvSpPr txBox="1"/>
          <p:nvPr/>
        </p:nvSpPr>
        <p:spPr>
          <a:xfrm>
            <a:off x="4728362" y="4087368"/>
            <a:ext cx="1069848" cy="256032"/>
          </a:xfrm>
          <a:prstGeom prst="rect">
            <a:avLst/>
          </a:prstGeom>
          <a:noFill/>
          <a:ln/>
        </p:spPr>
        <p:txBody>
          <a:bodyPr wrap="square" lIns="0" tIns="0" rIns="0" bIns="0" rtlCol="0" anchor="ctr"/>
          <a:lstStyle/>
          <a:p>
            <a:pPr algn="ctr" indent="0" marL="0">
              <a:buNone/>
            </a:pPr>
            <a:r>
              <a:rPr lang="en-US" sz="1000" dirty="0">
                <a:solidFill>
                  <a:schemeClr val="accent1"/>
                </a:solidFill>
                <a:latin typeface="Consolas" pitchFamily="34" charset="0"/>
                <a:ea typeface="Consolas" pitchFamily="34" charset="-122"/>
                <a:cs typeface="Consolas" pitchFamily="34" charset="-120"/>
              </a:rPr>
              <a:t>ORV-0030 R5</a:t>
            </a:r>
            <a:endParaRPr lang="en-US" sz="1000" dirty="0"/>
          </a:p>
        </p:txBody>
      </p:sp>
      <p:sp>
        <p:nvSpPr>
          <p:cNvPr id="21" name="Shape 19"/>
          <p:cNvSpPr/>
          <p:nvPr/>
        </p:nvSpPr>
        <p:spPr>
          <a:xfrm>
            <a:off x="6008522" y="3154680"/>
            <a:ext cx="174650" cy="91"/>
          </a:xfrm>
          <a:prstGeom prst="line">
            <a:avLst/>
          </a:prstGeom>
          <a:noFill/>
          <a:ln w="15875">
            <a:solidFill>
              <a:schemeClr val="bg2"/>
            </a:solidFill>
            <a:prstDash val="solid"/>
            <a:tailEnd type="triangle"/>
          </a:ln>
        </p:spPr>
      </p:sp>
      <p:sp>
        <p:nvSpPr>
          <p:cNvPr id="22" name="Shape 20"/>
          <p:cNvSpPr/>
          <p:nvPr/>
        </p:nvSpPr>
        <p:spPr>
          <a:xfrm>
            <a:off x="6219749" y="1783080"/>
            <a:ext cx="2587752" cy="2743200"/>
          </a:xfrm>
          <a:prstGeom prst="rect">
            <a:avLst/>
          </a:prstGeom>
          <a:solidFill>
            <a:schemeClr val="accent4"/>
          </a:solidFill>
          <a:ln w="9525">
            <a:solidFill>
              <a:schemeClr val="accent5"/>
            </a:solidFill>
            <a:prstDash val="solid"/>
          </a:ln>
        </p:spPr>
      </p:sp>
      <p:sp>
        <p:nvSpPr>
          <p:cNvPr id="23" name="Text 21"/>
          <p:cNvSpPr txBox="1"/>
          <p:nvPr/>
        </p:nvSpPr>
        <p:spPr>
          <a:xfrm>
            <a:off x="6402629" y="1947672"/>
            <a:ext cx="2221992"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RESPONSE</a:t>
            </a:r>
            <a:endParaRPr lang="en-US" sz="1000" dirty="0"/>
          </a:p>
        </p:txBody>
      </p:sp>
      <p:sp>
        <p:nvSpPr>
          <p:cNvPr id="24" name="Text 22"/>
          <p:cNvSpPr txBox="1"/>
          <p:nvPr/>
        </p:nvSpPr>
        <p:spPr>
          <a:xfrm>
            <a:off x="6402629" y="2194560"/>
            <a:ext cx="2221992" cy="228600"/>
          </a:xfrm>
          <a:prstGeom prst="rect">
            <a:avLst/>
          </a:prstGeom>
          <a:noFill/>
          <a:ln/>
        </p:spPr>
        <p:txBody>
          <a:bodyPr wrap="square" lIns="0" tIns="0" rIns="0" bIns="0" rtlCol="0" anchor="t"/>
          <a:lstStyle/>
          <a:p>
            <a:pPr indent="0" marL="0">
              <a:buNone/>
            </a:pPr>
            <a:r>
              <a:rPr lang="en-US" sz="1100" dirty="0">
                <a:solidFill>
                  <a:schemeClr val="bg2"/>
                </a:solidFill>
              </a:rPr>
              <a:t>Loki  ·  concedes in part</a:t>
            </a:r>
            <a:endParaRPr lang="en-US" sz="1100" dirty="0"/>
          </a:p>
        </p:txBody>
      </p:sp>
      <p:sp>
        <p:nvSpPr>
          <p:cNvPr id="25" name="Text 23"/>
          <p:cNvSpPr txBox="1"/>
          <p:nvPr/>
        </p:nvSpPr>
        <p:spPr>
          <a:xfrm>
            <a:off x="6402629" y="2532888"/>
            <a:ext cx="2221992" cy="1463040"/>
          </a:xfrm>
          <a:prstGeom prst="rect">
            <a:avLst/>
          </a:prstGeom>
          <a:noFill/>
          <a:ln/>
        </p:spPr>
        <p:txBody>
          <a:bodyPr wrap="square" lIns="0" tIns="0" rIns="0" bIns="0" rtlCol="0" anchor="t"/>
          <a:lstStyle/>
          <a:p>
            <a:pPr indent="0" marL="0">
              <a:buNone/>
            </a:pPr>
            <a:r>
              <a:rPr lang="en-US" sz="1400" dirty="0">
                <a:solidFill>
                  <a:schemeClr val="bg1"/>
                </a:solidFill>
              </a:rPr>
              <a:t>"Resilient" inaccurately describes the maize trade. The claim is revised to a delayed but significant decline.</a:t>
            </a:r>
            <a:endParaRPr lang="en-US" sz="1400" dirty="0"/>
          </a:p>
        </p:txBody>
      </p:sp>
      <p:sp>
        <p:nvSpPr>
          <p:cNvPr id="26" name="Shape 24"/>
          <p:cNvSpPr/>
          <p:nvPr/>
        </p:nvSpPr>
        <p:spPr>
          <a:xfrm>
            <a:off x="8844077" y="3154680"/>
            <a:ext cx="174650" cy="91"/>
          </a:xfrm>
          <a:prstGeom prst="line">
            <a:avLst/>
          </a:prstGeom>
          <a:noFill/>
          <a:ln w="15875">
            <a:solidFill>
              <a:schemeClr val="bg2"/>
            </a:solidFill>
            <a:prstDash val="solid"/>
            <a:tailEnd type="triangle"/>
          </a:ln>
        </p:spPr>
      </p:sp>
      <p:sp>
        <p:nvSpPr>
          <p:cNvPr id="27" name="Shape 25"/>
          <p:cNvSpPr/>
          <p:nvPr/>
        </p:nvSpPr>
        <p:spPr>
          <a:xfrm>
            <a:off x="9055303" y="1783080"/>
            <a:ext cx="2587752" cy="2743200"/>
          </a:xfrm>
          <a:prstGeom prst="rect">
            <a:avLst/>
          </a:prstGeom>
          <a:solidFill>
            <a:schemeClr val="accent4"/>
          </a:solidFill>
          <a:ln w="15875">
            <a:solidFill>
              <a:schemeClr val="accent2"/>
            </a:solidFill>
            <a:prstDash val="solid"/>
          </a:ln>
        </p:spPr>
      </p:sp>
      <p:sp>
        <p:nvSpPr>
          <p:cNvPr id="28" name="Text 26"/>
          <p:cNvSpPr txBox="1"/>
          <p:nvPr/>
        </p:nvSpPr>
        <p:spPr>
          <a:xfrm>
            <a:off x="9238183" y="1947672"/>
            <a:ext cx="2221992"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Consolas" pitchFamily="34" charset="0"/>
                <a:ea typeface="Consolas" pitchFamily="34" charset="-122"/>
                <a:cs typeface="Consolas" pitchFamily="34" charset="-120"/>
              </a:rPr>
              <a:t>RULING</a:t>
            </a:r>
            <a:endParaRPr lang="en-US" sz="1000" dirty="0"/>
          </a:p>
        </p:txBody>
      </p:sp>
      <p:sp>
        <p:nvSpPr>
          <p:cNvPr id="29" name="Text 27"/>
          <p:cNvSpPr txBox="1"/>
          <p:nvPr/>
        </p:nvSpPr>
        <p:spPr>
          <a:xfrm>
            <a:off x="9238183" y="2194560"/>
            <a:ext cx="2221992" cy="228600"/>
          </a:xfrm>
          <a:prstGeom prst="rect">
            <a:avLst/>
          </a:prstGeom>
          <a:noFill/>
          <a:ln/>
        </p:spPr>
        <p:txBody>
          <a:bodyPr wrap="square" lIns="0" tIns="0" rIns="0" bIns="0" rtlCol="0" anchor="t"/>
          <a:lstStyle/>
          <a:p>
            <a:pPr indent="0" marL="0">
              <a:buNone/>
            </a:pPr>
            <a:r>
              <a:rPr lang="en-US" sz="1100" dirty="0">
                <a:solidFill>
                  <a:schemeClr val="bg2"/>
                </a:solidFill>
              </a:rPr>
              <a:t>Odin  ·  R-L1-2</a:t>
            </a:r>
            <a:endParaRPr lang="en-US" sz="1100" dirty="0"/>
          </a:p>
        </p:txBody>
      </p:sp>
      <p:sp>
        <p:nvSpPr>
          <p:cNvPr id="30" name="Text 28"/>
          <p:cNvSpPr txBox="1"/>
          <p:nvPr/>
        </p:nvSpPr>
        <p:spPr>
          <a:xfrm>
            <a:off x="9238183" y="2532888"/>
            <a:ext cx="2221992" cy="1463040"/>
          </a:xfrm>
          <a:prstGeom prst="rect">
            <a:avLst/>
          </a:prstGeom>
          <a:noFill/>
          <a:ln/>
        </p:spPr>
        <p:txBody>
          <a:bodyPr wrap="square" lIns="0" tIns="0" rIns="0" bIns="0" rtlCol="0" anchor="t"/>
          <a:lstStyle/>
          <a:p>
            <a:pPr indent="0" marL="0">
              <a:buNone/>
            </a:pPr>
            <a:r>
              <a:rPr lang="en-US" sz="1400" dirty="0">
                <a:solidFill>
                  <a:schemeClr val="bg1"/>
                </a:solidFill>
              </a:rPr>
              <a:t>Conceded. The proponent acknowledged the objection; the trade suffered heavy year-on-year losses.</a:t>
            </a:r>
            <a:endParaRPr lang="en-US" sz="1400" dirty="0"/>
          </a:p>
        </p:txBody>
      </p:sp>
      <p:sp>
        <p:nvSpPr>
          <p:cNvPr id="31" name="Shape 29"/>
          <p:cNvSpPr/>
          <p:nvPr/>
        </p:nvSpPr>
        <p:spPr>
          <a:xfrm>
            <a:off x="11231575" y="1965960"/>
            <a:ext cx="182880" cy="182880"/>
          </a:xfrm>
          <a:prstGeom prst="ellipse">
            <a:avLst/>
          </a:prstGeom>
          <a:solidFill>
            <a:schemeClr val="bg1">
              <a:alpha val="0"/>
            </a:schemeClr>
          </a:solidFill>
          <a:ln w="15875">
            <a:solidFill>
              <a:schemeClr val="bg2"/>
            </a:solidFill>
            <a:prstDash val="solid"/>
          </a:ln>
        </p:spPr>
      </p:sp>
      <p:sp>
        <p:nvSpPr>
          <p:cNvPr id="32" name="Text 30"/>
          <p:cNvSpPr txBox="1"/>
          <p:nvPr/>
        </p:nvSpPr>
        <p:spPr>
          <a:xfrm>
            <a:off x="548640" y="4846320"/>
            <a:ext cx="5486400" cy="228600"/>
          </a:xfrm>
          <a:prstGeom prst="rect">
            <a:avLst/>
          </a:prstGeom>
          <a:noFill/>
          <a:ln/>
        </p:spPr>
        <p:txBody>
          <a:bodyPr wrap="square" lIns="0" tIns="0" rIns="0" bIns="0" rtlCol="0" anchor="t"/>
          <a:lstStyle/>
          <a:p>
            <a:pPr indent="0" marL="0">
              <a:buNone/>
            </a:pPr>
            <a:r>
              <a:rPr lang="en-US" sz="1000" spc="200" kern="0" dirty="0">
                <a:solidFill>
                  <a:schemeClr val="bg2"/>
                </a:solidFill>
                <a:latin typeface="Consolas" pitchFamily="34" charset="0"/>
                <a:ea typeface="Consolas" pitchFamily="34" charset="-122"/>
                <a:cs typeface="Consolas" pitchFamily="34" charset="-120"/>
              </a:rPr>
              <a:t>FOUR VERDICTS, USED EVERYWHERE</a:t>
            </a:r>
            <a:endParaRPr lang="en-US" sz="1000" dirty="0"/>
          </a:p>
        </p:txBody>
      </p:sp>
      <p:sp>
        <p:nvSpPr>
          <p:cNvPr id="33" name="Shape 31"/>
          <p:cNvSpPr/>
          <p:nvPr/>
        </p:nvSpPr>
        <p:spPr>
          <a:xfrm>
            <a:off x="548640" y="5230368"/>
            <a:ext cx="182880" cy="182880"/>
          </a:xfrm>
          <a:prstGeom prst="ellipse">
            <a:avLst/>
          </a:prstGeom>
          <a:solidFill>
            <a:schemeClr val="bg1"/>
          </a:solidFill>
          <a:ln w="12700">
            <a:solidFill>
              <a:schemeClr val="bg1"/>
            </a:solidFill>
            <a:prstDash val="solid"/>
          </a:ln>
        </p:spPr>
      </p:sp>
      <p:sp>
        <p:nvSpPr>
          <p:cNvPr id="34" name="Text 32"/>
          <p:cNvSpPr txBox="1"/>
          <p:nvPr/>
        </p:nvSpPr>
        <p:spPr>
          <a:xfrm>
            <a:off x="841248" y="5175504"/>
            <a:ext cx="2407844" cy="274320"/>
          </a:xfrm>
          <a:prstGeom prst="rect">
            <a:avLst/>
          </a:prstGeom>
          <a:noFill/>
          <a:ln/>
        </p:spPr>
        <p:txBody>
          <a:bodyPr wrap="square" lIns="0" tIns="0" rIns="0" bIns="0" rtlCol="0" anchor="t"/>
          <a:lstStyle/>
          <a:p>
            <a:pPr indent="0" marL="0">
              <a:buNone/>
            </a:pPr>
            <a:r>
              <a:rPr lang="en-US" sz="1400" b="1" dirty="0">
                <a:solidFill>
                  <a:schemeClr val="bg1"/>
                </a:solidFill>
              </a:rPr>
              <a:t>established</a:t>
            </a:r>
            <a:endParaRPr lang="en-US" sz="1400" dirty="0"/>
          </a:p>
        </p:txBody>
      </p:sp>
      <p:sp>
        <p:nvSpPr>
          <p:cNvPr id="35" name="Text 33"/>
          <p:cNvSpPr txBox="1"/>
          <p:nvPr/>
        </p:nvSpPr>
        <p:spPr>
          <a:xfrm>
            <a:off x="841248" y="5468112"/>
            <a:ext cx="2362124" cy="457200"/>
          </a:xfrm>
          <a:prstGeom prst="rect">
            <a:avLst/>
          </a:prstGeom>
          <a:noFill/>
          <a:ln/>
        </p:spPr>
        <p:txBody>
          <a:bodyPr wrap="square" lIns="0" tIns="0" rIns="0" bIns="0" rtlCol="0" anchor="t"/>
          <a:lstStyle/>
          <a:p>
            <a:pPr indent="0" marL="0">
              <a:buNone/>
            </a:pPr>
            <a:r>
              <a:rPr lang="en-US" sz="1200" dirty="0">
                <a:solidFill>
                  <a:schemeClr val="bg2"/>
                </a:solidFill>
              </a:rPr>
              <a:t>survived scrutiny on valid evidence</a:t>
            </a:r>
            <a:endParaRPr lang="en-US" sz="1200" dirty="0"/>
          </a:p>
        </p:txBody>
      </p:sp>
      <p:sp>
        <p:nvSpPr>
          <p:cNvPr id="36" name="Shape 34"/>
          <p:cNvSpPr/>
          <p:nvPr/>
        </p:nvSpPr>
        <p:spPr>
          <a:xfrm>
            <a:off x="3322244" y="5230368"/>
            <a:ext cx="182880" cy="182880"/>
          </a:xfrm>
          <a:prstGeom prst="pie">
            <a:avLst>
              <a:gd name="adj1" fmla="val 5400000"/>
              <a:gd name="adj2" fmla="val 16200000"/>
            </a:avLst>
          </a:prstGeom>
          <a:solidFill>
            <a:schemeClr val="bg1"/>
          </a:solidFill>
          <a:ln w="12700">
            <a:solidFill>
              <a:schemeClr val="bg1"/>
            </a:solidFill>
            <a:prstDash val="solid"/>
          </a:ln>
        </p:spPr>
      </p:sp>
      <p:sp>
        <p:nvSpPr>
          <p:cNvPr id="37" name="Shape 35"/>
          <p:cNvSpPr/>
          <p:nvPr/>
        </p:nvSpPr>
        <p:spPr>
          <a:xfrm>
            <a:off x="3322244" y="5230368"/>
            <a:ext cx="182880" cy="182880"/>
          </a:xfrm>
          <a:prstGeom prst="ellipse">
            <a:avLst/>
          </a:prstGeom>
          <a:solidFill>
            <a:schemeClr val="bg1">
              <a:alpha val="0"/>
            </a:schemeClr>
          </a:solidFill>
          <a:ln w="15875">
            <a:solidFill>
              <a:schemeClr val="bg1"/>
            </a:solidFill>
            <a:prstDash val="solid"/>
          </a:ln>
        </p:spPr>
      </p:sp>
      <p:sp>
        <p:nvSpPr>
          <p:cNvPr id="38" name="Text 36"/>
          <p:cNvSpPr txBox="1"/>
          <p:nvPr/>
        </p:nvSpPr>
        <p:spPr>
          <a:xfrm>
            <a:off x="3614852" y="5175504"/>
            <a:ext cx="2407844" cy="274320"/>
          </a:xfrm>
          <a:prstGeom prst="rect">
            <a:avLst/>
          </a:prstGeom>
          <a:noFill/>
          <a:ln/>
        </p:spPr>
        <p:txBody>
          <a:bodyPr wrap="square" lIns="0" tIns="0" rIns="0" bIns="0" rtlCol="0" anchor="t"/>
          <a:lstStyle/>
          <a:p>
            <a:pPr indent="0" marL="0">
              <a:buNone/>
            </a:pPr>
            <a:r>
              <a:rPr lang="en-US" sz="1400" b="1" dirty="0">
                <a:solidFill>
                  <a:schemeClr val="bg1"/>
                </a:solidFill>
              </a:rPr>
              <a:t>contested</a:t>
            </a:r>
            <a:endParaRPr lang="en-US" sz="1400" dirty="0"/>
          </a:p>
        </p:txBody>
      </p:sp>
      <p:sp>
        <p:nvSpPr>
          <p:cNvPr id="39" name="Text 37"/>
          <p:cNvSpPr txBox="1"/>
          <p:nvPr/>
        </p:nvSpPr>
        <p:spPr>
          <a:xfrm>
            <a:off x="3614852" y="5468112"/>
            <a:ext cx="2362124" cy="457200"/>
          </a:xfrm>
          <a:prstGeom prst="rect">
            <a:avLst/>
          </a:prstGeom>
          <a:noFill/>
          <a:ln/>
        </p:spPr>
        <p:txBody>
          <a:bodyPr wrap="square" lIns="0" tIns="0" rIns="0" bIns="0" rtlCol="0" anchor="t"/>
          <a:lstStyle/>
          <a:p>
            <a:pPr indent="0" marL="0">
              <a:buNone/>
            </a:pPr>
            <a:r>
              <a:rPr lang="en-US" sz="1200" dirty="0">
                <a:solidFill>
                  <a:schemeClr val="bg2"/>
                </a:solidFill>
              </a:rPr>
              <a:t>support, but credible counter-evidence</a:t>
            </a:r>
            <a:endParaRPr lang="en-US" sz="1200" dirty="0"/>
          </a:p>
        </p:txBody>
      </p:sp>
      <p:sp>
        <p:nvSpPr>
          <p:cNvPr id="40" name="Shape 38"/>
          <p:cNvSpPr/>
          <p:nvPr/>
        </p:nvSpPr>
        <p:spPr>
          <a:xfrm>
            <a:off x="6095848" y="5230368"/>
            <a:ext cx="182880" cy="182880"/>
          </a:xfrm>
          <a:prstGeom prst="ellipse">
            <a:avLst/>
          </a:prstGeom>
          <a:solidFill>
            <a:schemeClr val="bg1">
              <a:alpha val="0"/>
            </a:schemeClr>
          </a:solidFill>
          <a:ln w="15875">
            <a:solidFill>
              <a:schemeClr val="bg2"/>
            </a:solidFill>
            <a:prstDash val="solid"/>
          </a:ln>
        </p:spPr>
      </p:sp>
      <p:sp>
        <p:nvSpPr>
          <p:cNvPr id="41" name="Text 39"/>
          <p:cNvSpPr txBox="1"/>
          <p:nvPr/>
        </p:nvSpPr>
        <p:spPr>
          <a:xfrm>
            <a:off x="6388456" y="5175504"/>
            <a:ext cx="2407844" cy="274320"/>
          </a:xfrm>
          <a:prstGeom prst="rect">
            <a:avLst/>
          </a:prstGeom>
          <a:noFill/>
          <a:ln/>
        </p:spPr>
        <p:txBody>
          <a:bodyPr wrap="square" lIns="0" tIns="0" rIns="0" bIns="0" rtlCol="0" anchor="t"/>
          <a:lstStyle/>
          <a:p>
            <a:pPr indent="0" marL="0">
              <a:buNone/>
            </a:pPr>
            <a:r>
              <a:rPr lang="en-US" sz="1400" b="1" dirty="0">
                <a:solidFill>
                  <a:schemeClr val="bg1"/>
                </a:solidFill>
              </a:rPr>
              <a:t>conceded</a:t>
            </a:r>
            <a:endParaRPr lang="en-US" sz="1400" dirty="0"/>
          </a:p>
        </p:txBody>
      </p:sp>
      <p:sp>
        <p:nvSpPr>
          <p:cNvPr id="42" name="Text 40"/>
          <p:cNvSpPr txBox="1"/>
          <p:nvPr/>
        </p:nvSpPr>
        <p:spPr>
          <a:xfrm>
            <a:off x="6388456" y="5468112"/>
            <a:ext cx="2362124" cy="457200"/>
          </a:xfrm>
          <a:prstGeom prst="rect">
            <a:avLst/>
          </a:prstGeom>
          <a:noFill/>
          <a:ln/>
        </p:spPr>
        <p:txBody>
          <a:bodyPr wrap="square" lIns="0" tIns="0" rIns="0" bIns="0" rtlCol="0" anchor="t"/>
          <a:lstStyle/>
          <a:p>
            <a:pPr indent="0" marL="0">
              <a:buNone/>
            </a:pPr>
            <a:r>
              <a:rPr lang="en-US" sz="1200" dirty="0">
                <a:solidFill>
                  <a:schemeClr val="bg2"/>
                </a:solidFill>
              </a:rPr>
              <a:t>the claim's author withdrew it</a:t>
            </a:r>
            <a:endParaRPr lang="en-US" sz="1200" dirty="0"/>
          </a:p>
        </p:txBody>
      </p:sp>
      <p:sp>
        <p:nvSpPr>
          <p:cNvPr id="43" name="Shape 41"/>
          <p:cNvSpPr/>
          <p:nvPr/>
        </p:nvSpPr>
        <p:spPr>
          <a:xfrm>
            <a:off x="8869451" y="5230368"/>
            <a:ext cx="182880" cy="182880"/>
          </a:xfrm>
          <a:prstGeom prst="rect">
            <a:avLst/>
          </a:prstGeom>
          <a:solidFill>
            <a:schemeClr val="accent3"/>
          </a:solidFill>
          <a:ln w="12700">
            <a:solidFill>
              <a:schemeClr val="accent3"/>
            </a:solidFill>
            <a:prstDash val="solid"/>
          </a:ln>
        </p:spPr>
      </p:sp>
      <p:sp>
        <p:nvSpPr>
          <p:cNvPr id="44" name="Text 42"/>
          <p:cNvSpPr txBox="1"/>
          <p:nvPr/>
        </p:nvSpPr>
        <p:spPr>
          <a:xfrm>
            <a:off x="9162059" y="5175504"/>
            <a:ext cx="2407844" cy="274320"/>
          </a:xfrm>
          <a:prstGeom prst="rect">
            <a:avLst/>
          </a:prstGeom>
          <a:noFill/>
          <a:ln/>
        </p:spPr>
        <p:txBody>
          <a:bodyPr wrap="square" lIns="0" tIns="0" rIns="0" bIns="0" rtlCol="0" anchor="t"/>
          <a:lstStyle/>
          <a:p>
            <a:pPr indent="0" marL="0">
              <a:buNone/>
            </a:pPr>
            <a:r>
              <a:rPr lang="en-US" sz="1400" b="1" dirty="0">
                <a:solidFill>
                  <a:schemeClr val="accent3"/>
                </a:solidFill>
              </a:rPr>
              <a:t>rejected</a:t>
            </a:r>
            <a:endParaRPr lang="en-US" sz="1400" dirty="0"/>
          </a:p>
        </p:txBody>
      </p:sp>
      <p:sp>
        <p:nvSpPr>
          <p:cNvPr id="45" name="Text 43"/>
          <p:cNvSpPr txBox="1"/>
          <p:nvPr/>
        </p:nvSpPr>
        <p:spPr>
          <a:xfrm>
            <a:off x="9162059" y="5468112"/>
            <a:ext cx="2362124" cy="457200"/>
          </a:xfrm>
          <a:prstGeom prst="rect">
            <a:avLst/>
          </a:prstGeom>
          <a:noFill/>
          <a:ln/>
        </p:spPr>
        <p:txBody>
          <a:bodyPr wrap="square" lIns="0" tIns="0" rIns="0" bIns="0" rtlCol="0" anchor="t"/>
          <a:lstStyle/>
          <a:p>
            <a:pPr indent="0" marL="0">
              <a:buNone/>
            </a:pPr>
            <a:r>
              <a:rPr lang="en-US" sz="1200" dirty="0">
                <a:solidFill>
                  <a:schemeClr val="bg2"/>
                </a:solidFill>
              </a:rPr>
              <a:t>Odin judged it unsupported</a:t>
            </a:r>
            <a:endParaRPr lang="en-US" sz="1200" dirty="0"/>
          </a:p>
        </p:txBody>
      </p:sp>
      <p:sp>
        <p:nvSpPr>
          <p:cNvPr id="46" name="Text 44"/>
          <p:cNvSpPr txBox="1"/>
          <p:nvPr/>
        </p:nvSpPr>
        <p:spPr>
          <a:xfrm>
            <a:off x="548640" y="6035040"/>
            <a:ext cx="11094415" cy="256032"/>
          </a:xfrm>
          <a:prstGeom prst="rect">
            <a:avLst/>
          </a:prstGeom>
          <a:noFill/>
          <a:ln/>
        </p:spPr>
        <p:txBody>
          <a:bodyPr wrap="square" lIns="0" tIns="0" rIns="0" bIns="0" rtlCol="0" anchor="t"/>
          <a:lstStyle/>
          <a:p>
            <a:pPr indent="0" marL="0">
              <a:buNone/>
            </a:pPr>
            <a:r>
              <a:rPr lang="en-US" sz="1100" dirty="0">
                <a:solidFill>
                  <a:schemeClr val="bg2"/>
                </a:solidFill>
              </a:rPr>
              <a:t>Conceded comes from the author; rejected from Odin. Every claim is tagged fact or inference. Real exchange from the saved case, condensed.</a:t>
            </a:r>
            <a:endParaRPr lang="en-US" sz="11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NUMBERS YOU CAN TRACE</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The model reasons. Code does the arithmetic.</a:t>
            </a:r>
            <a:endParaRPr lang="en-US" sz="3200" dirty="0"/>
          </a:p>
        </p:txBody>
      </p:sp>
      <p:sp>
        <p:nvSpPr>
          <p:cNvPr id="4" name="Shape 2"/>
          <p:cNvSpPr/>
          <p:nvPr/>
        </p:nvSpPr>
        <p:spPr>
          <a:xfrm>
            <a:off x="548640" y="1874520"/>
            <a:ext cx="1737360" cy="2514600"/>
          </a:xfrm>
          <a:prstGeom prst="rect">
            <a:avLst/>
          </a:prstGeom>
          <a:solidFill>
            <a:schemeClr val="accent4"/>
          </a:solidFill>
          <a:ln w="9525">
            <a:solidFill>
              <a:schemeClr val="accent5"/>
            </a:solidFill>
            <a:prstDash val="solid"/>
          </a:ln>
        </p:spPr>
      </p:sp>
      <p:sp>
        <p:nvSpPr>
          <p:cNvPr id="5" name="Text 3"/>
          <p:cNvSpPr txBox="1"/>
          <p:nvPr/>
        </p:nvSpPr>
        <p:spPr>
          <a:xfrm>
            <a:off x="685800" y="2011680"/>
            <a:ext cx="1463040" cy="411480"/>
          </a:xfrm>
          <a:prstGeom prst="rect">
            <a:avLst/>
          </a:prstGeom>
          <a:noFill/>
          <a:ln/>
        </p:spPr>
        <p:txBody>
          <a:bodyPr wrap="square" lIns="0" tIns="0" rIns="0" bIns="0" rtlCol="0" anchor="t"/>
          <a:lstStyle/>
          <a:p>
            <a:pPr indent="0" marL="0">
              <a:buNone/>
            </a:pPr>
            <a:r>
              <a:rPr lang="en-US" sz="1000" spc="100" kern="0" dirty="0">
                <a:solidFill>
                  <a:schemeClr val="accent1"/>
                </a:solidFill>
                <a:latin typeface="Consolas" pitchFamily="34" charset="0"/>
                <a:ea typeface="Consolas" pitchFamily="34" charset="-122"/>
                <a:cs typeface="Consolas" pitchFamily="34" charset="-120"/>
              </a:rPr>
              <a:t>SOURCE DOCUMENT</a:t>
            </a:r>
            <a:endParaRPr lang="en-US" sz="1000" dirty="0"/>
          </a:p>
        </p:txBody>
      </p:sp>
      <p:sp>
        <p:nvSpPr>
          <p:cNvPr id="6" name="Shape 4"/>
          <p:cNvSpPr/>
          <p:nvPr/>
        </p:nvSpPr>
        <p:spPr>
          <a:xfrm>
            <a:off x="2313432" y="3131820"/>
            <a:ext cx="219456" cy="91"/>
          </a:xfrm>
          <a:prstGeom prst="line">
            <a:avLst/>
          </a:prstGeom>
          <a:noFill/>
          <a:ln w="15875">
            <a:solidFill>
              <a:schemeClr val="bg2"/>
            </a:solidFill>
            <a:prstDash val="solid"/>
            <a:tailEnd type="triangle"/>
          </a:ln>
        </p:spPr>
      </p:sp>
      <p:sp>
        <p:nvSpPr>
          <p:cNvPr id="7" name="Shape 5"/>
          <p:cNvSpPr/>
          <p:nvPr/>
        </p:nvSpPr>
        <p:spPr>
          <a:xfrm>
            <a:off x="2560320" y="1874520"/>
            <a:ext cx="1737360" cy="2514600"/>
          </a:xfrm>
          <a:prstGeom prst="rect">
            <a:avLst/>
          </a:prstGeom>
          <a:solidFill>
            <a:schemeClr val="accent4"/>
          </a:solidFill>
          <a:ln w="9525">
            <a:solidFill>
              <a:schemeClr val="accent5"/>
            </a:solidFill>
            <a:prstDash val="solid"/>
          </a:ln>
        </p:spPr>
      </p:sp>
      <p:sp>
        <p:nvSpPr>
          <p:cNvPr id="8" name="Text 6"/>
          <p:cNvSpPr txBox="1"/>
          <p:nvPr/>
        </p:nvSpPr>
        <p:spPr>
          <a:xfrm>
            <a:off x="2697480" y="2011680"/>
            <a:ext cx="1463040" cy="411480"/>
          </a:xfrm>
          <a:prstGeom prst="rect">
            <a:avLst/>
          </a:prstGeom>
          <a:noFill/>
          <a:ln/>
        </p:spPr>
        <p:txBody>
          <a:bodyPr wrap="square" lIns="0" tIns="0" rIns="0" bIns="0" rtlCol="0" anchor="t"/>
          <a:lstStyle/>
          <a:p>
            <a:pPr indent="0" marL="0">
              <a:buNone/>
            </a:pPr>
            <a:r>
              <a:rPr lang="en-US" sz="1000" spc="100" kern="0" dirty="0">
                <a:solidFill>
                  <a:schemeClr val="accent1"/>
                </a:solidFill>
                <a:latin typeface="Consolas" pitchFamily="34" charset="0"/>
                <a:ea typeface="Consolas" pitchFamily="34" charset="-122"/>
                <a:cs typeface="Consolas" pitchFamily="34" charset="-120"/>
              </a:rPr>
              <a:t>CITED TRADE ROWS</a:t>
            </a:r>
            <a:endParaRPr lang="en-US" sz="1000" dirty="0"/>
          </a:p>
        </p:txBody>
      </p:sp>
      <p:sp>
        <p:nvSpPr>
          <p:cNvPr id="9" name="Shape 7"/>
          <p:cNvSpPr/>
          <p:nvPr/>
        </p:nvSpPr>
        <p:spPr>
          <a:xfrm>
            <a:off x="4325112" y="3131820"/>
            <a:ext cx="219456" cy="91"/>
          </a:xfrm>
          <a:prstGeom prst="line">
            <a:avLst/>
          </a:prstGeom>
          <a:noFill/>
          <a:ln w="15875">
            <a:solidFill>
              <a:schemeClr val="bg2"/>
            </a:solidFill>
            <a:prstDash val="solid"/>
            <a:tailEnd type="triangle"/>
          </a:ln>
        </p:spPr>
      </p:sp>
      <p:sp>
        <p:nvSpPr>
          <p:cNvPr id="10" name="Shape 8"/>
          <p:cNvSpPr/>
          <p:nvPr/>
        </p:nvSpPr>
        <p:spPr>
          <a:xfrm>
            <a:off x="4572000" y="1874520"/>
            <a:ext cx="3383280" cy="2514600"/>
          </a:xfrm>
          <a:prstGeom prst="rect">
            <a:avLst/>
          </a:prstGeom>
          <a:solidFill>
            <a:schemeClr val="accent4"/>
          </a:solidFill>
          <a:ln w="15875">
            <a:solidFill>
              <a:schemeClr val="accent1"/>
            </a:solidFill>
            <a:prstDash val="solid"/>
          </a:ln>
        </p:spPr>
      </p:sp>
      <p:sp>
        <p:nvSpPr>
          <p:cNvPr id="11" name="Text 9"/>
          <p:cNvSpPr txBox="1"/>
          <p:nvPr/>
        </p:nvSpPr>
        <p:spPr>
          <a:xfrm>
            <a:off x="4709160" y="2011680"/>
            <a:ext cx="3108960" cy="411480"/>
          </a:xfrm>
          <a:prstGeom prst="rect">
            <a:avLst/>
          </a:prstGeom>
          <a:noFill/>
          <a:ln/>
        </p:spPr>
        <p:txBody>
          <a:bodyPr wrap="square" lIns="0" tIns="0" rIns="0" bIns="0" rtlCol="0" anchor="t"/>
          <a:lstStyle/>
          <a:p>
            <a:pPr indent="0" marL="0">
              <a:buNone/>
            </a:pPr>
            <a:r>
              <a:rPr lang="en-US" sz="1000" spc="100" kern="0" dirty="0">
                <a:solidFill>
                  <a:schemeClr val="accent1"/>
                </a:solidFill>
                <a:latin typeface="Consolas" pitchFamily="34" charset="0"/>
                <a:ea typeface="Consolas" pitchFamily="34" charset="-122"/>
                <a:cs typeface="Consolas" pitchFamily="34" charset="-120"/>
              </a:rPr>
              <a:t>DETERMINISTIC CALCULATION</a:t>
            </a:r>
            <a:endParaRPr lang="en-US" sz="1000" dirty="0"/>
          </a:p>
        </p:txBody>
      </p:sp>
      <p:sp>
        <p:nvSpPr>
          <p:cNvPr id="12" name="Shape 10"/>
          <p:cNvSpPr/>
          <p:nvPr/>
        </p:nvSpPr>
        <p:spPr>
          <a:xfrm>
            <a:off x="7982712" y="3131820"/>
            <a:ext cx="219456" cy="91"/>
          </a:xfrm>
          <a:prstGeom prst="line">
            <a:avLst/>
          </a:prstGeom>
          <a:noFill/>
          <a:ln w="15875">
            <a:solidFill>
              <a:schemeClr val="bg2"/>
            </a:solidFill>
            <a:prstDash val="solid"/>
            <a:tailEnd type="triangle"/>
          </a:ln>
        </p:spPr>
      </p:sp>
      <p:sp>
        <p:nvSpPr>
          <p:cNvPr id="13" name="Shape 11"/>
          <p:cNvSpPr/>
          <p:nvPr/>
        </p:nvSpPr>
        <p:spPr>
          <a:xfrm>
            <a:off x="8229600" y="1874520"/>
            <a:ext cx="1874520" cy="2514600"/>
          </a:xfrm>
          <a:prstGeom prst="rect">
            <a:avLst/>
          </a:prstGeom>
          <a:solidFill>
            <a:schemeClr val="accent4"/>
          </a:solidFill>
          <a:ln w="15875">
            <a:solidFill>
              <a:schemeClr val="accent2"/>
            </a:solidFill>
            <a:prstDash val="solid"/>
          </a:ln>
        </p:spPr>
      </p:sp>
      <p:sp>
        <p:nvSpPr>
          <p:cNvPr id="14" name="Text 12"/>
          <p:cNvSpPr txBox="1"/>
          <p:nvPr/>
        </p:nvSpPr>
        <p:spPr>
          <a:xfrm>
            <a:off x="8366760" y="2011680"/>
            <a:ext cx="1600200" cy="411480"/>
          </a:xfrm>
          <a:prstGeom prst="rect">
            <a:avLst/>
          </a:prstGeom>
          <a:noFill/>
          <a:ln/>
        </p:spPr>
        <p:txBody>
          <a:bodyPr wrap="square" lIns="0" tIns="0" rIns="0" bIns="0" rtlCol="0" anchor="t"/>
          <a:lstStyle/>
          <a:p>
            <a:pPr indent="0" marL="0">
              <a:buNone/>
            </a:pPr>
            <a:r>
              <a:rPr lang="en-US" sz="1000" spc="100" kern="0" dirty="0">
                <a:solidFill>
                  <a:schemeClr val="accent2"/>
                </a:solidFill>
                <a:latin typeface="Consolas" pitchFamily="34" charset="0"/>
                <a:ea typeface="Consolas" pitchFamily="34" charset="-122"/>
                <a:cs typeface="Consolas" pitchFamily="34" charset="-120"/>
              </a:rPr>
              <a:t>EXPOSURE RANGE</a:t>
            </a:r>
            <a:endParaRPr lang="en-US" sz="1000" dirty="0"/>
          </a:p>
        </p:txBody>
      </p:sp>
      <p:sp>
        <p:nvSpPr>
          <p:cNvPr id="15" name="Shape 13"/>
          <p:cNvSpPr/>
          <p:nvPr/>
        </p:nvSpPr>
        <p:spPr>
          <a:xfrm>
            <a:off x="10131552" y="3131820"/>
            <a:ext cx="219456" cy="91"/>
          </a:xfrm>
          <a:prstGeom prst="line">
            <a:avLst/>
          </a:prstGeom>
          <a:noFill/>
          <a:ln w="15875">
            <a:solidFill>
              <a:schemeClr val="bg2"/>
            </a:solidFill>
            <a:prstDash val="solid"/>
            <a:tailEnd type="triangle"/>
          </a:ln>
        </p:spPr>
      </p:sp>
      <p:sp>
        <p:nvSpPr>
          <p:cNvPr id="16" name="Shape 14"/>
          <p:cNvSpPr/>
          <p:nvPr/>
        </p:nvSpPr>
        <p:spPr>
          <a:xfrm>
            <a:off x="10378440" y="1874520"/>
            <a:ext cx="1261872" cy="2514600"/>
          </a:xfrm>
          <a:prstGeom prst="rect">
            <a:avLst/>
          </a:prstGeom>
          <a:solidFill>
            <a:schemeClr val="accent4"/>
          </a:solidFill>
          <a:ln w="9525">
            <a:solidFill>
              <a:schemeClr val="accent5"/>
            </a:solidFill>
            <a:prstDash val="solid"/>
          </a:ln>
        </p:spPr>
      </p:sp>
      <p:sp>
        <p:nvSpPr>
          <p:cNvPr id="17" name="Text 15"/>
          <p:cNvSpPr txBox="1"/>
          <p:nvPr/>
        </p:nvSpPr>
        <p:spPr>
          <a:xfrm>
            <a:off x="10515600" y="2011680"/>
            <a:ext cx="987552" cy="411480"/>
          </a:xfrm>
          <a:prstGeom prst="rect">
            <a:avLst/>
          </a:prstGeom>
          <a:noFill/>
          <a:ln/>
        </p:spPr>
        <p:txBody>
          <a:bodyPr wrap="square" lIns="0" tIns="0" rIns="0" bIns="0" rtlCol="0" anchor="t"/>
          <a:lstStyle/>
          <a:p>
            <a:pPr indent="0" marL="0">
              <a:buNone/>
            </a:pPr>
            <a:r>
              <a:rPr lang="en-US" sz="1000" spc="100" kern="0" dirty="0">
                <a:solidFill>
                  <a:schemeClr val="bg1"/>
                </a:solidFill>
                <a:latin typeface="Consolas" pitchFamily="34" charset="0"/>
                <a:ea typeface="Consolas" pitchFamily="34" charset="-122"/>
                <a:cs typeface="Consolas" pitchFamily="34" charset="-120"/>
              </a:rPr>
              <a:t>BRIEFING</a:t>
            </a:r>
            <a:endParaRPr lang="en-US" sz="1000" dirty="0"/>
          </a:p>
        </p:txBody>
      </p:sp>
      <p:sp>
        <p:nvSpPr>
          <p:cNvPr id="18" name="Text 16"/>
          <p:cNvSpPr txBox="1"/>
          <p:nvPr/>
        </p:nvSpPr>
        <p:spPr>
          <a:xfrm>
            <a:off x="685800" y="2514600"/>
            <a:ext cx="1463040" cy="1645920"/>
          </a:xfrm>
          <a:prstGeom prst="rect">
            <a:avLst/>
          </a:prstGeom>
          <a:noFill/>
          <a:ln/>
        </p:spPr>
        <p:txBody>
          <a:bodyPr wrap="square" lIns="0" tIns="0" rIns="0" bIns="0" rtlCol="0" anchor="t"/>
          <a:lstStyle/>
          <a:p>
            <a:pPr indent="0" marL="0">
              <a:buNone/>
            </a:pPr>
            <a:r>
              <a:rPr lang="en-US" sz="1300" dirty="0">
                <a:solidFill>
                  <a:schemeClr val="accent1"/>
                </a:solidFill>
                <a:latin typeface="Consolas" pitchFamily="34" charset="0"/>
                <a:ea typeface="Consolas" pitchFamily="34" charset="-122"/>
                <a:cs typeface="Consolas" pitchFamily="34" charset="-120"/>
              </a:rPr>
              <a:t>ORV-0009</a:t>
            </a:r>
            <a:endParaRPr lang="en-US" sz="1400" dirty="0"/>
          </a:p>
          <a:p>
            <a:pPr indent="0" marL="0">
              <a:buNone/>
            </a:pPr>
            <a:r>
              <a:rPr lang="en-US" sz="1300" dirty="0">
                <a:solidFill>
                  <a:schemeClr val="bg1"/>
                </a:solidFill>
              </a:rPr>
              <a:t>Trade note: Orvan to Midgard, wheat</a:t>
            </a:r>
            <a:endParaRPr lang="en-US" sz="1400" dirty="0"/>
          </a:p>
          <a:p>
            <a:pPr indent="0" marL="0">
              <a:buNone/>
            </a:pPr>
            <a:r>
              <a:rPr lang="en-US" sz="1100" dirty="0">
                <a:solidFill>
                  <a:schemeClr val="bg2"/>
                </a:solidFill>
              </a:rPr>
              <a:t>tier 1 · 2027-01-19</a:t>
            </a:r>
            <a:endParaRPr lang="en-US" sz="1400" dirty="0"/>
          </a:p>
        </p:txBody>
      </p:sp>
      <p:sp>
        <p:nvSpPr>
          <p:cNvPr id="19" name="Text 17"/>
          <p:cNvSpPr txBox="1"/>
          <p:nvPr/>
        </p:nvSpPr>
        <p:spPr>
          <a:xfrm>
            <a:off x="2697480" y="2514600"/>
            <a:ext cx="1508760" cy="1737360"/>
          </a:xfrm>
          <a:prstGeom prst="rect">
            <a:avLst/>
          </a:prstGeom>
          <a:noFill/>
          <a:ln/>
        </p:spPr>
        <p:txBody>
          <a:bodyPr wrap="square" lIns="0" tIns="0" rIns="0" bIns="0" rtlCol="0" anchor="t"/>
          <a:lstStyle/>
          <a:p>
            <a:pPr indent="0" marL="0">
              <a:buNone/>
            </a:pPr>
            <a:r>
              <a:rPr lang="en-US" sz="1200" dirty="0">
                <a:solidFill>
                  <a:schemeClr val="bg2"/>
                </a:solidFill>
              </a:rPr>
              <a:t>Sep–Dec 2026</a:t>
            </a:r>
            <a:endParaRPr lang="en-US" sz="1400" dirty="0"/>
          </a:p>
          <a:p>
            <a:pPr indent="0" marL="0">
              <a:buNone/>
            </a:pPr>
            <a:r>
              <a:rPr lang="en-US" sz="1300" dirty="0">
                <a:solidFill>
                  <a:schemeClr val="accent1"/>
                </a:solidFill>
                <a:latin typeface="Consolas" pitchFamily="34" charset="0"/>
                <a:ea typeface="Consolas" pitchFamily="34" charset="-122"/>
                <a:cs typeface="Consolas" pitchFamily="34" charset="-120"/>
              </a:rPr>
              <a:t>R3 R4 R5 R6</a:t>
            </a:r>
            <a:endParaRPr lang="en-US" sz="1400" dirty="0"/>
          </a:p>
          <a:p>
            <a:pPr indent="0" marL="0">
              <a:buNone/>
            </a:pPr>
            <a:r>
              <a:rPr lang="en-US" sz="800" dirty="0">
                <a:solidFill>
                  <a:schemeClr val="bg1"/>
                </a:solidFill>
              </a:rPr>
              <a:t> </a:t>
            </a:r>
            <a:endParaRPr lang="en-US" sz="1400" dirty="0"/>
          </a:p>
          <a:p>
            <a:pPr indent="0" marL="0">
              <a:buNone/>
            </a:pPr>
            <a:r>
              <a:rPr lang="en-US" sz="1200" dirty="0">
                <a:solidFill>
                  <a:schemeClr val="bg2"/>
                </a:solidFill>
              </a:rPr>
              <a:t>Sep–Dec 2025</a:t>
            </a:r>
            <a:endParaRPr lang="en-US" sz="1400" dirty="0"/>
          </a:p>
          <a:p>
            <a:pPr indent="0" marL="0">
              <a:buNone/>
            </a:pPr>
            <a:r>
              <a:rPr lang="en-US" sz="1300" dirty="0">
                <a:solidFill>
                  <a:schemeClr val="accent1"/>
                </a:solidFill>
                <a:latin typeface="Consolas" pitchFamily="34" charset="0"/>
                <a:ea typeface="Consolas" pitchFamily="34" charset="-122"/>
                <a:cs typeface="Consolas" pitchFamily="34" charset="-120"/>
              </a:rPr>
              <a:t>R9 R10 R11 R12</a:t>
            </a:r>
            <a:endParaRPr lang="en-US" sz="1400" dirty="0"/>
          </a:p>
        </p:txBody>
      </p:sp>
      <p:sp>
        <p:nvSpPr>
          <p:cNvPr id="20" name="Text 18"/>
          <p:cNvSpPr txBox="1"/>
          <p:nvPr/>
        </p:nvSpPr>
        <p:spPr>
          <a:xfrm>
            <a:off x="4709160" y="2423160"/>
            <a:ext cx="3154680" cy="1920240"/>
          </a:xfrm>
          <a:prstGeom prst="rect">
            <a:avLst/>
          </a:prstGeom>
          <a:noFill/>
          <a:ln/>
        </p:spPr>
        <p:txBody>
          <a:bodyPr wrap="square" lIns="0" tIns="0" rIns="0" bIns="0" rtlCol="0" anchor="t"/>
          <a:lstStyle/>
          <a:p>
            <a:pPr indent="0" marL="0">
              <a:buNone/>
            </a:pPr>
            <a:r>
              <a:rPr lang="en-US" sz="1200" dirty="0">
                <a:solidFill>
                  <a:schemeClr val="accent1"/>
                </a:solidFill>
                <a:latin typeface="Consolas" pitchFamily="34" charset="0"/>
                <a:ea typeface="Consolas" pitchFamily="34" charset="-122"/>
                <a:cs typeface="Consolas" pitchFamily="34" charset="-120"/>
              </a:rPr>
              <a:t>CALC-2471c1  ·  yoy_change</a:t>
            </a:r>
            <a:endParaRPr lang="en-US" sz="1400" dirty="0"/>
          </a:p>
          <a:p>
            <a:pPr indent="0" marL="0">
              <a:buNone/>
            </a:pPr>
            <a:r>
              <a:rPr lang="en-US" sz="1200" dirty="0">
                <a:solidFill>
                  <a:schemeClr val="bg2"/>
                </a:solidFill>
                <a:latin typeface="Consolas" pitchFamily="34" charset="0"/>
                <a:ea typeface="Consolas" pitchFamily="34" charset="-122"/>
                <a:cs typeface="Consolas" pitchFamily="34" charset="-120"/>
              </a:rPr>
              <a:t>sum(current) − sum(prior)</a:t>
            </a:r>
            <a:endParaRPr lang="en-US" sz="1400" dirty="0"/>
          </a:p>
          <a:p>
            <a:pPr indent="0" marL="0">
              <a:buNone/>
            </a:pPr>
            <a:r>
              <a:rPr lang="en-US" sz="1300" dirty="0">
                <a:solidFill>
                  <a:schemeClr val="bg1"/>
                </a:solidFill>
                <a:latin typeface="Consolas" pitchFamily="34" charset="0"/>
                <a:ea typeface="Consolas" pitchFamily="34" charset="-122"/>
                <a:cs typeface="Consolas" pitchFamily="34" charset="-120"/>
              </a:rPr>
              <a:t>142.1 − 358.3 = −216.2 USD M</a:t>
            </a:r>
            <a:endParaRPr lang="en-US" sz="1400" dirty="0"/>
          </a:p>
          <a:p>
            <a:pPr indent="0" marL="0">
              <a:buNone/>
            </a:pPr>
            <a:r>
              <a:rPr lang="en-US" sz="800" dirty="0">
                <a:solidFill>
                  <a:schemeClr val="bg1"/>
                </a:solidFill>
              </a:rPr>
              <a:t> </a:t>
            </a:r>
            <a:endParaRPr lang="en-US" sz="1400" dirty="0"/>
          </a:p>
          <a:p>
            <a:pPr indent="0" marL="0">
              <a:buNone/>
            </a:pPr>
            <a:r>
              <a:rPr lang="en-US" sz="1200" dirty="0">
                <a:solidFill>
                  <a:schemeClr val="accent1"/>
                </a:solidFill>
                <a:latin typeface="Consolas" pitchFamily="34" charset="0"/>
                <a:ea typeface="Consolas" pitchFamily="34" charset="-122"/>
                <a:cs typeface="Consolas" pitchFamily="34" charset="-120"/>
              </a:rPr>
              <a:t>CALC-cb98e8  ·  Oct–Dec only</a:t>
            </a:r>
            <a:endParaRPr lang="en-US" sz="1400" dirty="0"/>
          </a:p>
          <a:p>
            <a:pPr indent="0" marL="0">
              <a:buNone/>
            </a:pPr>
            <a:r>
              <a:rPr lang="en-US" sz="1300" dirty="0">
                <a:solidFill>
                  <a:schemeClr val="bg1"/>
                </a:solidFill>
                <a:latin typeface="Consolas" pitchFamily="34" charset="0"/>
                <a:ea typeface="Consolas" pitchFamily="34" charset="-122"/>
                <a:cs typeface="Consolas" pitchFamily="34" charset="-120"/>
              </a:rPr>
              <a:t>103.9 − 260.4 = −156.5 USD M</a:t>
            </a:r>
            <a:endParaRPr lang="en-US" sz="1400" dirty="0"/>
          </a:p>
          <a:p>
            <a:pPr indent="0" marL="0">
              <a:buNone/>
            </a:pPr>
            <a:r>
              <a:rPr lang="en-US" sz="800" dirty="0">
                <a:solidFill>
                  <a:schemeClr val="bg1"/>
                </a:solidFill>
              </a:rPr>
              <a:t> </a:t>
            </a:r>
            <a:endParaRPr lang="en-US" sz="1400" dirty="0"/>
          </a:p>
          <a:p>
            <a:pPr indent="0" marL="0">
              <a:buNone/>
            </a:pPr>
            <a:r>
              <a:rPr lang="en-US" sz="1100" dirty="0">
                <a:solidFill>
                  <a:schemeClr val="bg2"/>
                </a:solidFill>
              </a:rPr>
              <a:t>inputs kept · excluded rows: none</a:t>
            </a:r>
            <a:endParaRPr lang="en-US" sz="1400" dirty="0"/>
          </a:p>
        </p:txBody>
      </p:sp>
      <p:sp>
        <p:nvSpPr>
          <p:cNvPr id="21" name="Text 19"/>
          <p:cNvSpPr txBox="1"/>
          <p:nvPr/>
        </p:nvSpPr>
        <p:spPr>
          <a:xfrm>
            <a:off x="8366760" y="2468880"/>
            <a:ext cx="1645920" cy="1783080"/>
          </a:xfrm>
          <a:prstGeom prst="rect">
            <a:avLst/>
          </a:prstGeom>
          <a:noFill/>
          <a:ln/>
        </p:spPr>
        <p:txBody>
          <a:bodyPr wrap="square" lIns="0" tIns="0" rIns="0" bIns="0" rtlCol="0" anchor="t"/>
          <a:lstStyle/>
          <a:p>
            <a:pPr indent="0" marL="0">
              <a:buNone/>
            </a:pPr>
            <a:r>
              <a:rPr lang="en-US" sz="2400" dirty="0">
                <a:solidFill>
                  <a:schemeClr val="accent2"/>
                </a:solidFill>
                <a:latin typeface="Garamond" pitchFamily="34" charset="0"/>
                <a:ea typeface="Garamond" pitchFamily="34" charset="-122"/>
                <a:cs typeface="Garamond" pitchFamily="34" charset="-120"/>
              </a:rPr>
              <a:t>156.5 – 216.2</a:t>
            </a:r>
            <a:endParaRPr lang="en-US" sz="1400" dirty="0"/>
          </a:p>
          <a:p>
            <a:pPr indent="0" marL="0">
              <a:buNone/>
            </a:pPr>
            <a:r>
              <a:rPr lang="en-US" sz="1200" dirty="0">
                <a:solidFill>
                  <a:schemeClr val="bg1"/>
                </a:solidFill>
              </a:rPr>
              <a:t>USD M  ·  Midgard wheat</a:t>
            </a:r>
            <a:endParaRPr lang="en-US" sz="1400" dirty="0"/>
          </a:p>
          <a:p>
            <a:pPr indent="0" marL="0">
              <a:buNone/>
            </a:pPr>
            <a:r>
              <a:rPr lang="en-US" sz="600" dirty="0">
                <a:solidFill>
                  <a:schemeClr val="bg1"/>
                </a:solidFill>
              </a:rPr>
              <a:t> </a:t>
            </a:r>
            <a:endParaRPr lang="en-US" sz="1400" dirty="0"/>
          </a:p>
          <a:p>
            <a:pPr indent="0" marL="0">
              <a:buNone/>
            </a:pPr>
            <a:r>
              <a:rPr lang="en-US" sz="1100" dirty="0">
                <a:solidFill>
                  <a:schemeClr val="bg2"/>
                </a:solidFill>
              </a:rPr>
              <a:t>Odin's range: the year-on-year fall in import value</a:t>
            </a:r>
            <a:endParaRPr lang="en-US" sz="1400" dirty="0"/>
          </a:p>
        </p:txBody>
      </p:sp>
      <p:sp>
        <p:nvSpPr>
          <p:cNvPr id="22" name="Text 20"/>
          <p:cNvSpPr txBox="1"/>
          <p:nvPr/>
        </p:nvSpPr>
        <p:spPr>
          <a:xfrm>
            <a:off x="10515600" y="2468880"/>
            <a:ext cx="1051560" cy="1463040"/>
          </a:xfrm>
          <a:prstGeom prst="rect">
            <a:avLst/>
          </a:prstGeom>
          <a:noFill/>
          <a:ln/>
        </p:spPr>
        <p:txBody>
          <a:bodyPr wrap="square" lIns="0" tIns="0" rIns="0" bIns="0" rtlCol="0" anchor="t"/>
          <a:lstStyle/>
          <a:p>
            <a:pPr indent="0" marL="0">
              <a:buNone/>
            </a:pPr>
            <a:r>
              <a:rPr lang="en-US" sz="1200" dirty="0">
                <a:solidFill>
                  <a:schemeClr val="bg2"/>
                </a:solidFill>
              </a:rPr>
              <a:t>Inline citation</a:t>
            </a:r>
            <a:endParaRPr lang="en-US" sz="1400" dirty="0"/>
          </a:p>
          <a:p>
            <a:pPr indent="0" marL="0">
              <a:buNone/>
            </a:pPr>
            <a:r>
              <a:rPr lang="en-US" sz="1100" dirty="0">
                <a:solidFill>
                  <a:schemeClr val="accent1"/>
                </a:solidFill>
                <a:latin typeface="Consolas" pitchFamily="34" charset="0"/>
                <a:ea typeface="Consolas" pitchFamily="34" charset="-122"/>
                <a:cs typeface="Consolas" pitchFamily="34" charset="-120"/>
              </a:rPr>
              <a:t>[ORV-0009 R3,</a:t>
            </a:r>
            <a:endParaRPr lang="en-US" sz="1400" dirty="0"/>
          </a:p>
          <a:p>
            <a:pPr indent="0" marL="0">
              <a:buNone/>
            </a:pPr>
            <a:r>
              <a:rPr lang="en-US" sz="1100" dirty="0">
                <a:solidFill>
                  <a:schemeClr val="accent1"/>
                </a:solidFill>
                <a:latin typeface="Consolas" pitchFamily="34" charset="0"/>
                <a:ea typeface="Consolas" pitchFamily="34" charset="-122"/>
                <a:cs typeface="Consolas" pitchFamily="34" charset="-120"/>
              </a:rPr>
              <a:t> 2027-01-19]</a:t>
            </a:r>
            <a:endParaRPr lang="en-US" sz="1400" dirty="0"/>
          </a:p>
        </p:txBody>
      </p:sp>
      <p:sp>
        <p:nvSpPr>
          <p:cNvPr id="23" name="Shape 21"/>
          <p:cNvSpPr/>
          <p:nvPr/>
        </p:nvSpPr>
        <p:spPr>
          <a:xfrm>
            <a:off x="548640" y="4773168"/>
            <a:ext cx="91440" cy="91440"/>
          </a:xfrm>
          <a:prstGeom prst="rect">
            <a:avLst/>
          </a:prstGeom>
          <a:solidFill>
            <a:schemeClr val="accent1"/>
          </a:solidFill>
          <a:ln w="12700">
            <a:solidFill>
              <a:schemeClr val="accent1"/>
            </a:solidFill>
            <a:prstDash val="solid"/>
          </a:ln>
        </p:spPr>
      </p:sp>
      <p:sp>
        <p:nvSpPr>
          <p:cNvPr id="24" name="Text 22"/>
          <p:cNvSpPr txBox="1"/>
          <p:nvPr/>
        </p:nvSpPr>
        <p:spPr>
          <a:xfrm>
            <a:off x="777240" y="4663440"/>
            <a:ext cx="3256178" cy="777240"/>
          </a:xfrm>
          <a:prstGeom prst="rect">
            <a:avLst/>
          </a:prstGeom>
          <a:noFill/>
          <a:ln/>
        </p:spPr>
        <p:txBody>
          <a:bodyPr wrap="square" lIns="0" tIns="0" rIns="0" bIns="0" rtlCol="0" anchor="t"/>
          <a:lstStyle/>
          <a:p>
            <a:pPr indent="0" marL="0">
              <a:buNone/>
            </a:pPr>
            <a:r>
              <a:rPr lang="en-US" sz="1400" dirty="0">
                <a:solidFill>
                  <a:schemeClr val="bg1"/>
                </a:solidFill>
              </a:rPr>
              <a:t>The model picks rows and an operation. Python computes the result and keeps the inputs.</a:t>
            </a:r>
            <a:endParaRPr lang="en-US" sz="1400" dirty="0"/>
          </a:p>
        </p:txBody>
      </p:sp>
      <p:sp>
        <p:nvSpPr>
          <p:cNvPr id="25" name="Shape 23"/>
          <p:cNvSpPr/>
          <p:nvPr/>
        </p:nvSpPr>
        <p:spPr>
          <a:xfrm>
            <a:off x="4353458" y="4773168"/>
            <a:ext cx="91440" cy="91440"/>
          </a:xfrm>
          <a:prstGeom prst="rect">
            <a:avLst/>
          </a:prstGeom>
          <a:solidFill>
            <a:schemeClr val="accent1"/>
          </a:solidFill>
          <a:ln w="12700">
            <a:solidFill>
              <a:schemeClr val="accent1"/>
            </a:solidFill>
            <a:prstDash val="solid"/>
          </a:ln>
        </p:spPr>
      </p:sp>
      <p:sp>
        <p:nvSpPr>
          <p:cNvPr id="26" name="Text 24"/>
          <p:cNvSpPr txBox="1"/>
          <p:nvPr/>
        </p:nvSpPr>
        <p:spPr>
          <a:xfrm>
            <a:off x="4582058" y="4663440"/>
            <a:ext cx="3256178" cy="777240"/>
          </a:xfrm>
          <a:prstGeom prst="rect">
            <a:avLst/>
          </a:prstGeom>
          <a:noFill/>
          <a:ln/>
        </p:spPr>
        <p:txBody>
          <a:bodyPr wrap="square" lIns="0" tIns="0" rIns="0" bIns="0" rtlCol="0" anchor="t"/>
          <a:lstStyle/>
          <a:p>
            <a:pPr indent="0" marL="0">
              <a:buNone/>
            </a:pPr>
            <a:r>
              <a:rPr lang="en-US" sz="1400" dirty="0">
                <a:solidFill>
                  <a:schemeClr val="bg1"/>
                </a:solidFill>
              </a:rPr>
              <a:t>Each bound must equal a cited calculation result, and both bounds must be the same kind of calculation.</a:t>
            </a:r>
            <a:endParaRPr lang="en-US" sz="1400" dirty="0"/>
          </a:p>
        </p:txBody>
      </p:sp>
      <p:sp>
        <p:nvSpPr>
          <p:cNvPr id="27" name="Shape 25"/>
          <p:cNvSpPr/>
          <p:nvPr/>
        </p:nvSpPr>
        <p:spPr>
          <a:xfrm>
            <a:off x="8158277" y="4773168"/>
            <a:ext cx="91440" cy="91440"/>
          </a:xfrm>
          <a:prstGeom prst="rect">
            <a:avLst/>
          </a:prstGeom>
          <a:solidFill>
            <a:schemeClr val="accent3"/>
          </a:solidFill>
          <a:ln w="12700">
            <a:solidFill>
              <a:schemeClr val="accent3"/>
            </a:solidFill>
            <a:prstDash val="solid"/>
          </a:ln>
        </p:spPr>
      </p:sp>
      <p:sp>
        <p:nvSpPr>
          <p:cNvPr id="28" name="Text 26"/>
          <p:cNvSpPr txBox="1"/>
          <p:nvPr/>
        </p:nvSpPr>
        <p:spPr>
          <a:xfrm>
            <a:off x="8386877" y="4663440"/>
            <a:ext cx="3256178" cy="777240"/>
          </a:xfrm>
          <a:prstGeom prst="rect">
            <a:avLst/>
          </a:prstGeom>
          <a:noFill/>
          <a:ln/>
        </p:spPr>
        <p:txBody>
          <a:bodyPr wrap="square" lIns="0" tIns="0" rIns="0" bIns="0" rtlCol="0" anchor="t"/>
          <a:lstStyle/>
          <a:p>
            <a:pPr indent="0" marL="0">
              <a:buNone/>
            </a:pPr>
            <a:r>
              <a:rPr lang="en-US" sz="1400" dirty="0">
                <a:solidFill>
                  <a:schemeClr val="bg1"/>
                </a:solidFill>
              </a:rPr>
              <a:t>Trade value at risk is not economic loss. A missing value is never treated as zero.</a:t>
            </a:r>
            <a:endParaRPr lang="en-US" sz="1400" dirty="0"/>
          </a:p>
        </p:txBody>
      </p:sp>
      <p:sp>
        <p:nvSpPr>
          <p:cNvPr id="29" name="Text 27"/>
          <p:cNvSpPr txBox="1"/>
          <p:nvPr/>
        </p:nvSpPr>
        <p:spPr>
          <a:xfrm>
            <a:off x="548640" y="5806440"/>
            <a:ext cx="11094415" cy="411480"/>
          </a:xfrm>
          <a:prstGeom prst="rect">
            <a:avLst/>
          </a:prstGeom>
          <a:noFill/>
          <a:ln/>
        </p:spPr>
        <p:txBody>
          <a:bodyPr wrap="square" lIns="0" tIns="0" rIns="0" bIns="0" rtlCol="0" anchor="t"/>
          <a:lstStyle/>
          <a:p>
            <a:pPr indent="0" marL="0">
              <a:buNone/>
            </a:pPr>
            <a:r>
              <a:rPr lang="en-US" sz="1100" dirty="0">
                <a:solidFill>
                  <a:schemeClr val="bg2"/>
                </a:solidFill>
              </a:rPr>
              <a:t>Every estimate states metric, unit, period, denominator, assumptions, missing data and confidence.   Figures from case-20261026-005913-e4e654.</a:t>
            </a:r>
            <a:endParaRPr lang="en-US" sz="11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THE PRODUCT IN ACTION</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From investigation to decision-ready intelligence</a:t>
            </a:r>
            <a:endParaRPr lang="en-US" sz="3200" dirty="0"/>
          </a:p>
        </p:txBody>
      </p:sp>
      <p:pic>
        <p:nvPicPr>
          <p:cNvPr id="4" name="Image 0" descr="Z:\Projects\Ragnarok\presentation\assets\thumb_map.png">    </p:cNvPr>
          <p:cNvPicPr>
            <a:picLocks noChangeAspect="1"/>
          </p:cNvPicPr>
          <p:nvPr/>
        </p:nvPicPr>
        <p:blipFill>
          <a:blip r:embed="rId1"/>
          <a:stretch>
            <a:fillRect/>
          </a:stretch>
        </p:blipFill>
        <p:spPr>
          <a:xfrm>
            <a:off x="548640" y="1737360"/>
            <a:ext cx="5760720" cy="3692769"/>
          </a:xfrm>
          <a:prstGeom prst="rect">
            <a:avLst/>
          </a:prstGeom>
        </p:spPr>
      </p:pic>
      <p:sp>
        <p:nvSpPr>
          <p:cNvPr id="5" name="Shape 2"/>
          <p:cNvSpPr/>
          <p:nvPr/>
        </p:nvSpPr>
        <p:spPr>
          <a:xfrm>
            <a:off x="548640" y="1737360"/>
            <a:ext cx="5760720" cy="3692769"/>
          </a:xfrm>
          <a:prstGeom prst="rect">
            <a:avLst/>
          </a:prstGeom>
          <a:solidFill>
            <a:schemeClr val="tx1">
              <a:alpha val="0"/>
            </a:schemeClr>
          </a:solidFill>
          <a:ln w="9525">
            <a:solidFill>
              <a:schemeClr val="accent5"/>
            </a:solidFill>
            <a:prstDash val="solid"/>
          </a:ln>
        </p:spPr>
      </p:sp>
      <p:sp>
        <p:nvSpPr>
          <p:cNvPr id="6" name="Text 3"/>
          <p:cNvSpPr txBox="1"/>
          <p:nvPr/>
        </p:nvSpPr>
        <p:spPr>
          <a:xfrm>
            <a:off x="548640" y="5539857"/>
            <a:ext cx="5760720" cy="566928"/>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ARGUMENT MAP</a:t>
            </a:r>
            <a:endParaRPr lang="en-US" sz="1400" dirty="0"/>
          </a:p>
          <a:p>
            <a:pPr indent="0" marL="0">
              <a:buNone/>
            </a:pPr>
            <a:r>
              <a:rPr lang="en-US" sz="1200" dirty="0">
                <a:solidFill>
                  <a:schemeClr val="bg1"/>
                </a:solidFill>
              </a:rPr>
              <a:t>Cited documents → claims → attacks → responses → Odin's rulings, one lane per claim</a:t>
            </a:r>
            <a:endParaRPr lang="en-US" sz="1400" dirty="0"/>
          </a:p>
        </p:txBody>
      </p:sp>
      <p:pic>
        <p:nvPicPr>
          <p:cNvPr id="7" name="Image 1" descr="Z:\Projects\Ragnarok\presentation\assets\shot_exposure.png">    </p:cNvPr>
          <p:cNvPicPr>
            <a:picLocks noChangeAspect="1"/>
          </p:cNvPicPr>
          <p:nvPr/>
        </p:nvPicPr>
        <p:blipFill>
          <a:blip r:embed="rId2"/>
          <a:stretch>
            <a:fillRect/>
          </a:stretch>
        </p:blipFill>
        <p:spPr>
          <a:xfrm>
            <a:off x="6629400" y="1737360"/>
            <a:ext cx="5013655" cy="2652728"/>
          </a:xfrm>
          <a:prstGeom prst="rect">
            <a:avLst/>
          </a:prstGeom>
        </p:spPr>
      </p:pic>
      <p:sp>
        <p:nvSpPr>
          <p:cNvPr id="8" name="Shape 4"/>
          <p:cNvSpPr/>
          <p:nvPr/>
        </p:nvSpPr>
        <p:spPr>
          <a:xfrm>
            <a:off x="6629400" y="1737360"/>
            <a:ext cx="5013655" cy="2652728"/>
          </a:xfrm>
          <a:prstGeom prst="rect">
            <a:avLst/>
          </a:prstGeom>
          <a:solidFill>
            <a:schemeClr val="tx1">
              <a:alpha val="0"/>
            </a:schemeClr>
          </a:solidFill>
          <a:ln w="9525">
            <a:solidFill>
              <a:schemeClr val="accent5"/>
            </a:solidFill>
            <a:prstDash val="solid"/>
          </a:ln>
        </p:spPr>
      </p:sp>
      <p:sp>
        <p:nvSpPr>
          <p:cNvPr id="9" name="Text 5"/>
          <p:cNvSpPr txBox="1"/>
          <p:nvPr/>
        </p:nvSpPr>
        <p:spPr>
          <a:xfrm>
            <a:off x="6629400" y="4499816"/>
            <a:ext cx="5013655" cy="566928"/>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EXPOSURE</a:t>
            </a:r>
            <a:endParaRPr lang="en-US" sz="1400" dirty="0"/>
          </a:p>
          <a:p>
            <a:pPr indent="0" marL="0">
              <a:buNone/>
            </a:pPr>
            <a:r>
              <a:rPr lang="en-US" sz="1200" dirty="0">
                <a:solidFill>
                  <a:schemeClr val="bg1"/>
                </a:solidFill>
              </a:rPr>
              <a:t>Thor, Loki and Odin on one axis; missing is never drawn as zero</a:t>
            </a:r>
            <a:endParaRPr lang="en-US" sz="1400" dirty="0"/>
          </a:p>
        </p:txBody>
      </p:sp>
      <p:pic>
        <p:nvPicPr>
          <p:cNvPr id="10" name="Image 2" descr="Z:\Projects\Ragnarok\presentation\assets\thumb_reader.png">    </p:cNvPr>
          <p:cNvPicPr>
            <a:picLocks noChangeAspect="1"/>
          </p:cNvPicPr>
          <p:nvPr/>
        </p:nvPicPr>
        <p:blipFill>
          <a:blip r:embed="rId3"/>
          <a:stretch>
            <a:fillRect/>
          </a:stretch>
        </p:blipFill>
        <p:spPr>
          <a:xfrm>
            <a:off x="6629400" y="5167328"/>
            <a:ext cx="1771650" cy="1143000"/>
          </a:xfrm>
          <a:prstGeom prst="rect">
            <a:avLst/>
          </a:prstGeom>
        </p:spPr>
      </p:pic>
      <p:sp>
        <p:nvSpPr>
          <p:cNvPr id="11" name="Shape 6"/>
          <p:cNvSpPr/>
          <p:nvPr/>
        </p:nvSpPr>
        <p:spPr>
          <a:xfrm>
            <a:off x="6629400" y="5167328"/>
            <a:ext cx="1771650" cy="1143000"/>
          </a:xfrm>
          <a:prstGeom prst="rect">
            <a:avLst/>
          </a:prstGeom>
          <a:solidFill>
            <a:schemeClr val="tx1">
              <a:alpha val="0"/>
            </a:schemeClr>
          </a:solidFill>
          <a:ln w="9525">
            <a:solidFill>
              <a:schemeClr val="accent5"/>
            </a:solidFill>
            <a:prstDash val="solid"/>
          </a:ln>
        </p:spPr>
      </p:sp>
      <p:sp>
        <p:nvSpPr>
          <p:cNvPr id="12" name="Text 7"/>
          <p:cNvSpPr txBox="1"/>
          <p:nvPr/>
        </p:nvSpPr>
        <p:spPr>
          <a:xfrm>
            <a:off x="8629650" y="5167328"/>
            <a:ext cx="3013405" cy="11430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CLICK-THROUGH</a:t>
            </a:r>
            <a:endParaRPr lang="en-US" sz="1400" dirty="0"/>
          </a:p>
          <a:p>
            <a:pPr indent="0" marL="0">
              <a:buNone/>
            </a:pPr>
            <a:r>
              <a:rPr lang="en-US" sz="1200" dirty="0">
                <a:solidFill>
                  <a:schemeClr val="bg1"/>
                </a:solidFill>
              </a:rPr>
              <a:t>Any citation opens the source with the cited paragraph highlighted.</a:t>
            </a:r>
            <a:endParaRPr lang="en-US" sz="1400" dirty="0"/>
          </a:p>
          <a:p>
            <a:pPr indent="0" marL="0">
              <a:buNone/>
            </a:pPr>
            <a:r>
              <a:rPr lang="en-US" sz="1100" dirty="0">
                <a:solidFill>
                  <a:schemeClr val="bg2"/>
                </a:solidFill>
              </a:rPr>
              <a:t>Real captures, saved two-run case.</a:t>
            </a:r>
            <a:endParaRPr lang="en-US" sz="14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EVIDENCE, SAFETY AND TRUST</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The system must know what it cannot safely use</a:t>
            </a:r>
            <a:endParaRPr lang="en-US" sz="3200" dirty="0"/>
          </a:p>
        </p:txBody>
      </p:sp>
      <p:sp>
        <p:nvSpPr>
          <p:cNvPr id="4" name="Text 2"/>
          <p:cNvSpPr txBox="1"/>
          <p:nvPr/>
        </p:nvSpPr>
        <p:spPr>
          <a:xfrm>
            <a:off x="548640" y="1828800"/>
            <a:ext cx="1188720" cy="274320"/>
          </a:xfrm>
          <a:prstGeom prst="rect">
            <a:avLst/>
          </a:prstGeom>
          <a:noFill/>
          <a:ln/>
        </p:spPr>
        <p:txBody>
          <a:bodyPr wrap="square" lIns="0" tIns="0" rIns="0" bIns="0" rtlCol="0" anchor="t"/>
          <a:lstStyle/>
          <a:p>
            <a:pPr indent="0" marL="0">
              <a:buNone/>
            </a:pPr>
            <a:r>
              <a:rPr lang="en-US" sz="1000" spc="200" kern="0" dirty="0">
                <a:solidFill>
                  <a:schemeClr val="bg2"/>
                </a:solidFill>
                <a:latin typeface="Consolas" pitchFamily="34" charset="0"/>
                <a:ea typeface="Consolas" pitchFamily="34" charset="-122"/>
                <a:cs typeface="Consolas" pitchFamily="34" charset="-120"/>
              </a:rPr>
              <a:t>DOCUMENTS</a:t>
            </a:r>
            <a:endParaRPr lang="en-US" sz="1000" dirty="0"/>
          </a:p>
        </p:txBody>
      </p:sp>
      <p:sp>
        <p:nvSpPr>
          <p:cNvPr id="5" name="Text 3"/>
          <p:cNvSpPr txBox="1"/>
          <p:nvPr/>
        </p:nvSpPr>
        <p:spPr>
          <a:xfrm>
            <a:off x="548640" y="2121408"/>
            <a:ext cx="1188720" cy="731520"/>
          </a:xfrm>
          <a:prstGeom prst="rect">
            <a:avLst/>
          </a:prstGeom>
          <a:noFill/>
          <a:ln/>
        </p:spPr>
        <p:txBody>
          <a:bodyPr wrap="square" lIns="0" tIns="0" rIns="0" bIns="0" rtlCol="0" anchor="t"/>
          <a:lstStyle/>
          <a:p>
            <a:pPr indent="0" marL="0">
              <a:buNone/>
            </a:pPr>
            <a:r>
              <a:rPr lang="en-US" sz="1200" dirty="0">
                <a:solidFill>
                  <a:schemeClr val="bg1"/>
                </a:solidFill>
              </a:rPr>
              <a:t>PDF · TXT · DOCX, packs and uploads</a:t>
            </a:r>
            <a:endParaRPr lang="en-US" sz="1200" dirty="0"/>
          </a:p>
        </p:txBody>
      </p:sp>
      <p:sp>
        <p:nvSpPr>
          <p:cNvPr id="6" name="Shape 4"/>
          <p:cNvSpPr/>
          <p:nvPr/>
        </p:nvSpPr>
        <p:spPr>
          <a:xfrm>
            <a:off x="1965960" y="1783080"/>
            <a:ext cx="1993392" cy="2971800"/>
          </a:xfrm>
          <a:prstGeom prst="rect">
            <a:avLst/>
          </a:prstGeom>
          <a:solidFill>
            <a:schemeClr val="accent4"/>
          </a:solidFill>
          <a:ln w="12700">
            <a:solidFill>
              <a:schemeClr val="accent6"/>
            </a:solidFill>
            <a:prstDash val="solid"/>
          </a:ln>
        </p:spPr>
      </p:sp>
      <p:sp>
        <p:nvSpPr>
          <p:cNvPr id="7" name="Shape 5"/>
          <p:cNvSpPr/>
          <p:nvPr/>
        </p:nvSpPr>
        <p:spPr>
          <a:xfrm>
            <a:off x="2148840" y="1984248"/>
            <a:ext cx="45720" cy="347472"/>
          </a:xfrm>
          <a:prstGeom prst="rect">
            <a:avLst/>
          </a:prstGeom>
          <a:solidFill>
            <a:schemeClr val="accent1"/>
          </a:solidFill>
          <a:ln w="12700">
            <a:solidFill>
              <a:schemeClr val="accent1"/>
            </a:solidFill>
            <a:prstDash val="solid"/>
          </a:ln>
        </p:spPr>
      </p:sp>
      <p:sp>
        <p:nvSpPr>
          <p:cNvPr id="8" name="Shape 6"/>
          <p:cNvSpPr/>
          <p:nvPr/>
        </p:nvSpPr>
        <p:spPr>
          <a:xfrm>
            <a:off x="2249424" y="1984248"/>
            <a:ext cx="45720" cy="347472"/>
          </a:xfrm>
          <a:prstGeom prst="rect">
            <a:avLst/>
          </a:prstGeom>
          <a:solidFill>
            <a:schemeClr val="accent1"/>
          </a:solidFill>
          <a:ln w="12700">
            <a:solidFill>
              <a:schemeClr val="accent1"/>
            </a:solidFill>
            <a:prstDash val="solid"/>
          </a:ln>
        </p:spPr>
      </p:sp>
      <p:sp>
        <p:nvSpPr>
          <p:cNvPr id="9" name="Text 7"/>
          <p:cNvSpPr txBox="1"/>
          <p:nvPr/>
        </p:nvSpPr>
        <p:spPr>
          <a:xfrm>
            <a:off x="2423160" y="1965960"/>
            <a:ext cx="1444752" cy="411480"/>
          </a:xfrm>
          <a:prstGeom prst="rect">
            <a:avLst/>
          </a:prstGeom>
          <a:noFill/>
          <a:ln/>
        </p:spPr>
        <p:txBody>
          <a:bodyPr wrap="square" lIns="0" tIns="0" rIns="0" bIns="0" rtlCol="0" anchor="ctr"/>
          <a:lstStyle/>
          <a:p>
            <a:pPr indent="0" marL="0">
              <a:buNone/>
            </a:pPr>
            <a:r>
              <a:rPr lang="en-US" sz="1000" spc="100" kern="0" dirty="0">
                <a:solidFill>
                  <a:schemeClr val="accent1"/>
                </a:solidFill>
                <a:latin typeface="Consolas" pitchFamily="34" charset="0"/>
                <a:ea typeface="Consolas" pitchFamily="34" charset="-122"/>
                <a:cs typeface="Consolas" pitchFamily="34" charset="-120"/>
              </a:rPr>
              <a:t>VALIDATED INGEST</a:t>
            </a:r>
            <a:endParaRPr lang="en-US" sz="1000" dirty="0"/>
          </a:p>
        </p:txBody>
      </p:sp>
      <p:sp>
        <p:nvSpPr>
          <p:cNvPr id="10" name="Text 8"/>
          <p:cNvSpPr txBox="1"/>
          <p:nvPr/>
        </p:nvSpPr>
        <p:spPr>
          <a:xfrm>
            <a:off x="2148840" y="2532888"/>
            <a:ext cx="1673352" cy="1737360"/>
          </a:xfrm>
          <a:prstGeom prst="rect">
            <a:avLst/>
          </a:prstGeom>
          <a:noFill/>
          <a:ln/>
        </p:spPr>
        <p:txBody>
          <a:bodyPr wrap="square" lIns="0" tIns="0" rIns="0" bIns="0" rtlCol="0" anchor="t"/>
          <a:lstStyle/>
          <a:p>
            <a:pPr indent="0" marL="0">
              <a:buNone/>
            </a:pPr>
            <a:r>
              <a:rPr lang="en-US" sz="1300" dirty="0">
                <a:solidFill>
                  <a:schemeClr val="bg1"/>
                </a:solidFill>
              </a:rPr>
              <a:t>Type and size checked, safe file names. The original is kept with its content hash. Damaged files and rows are flagged, never used as valid numbers.</a:t>
            </a:r>
            <a:endParaRPr lang="en-US" sz="1300" dirty="0"/>
          </a:p>
        </p:txBody>
      </p:sp>
      <p:sp>
        <p:nvSpPr>
          <p:cNvPr id="11" name="Shape 9"/>
          <p:cNvSpPr/>
          <p:nvPr/>
        </p:nvSpPr>
        <p:spPr>
          <a:xfrm>
            <a:off x="4142232" y="1783080"/>
            <a:ext cx="1993392" cy="2971800"/>
          </a:xfrm>
          <a:prstGeom prst="rect">
            <a:avLst/>
          </a:prstGeom>
          <a:solidFill>
            <a:schemeClr val="accent4"/>
          </a:solidFill>
          <a:ln w="12700">
            <a:solidFill>
              <a:schemeClr val="accent6"/>
            </a:solidFill>
            <a:prstDash val="solid"/>
          </a:ln>
        </p:spPr>
      </p:sp>
      <p:sp>
        <p:nvSpPr>
          <p:cNvPr id="12" name="Shape 10"/>
          <p:cNvSpPr/>
          <p:nvPr/>
        </p:nvSpPr>
        <p:spPr>
          <a:xfrm>
            <a:off x="4325112" y="1984248"/>
            <a:ext cx="45720" cy="347472"/>
          </a:xfrm>
          <a:prstGeom prst="rect">
            <a:avLst/>
          </a:prstGeom>
          <a:solidFill>
            <a:schemeClr val="accent1"/>
          </a:solidFill>
          <a:ln w="12700">
            <a:solidFill>
              <a:schemeClr val="accent1"/>
            </a:solidFill>
            <a:prstDash val="solid"/>
          </a:ln>
        </p:spPr>
      </p:sp>
      <p:sp>
        <p:nvSpPr>
          <p:cNvPr id="13" name="Shape 11"/>
          <p:cNvSpPr/>
          <p:nvPr/>
        </p:nvSpPr>
        <p:spPr>
          <a:xfrm>
            <a:off x="4425696" y="1984248"/>
            <a:ext cx="45720" cy="347472"/>
          </a:xfrm>
          <a:prstGeom prst="rect">
            <a:avLst/>
          </a:prstGeom>
          <a:solidFill>
            <a:schemeClr val="accent1"/>
          </a:solidFill>
          <a:ln w="12700">
            <a:solidFill>
              <a:schemeClr val="accent1"/>
            </a:solidFill>
            <a:prstDash val="solid"/>
          </a:ln>
        </p:spPr>
      </p:sp>
      <p:sp>
        <p:nvSpPr>
          <p:cNvPr id="14" name="Text 12"/>
          <p:cNvSpPr txBox="1"/>
          <p:nvPr/>
        </p:nvSpPr>
        <p:spPr>
          <a:xfrm>
            <a:off x="4599432" y="1965960"/>
            <a:ext cx="1444752" cy="411480"/>
          </a:xfrm>
          <a:prstGeom prst="rect">
            <a:avLst/>
          </a:prstGeom>
          <a:noFill/>
          <a:ln/>
        </p:spPr>
        <p:txBody>
          <a:bodyPr wrap="square" lIns="0" tIns="0" rIns="0" bIns="0" rtlCol="0" anchor="ctr"/>
          <a:lstStyle/>
          <a:p>
            <a:pPr indent="0" marL="0">
              <a:buNone/>
            </a:pPr>
            <a:r>
              <a:rPr lang="en-US" sz="1000" spc="100" kern="0" dirty="0">
                <a:solidFill>
                  <a:schemeClr val="accent1"/>
                </a:solidFill>
                <a:latin typeface="Consolas" pitchFamily="34" charset="0"/>
                <a:ea typeface="Consolas" pitchFamily="34" charset="-122"/>
                <a:cs typeface="Consolas" pitchFamily="34" charset="-120"/>
              </a:rPr>
              <a:t>INJECTION SCAN</a:t>
            </a:r>
            <a:endParaRPr lang="en-US" sz="1000" dirty="0"/>
          </a:p>
        </p:txBody>
      </p:sp>
      <p:sp>
        <p:nvSpPr>
          <p:cNvPr id="15" name="Text 13"/>
          <p:cNvSpPr txBox="1"/>
          <p:nvPr/>
        </p:nvSpPr>
        <p:spPr>
          <a:xfrm>
            <a:off x="4325112" y="2532888"/>
            <a:ext cx="1673352" cy="1737360"/>
          </a:xfrm>
          <a:prstGeom prst="rect">
            <a:avLst/>
          </a:prstGeom>
          <a:noFill/>
          <a:ln/>
        </p:spPr>
        <p:txBody>
          <a:bodyPr wrap="square" lIns="0" tIns="0" rIns="0" bIns="0" rtlCol="0" anchor="t"/>
          <a:lstStyle/>
          <a:p>
            <a:pPr indent="0" marL="0">
              <a:buNone/>
            </a:pPr>
            <a:r>
              <a:rPr lang="en-US" sz="1300" dirty="0">
                <a:solidFill>
                  <a:schemeClr val="bg1"/>
                </a:solidFill>
              </a:rPr>
              <a:t>Role labels and override phrases are flagged. The span stays on record but is withheld from agent prompts.</a:t>
            </a:r>
            <a:endParaRPr lang="en-US" sz="1300" dirty="0"/>
          </a:p>
        </p:txBody>
      </p:sp>
      <p:sp>
        <p:nvSpPr>
          <p:cNvPr id="16" name="Text 14"/>
          <p:cNvSpPr txBox="1"/>
          <p:nvPr/>
        </p:nvSpPr>
        <p:spPr>
          <a:xfrm>
            <a:off x="4325112" y="4343400"/>
            <a:ext cx="1719072" cy="228600"/>
          </a:xfrm>
          <a:prstGeom prst="rect">
            <a:avLst/>
          </a:prstGeom>
          <a:noFill/>
          <a:ln/>
        </p:spPr>
        <p:txBody>
          <a:bodyPr wrap="square" lIns="0" tIns="0" rIns="0" bIns="0" rtlCol="0" anchor="t"/>
          <a:lstStyle/>
          <a:p>
            <a:pPr indent="0" marL="0">
              <a:buNone/>
            </a:pPr>
            <a:r>
              <a:rPr lang="en-US" sz="900" dirty="0">
                <a:solidFill>
                  <a:schemeClr val="accent3"/>
                </a:solidFill>
                <a:latin typeface="Consolas" pitchFamily="34" charset="0"/>
                <a:ea typeface="Consolas" pitchFamily="34" charset="-122"/>
                <a:cs typeface="Consolas" pitchFamily="34" charset="-120"/>
              </a:rPr>
              <a:t>TRAP_INJECTION</a:t>
            </a:r>
            <a:endParaRPr lang="en-US" sz="900" dirty="0"/>
          </a:p>
        </p:txBody>
      </p:sp>
      <p:sp>
        <p:nvSpPr>
          <p:cNvPr id="17" name="Shape 15"/>
          <p:cNvSpPr/>
          <p:nvPr/>
        </p:nvSpPr>
        <p:spPr>
          <a:xfrm>
            <a:off x="6318504" y="1783080"/>
            <a:ext cx="1993392" cy="2971800"/>
          </a:xfrm>
          <a:prstGeom prst="rect">
            <a:avLst/>
          </a:prstGeom>
          <a:solidFill>
            <a:schemeClr val="accent4"/>
          </a:solidFill>
          <a:ln w="12700">
            <a:solidFill>
              <a:schemeClr val="accent6"/>
            </a:solidFill>
            <a:prstDash val="solid"/>
          </a:ln>
        </p:spPr>
      </p:sp>
      <p:sp>
        <p:nvSpPr>
          <p:cNvPr id="18" name="Shape 16"/>
          <p:cNvSpPr/>
          <p:nvPr/>
        </p:nvSpPr>
        <p:spPr>
          <a:xfrm>
            <a:off x="6501384" y="1984248"/>
            <a:ext cx="45720" cy="347472"/>
          </a:xfrm>
          <a:prstGeom prst="rect">
            <a:avLst/>
          </a:prstGeom>
          <a:solidFill>
            <a:schemeClr val="accent1"/>
          </a:solidFill>
          <a:ln w="12700">
            <a:solidFill>
              <a:schemeClr val="accent1"/>
            </a:solidFill>
            <a:prstDash val="solid"/>
          </a:ln>
        </p:spPr>
      </p:sp>
      <p:sp>
        <p:nvSpPr>
          <p:cNvPr id="19" name="Shape 17"/>
          <p:cNvSpPr/>
          <p:nvPr/>
        </p:nvSpPr>
        <p:spPr>
          <a:xfrm>
            <a:off x="6601968" y="1984248"/>
            <a:ext cx="45720" cy="347472"/>
          </a:xfrm>
          <a:prstGeom prst="rect">
            <a:avLst/>
          </a:prstGeom>
          <a:solidFill>
            <a:schemeClr val="accent1"/>
          </a:solidFill>
          <a:ln w="12700">
            <a:solidFill>
              <a:schemeClr val="accent1"/>
            </a:solidFill>
            <a:prstDash val="solid"/>
          </a:ln>
        </p:spPr>
      </p:sp>
      <p:sp>
        <p:nvSpPr>
          <p:cNvPr id="20" name="Text 18"/>
          <p:cNvSpPr txBox="1"/>
          <p:nvPr/>
        </p:nvSpPr>
        <p:spPr>
          <a:xfrm>
            <a:off x="6775704" y="1965960"/>
            <a:ext cx="1444752" cy="411480"/>
          </a:xfrm>
          <a:prstGeom prst="rect">
            <a:avLst/>
          </a:prstGeom>
          <a:noFill/>
          <a:ln/>
        </p:spPr>
        <p:txBody>
          <a:bodyPr wrap="square" lIns="0" tIns="0" rIns="0" bIns="0" rtlCol="0" anchor="ctr"/>
          <a:lstStyle/>
          <a:p>
            <a:pPr indent="0" marL="0">
              <a:buNone/>
            </a:pPr>
            <a:r>
              <a:rPr lang="en-US" sz="1000" spc="100" kern="0" dirty="0">
                <a:solidFill>
                  <a:schemeClr val="accent1"/>
                </a:solidFill>
                <a:latin typeface="Consolas" pitchFamily="34" charset="0"/>
                <a:ea typeface="Consolas" pitchFamily="34" charset="-122"/>
                <a:cs typeface="Consolas" pitchFamily="34" charset="-120"/>
              </a:rPr>
              <a:t>AS-OF GATE</a:t>
            </a:r>
            <a:endParaRPr lang="en-US" sz="1000" dirty="0"/>
          </a:p>
        </p:txBody>
      </p:sp>
      <p:sp>
        <p:nvSpPr>
          <p:cNvPr id="21" name="Text 19"/>
          <p:cNvSpPr txBox="1"/>
          <p:nvPr/>
        </p:nvSpPr>
        <p:spPr>
          <a:xfrm>
            <a:off x="6501384" y="2532888"/>
            <a:ext cx="1673352" cy="1737360"/>
          </a:xfrm>
          <a:prstGeom prst="rect">
            <a:avLst/>
          </a:prstGeom>
          <a:noFill/>
          <a:ln/>
        </p:spPr>
        <p:txBody>
          <a:bodyPr wrap="square" lIns="0" tIns="0" rIns="0" bIns="0" rtlCol="0" anchor="t"/>
          <a:lstStyle/>
          <a:p>
            <a:pPr indent="0" marL="0">
              <a:buNone/>
            </a:pPr>
            <a:r>
              <a:rPr lang="en-US" sz="1300" dirty="0">
                <a:solidFill>
                  <a:schemeClr val="bg1"/>
                </a:solidFill>
              </a:rPr>
              <a:t>Enforced in code on search, reads, trade rows, calculations and citations. A later document is refused (HTTP 403).</a:t>
            </a:r>
            <a:endParaRPr lang="en-US" sz="1300" dirty="0"/>
          </a:p>
        </p:txBody>
      </p:sp>
      <p:sp>
        <p:nvSpPr>
          <p:cNvPr id="22" name="Text 20"/>
          <p:cNvSpPr txBox="1"/>
          <p:nvPr/>
        </p:nvSpPr>
        <p:spPr>
          <a:xfrm>
            <a:off x="6501384" y="4343400"/>
            <a:ext cx="1719072" cy="228600"/>
          </a:xfrm>
          <a:prstGeom prst="rect">
            <a:avLst/>
          </a:prstGeom>
          <a:noFill/>
          <a:ln/>
        </p:spPr>
        <p:txBody>
          <a:bodyPr wrap="square" lIns="0" tIns="0" rIns="0" bIns="0" rtlCol="0" anchor="t"/>
          <a:lstStyle/>
          <a:p>
            <a:pPr indent="0" marL="0">
              <a:buNone/>
            </a:pPr>
            <a:r>
              <a:rPr lang="en-US" sz="900" dirty="0">
                <a:solidFill>
                  <a:schemeClr val="accent3"/>
                </a:solidFill>
                <a:latin typeface="Consolas" pitchFamily="34" charset="0"/>
                <a:ea typeface="Consolas" pitchFamily="34" charset="-122"/>
                <a:cs typeface="Consolas" pitchFamily="34" charset="-120"/>
              </a:rPr>
              <a:t>CLOCK_VIOLATION_BLOCKED</a:t>
            </a:r>
            <a:endParaRPr lang="en-US" sz="900" dirty="0"/>
          </a:p>
        </p:txBody>
      </p:sp>
      <p:sp>
        <p:nvSpPr>
          <p:cNvPr id="23" name="Shape 21"/>
          <p:cNvSpPr/>
          <p:nvPr/>
        </p:nvSpPr>
        <p:spPr>
          <a:xfrm>
            <a:off x="8494776" y="1783080"/>
            <a:ext cx="1993392" cy="2971800"/>
          </a:xfrm>
          <a:prstGeom prst="rect">
            <a:avLst/>
          </a:prstGeom>
          <a:solidFill>
            <a:schemeClr val="accent4"/>
          </a:solidFill>
          <a:ln w="12700">
            <a:solidFill>
              <a:schemeClr val="accent6"/>
            </a:solidFill>
            <a:prstDash val="solid"/>
          </a:ln>
        </p:spPr>
      </p:sp>
      <p:sp>
        <p:nvSpPr>
          <p:cNvPr id="24" name="Shape 22"/>
          <p:cNvSpPr/>
          <p:nvPr/>
        </p:nvSpPr>
        <p:spPr>
          <a:xfrm>
            <a:off x="8677656" y="1984248"/>
            <a:ext cx="45720" cy="347472"/>
          </a:xfrm>
          <a:prstGeom prst="rect">
            <a:avLst/>
          </a:prstGeom>
          <a:solidFill>
            <a:schemeClr val="accent1"/>
          </a:solidFill>
          <a:ln w="12700">
            <a:solidFill>
              <a:schemeClr val="accent1"/>
            </a:solidFill>
            <a:prstDash val="solid"/>
          </a:ln>
        </p:spPr>
      </p:sp>
      <p:sp>
        <p:nvSpPr>
          <p:cNvPr id="25" name="Shape 23"/>
          <p:cNvSpPr/>
          <p:nvPr/>
        </p:nvSpPr>
        <p:spPr>
          <a:xfrm>
            <a:off x="8778240" y="1984248"/>
            <a:ext cx="45720" cy="347472"/>
          </a:xfrm>
          <a:prstGeom prst="rect">
            <a:avLst/>
          </a:prstGeom>
          <a:solidFill>
            <a:schemeClr val="accent1"/>
          </a:solidFill>
          <a:ln w="12700">
            <a:solidFill>
              <a:schemeClr val="accent1"/>
            </a:solidFill>
            <a:prstDash val="solid"/>
          </a:ln>
        </p:spPr>
      </p:sp>
      <p:sp>
        <p:nvSpPr>
          <p:cNvPr id="26" name="Text 24"/>
          <p:cNvSpPr txBox="1"/>
          <p:nvPr/>
        </p:nvSpPr>
        <p:spPr>
          <a:xfrm>
            <a:off x="8951976" y="1965960"/>
            <a:ext cx="1444752" cy="411480"/>
          </a:xfrm>
          <a:prstGeom prst="rect">
            <a:avLst/>
          </a:prstGeom>
          <a:noFill/>
          <a:ln/>
        </p:spPr>
        <p:txBody>
          <a:bodyPr wrap="square" lIns="0" tIns="0" rIns="0" bIns="0" rtlCol="0" anchor="ctr"/>
          <a:lstStyle/>
          <a:p>
            <a:pPr indent="0" marL="0">
              <a:buNone/>
            </a:pPr>
            <a:r>
              <a:rPr lang="en-US" sz="1000" spc="100" kern="0" dirty="0">
                <a:solidFill>
                  <a:schemeClr val="accent1"/>
                </a:solidFill>
                <a:latin typeface="Consolas" pitchFamily="34" charset="0"/>
                <a:ea typeface="Consolas" pitchFamily="34" charset="-122"/>
                <a:cs typeface="Consolas" pitchFamily="34" charset="-120"/>
              </a:rPr>
              <a:t>CITATION CHECK</a:t>
            </a:r>
            <a:endParaRPr lang="en-US" sz="1000" dirty="0"/>
          </a:p>
        </p:txBody>
      </p:sp>
      <p:sp>
        <p:nvSpPr>
          <p:cNvPr id="27" name="Text 25"/>
          <p:cNvSpPr txBox="1"/>
          <p:nvPr/>
        </p:nvSpPr>
        <p:spPr>
          <a:xfrm>
            <a:off x="8677656" y="2532888"/>
            <a:ext cx="1673352" cy="1737360"/>
          </a:xfrm>
          <a:prstGeom prst="rect">
            <a:avLst/>
          </a:prstGeom>
          <a:noFill/>
          <a:ln/>
        </p:spPr>
        <p:txBody>
          <a:bodyPr wrap="square" lIns="0" tIns="0" rIns="0" bIns="0" rtlCol="0" anchor="t"/>
          <a:lstStyle/>
          <a:p>
            <a:pPr indent="0" marL="0">
              <a:buNone/>
            </a:pPr>
            <a:r>
              <a:rPr lang="en-US" sz="1300" dirty="0">
                <a:solidFill>
                  <a:schemeClr val="bg1"/>
                </a:solidFill>
              </a:rPr>
              <a:t>At briefing build: the paragraph or row exists, the quote matches, the date is in the window. Failures are dropped and listed.</a:t>
            </a:r>
            <a:endParaRPr lang="en-US" sz="1300" dirty="0"/>
          </a:p>
        </p:txBody>
      </p:sp>
      <p:sp>
        <p:nvSpPr>
          <p:cNvPr id="28" name="Shape 26"/>
          <p:cNvSpPr/>
          <p:nvPr/>
        </p:nvSpPr>
        <p:spPr>
          <a:xfrm>
            <a:off x="1737360" y="3246120"/>
            <a:ext cx="210312" cy="91"/>
          </a:xfrm>
          <a:prstGeom prst="line">
            <a:avLst/>
          </a:prstGeom>
          <a:noFill/>
          <a:ln w="15875">
            <a:solidFill>
              <a:schemeClr val="bg2"/>
            </a:solidFill>
            <a:prstDash val="solid"/>
            <a:tailEnd type="triangle"/>
          </a:ln>
        </p:spPr>
      </p:sp>
      <p:sp>
        <p:nvSpPr>
          <p:cNvPr id="29" name="Shape 27"/>
          <p:cNvSpPr/>
          <p:nvPr/>
        </p:nvSpPr>
        <p:spPr>
          <a:xfrm>
            <a:off x="10506456" y="3246120"/>
            <a:ext cx="256032" cy="91"/>
          </a:xfrm>
          <a:prstGeom prst="line">
            <a:avLst/>
          </a:prstGeom>
          <a:noFill/>
          <a:ln w="15875">
            <a:solidFill>
              <a:schemeClr val="bg2"/>
            </a:solidFill>
            <a:prstDash val="solid"/>
            <a:tailEnd type="triangle"/>
          </a:ln>
        </p:spPr>
      </p:sp>
      <p:sp>
        <p:nvSpPr>
          <p:cNvPr id="30" name="Text 28"/>
          <p:cNvSpPr txBox="1"/>
          <p:nvPr/>
        </p:nvSpPr>
        <p:spPr>
          <a:xfrm>
            <a:off x="10835640" y="1828800"/>
            <a:ext cx="807415" cy="274320"/>
          </a:xfrm>
          <a:prstGeom prst="rect">
            <a:avLst/>
          </a:prstGeom>
          <a:noFill/>
          <a:ln/>
        </p:spPr>
        <p:txBody>
          <a:bodyPr wrap="square" lIns="0" tIns="0" rIns="0" bIns="0" rtlCol="0" anchor="t"/>
          <a:lstStyle/>
          <a:p>
            <a:pPr indent="0" marL="0">
              <a:buNone/>
            </a:pPr>
            <a:r>
              <a:rPr lang="en-US" sz="1000" spc="200" kern="0" dirty="0">
                <a:solidFill>
                  <a:schemeClr val="bg2"/>
                </a:solidFill>
                <a:latin typeface="Consolas" pitchFamily="34" charset="0"/>
                <a:ea typeface="Consolas" pitchFamily="34" charset="-122"/>
                <a:cs typeface="Consolas" pitchFamily="34" charset="-120"/>
              </a:rPr>
              <a:t>AGENTS</a:t>
            </a:r>
            <a:endParaRPr lang="en-US" sz="1000" dirty="0"/>
          </a:p>
        </p:txBody>
      </p:sp>
      <p:sp>
        <p:nvSpPr>
          <p:cNvPr id="31" name="Text 29"/>
          <p:cNvSpPr txBox="1"/>
          <p:nvPr/>
        </p:nvSpPr>
        <p:spPr>
          <a:xfrm>
            <a:off x="10835640" y="2121408"/>
            <a:ext cx="807415" cy="914400"/>
          </a:xfrm>
          <a:prstGeom prst="rect">
            <a:avLst/>
          </a:prstGeom>
          <a:noFill/>
          <a:ln/>
        </p:spPr>
        <p:txBody>
          <a:bodyPr wrap="square" lIns="0" tIns="0" rIns="0" bIns="0" rtlCol="0" anchor="t"/>
          <a:lstStyle/>
          <a:p>
            <a:pPr indent="0" marL="0">
              <a:buNone/>
            </a:pPr>
            <a:r>
              <a:rPr lang="en-US" sz="1200" dirty="0">
                <a:solidFill>
                  <a:schemeClr val="bg1"/>
                </a:solidFill>
              </a:rPr>
              <a:t>see only wrapped evidence</a:t>
            </a:r>
            <a:endParaRPr lang="en-US" sz="1200" dirty="0"/>
          </a:p>
        </p:txBody>
      </p:sp>
      <p:sp>
        <p:nvSpPr>
          <p:cNvPr id="32" name="Text 30"/>
          <p:cNvSpPr txBox="1"/>
          <p:nvPr/>
        </p:nvSpPr>
        <p:spPr>
          <a:xfrm>
            <a:off x="548640" y="5074920"/>
            <a:ext cx="5387188" cy="1005840"/>
          </a:xfrm>
          <a:prstGeom prst="rect">
            <a:avLst/>
          </a:prstGeom>
          <a:noFill/>
          <a:ln/>
        </p:spPr>
        <p:txBody>
          <a:bodyPr wrap="square" lIns="0" tIns="0" rIns="0" bIns="0" rtlCol="0" anchor="t"/>
          <a:lstStyle/>
          <a:p>
            <a:pPr indent="0" marL="0">
              <a:buNone/>
            </a:pPr>
            <a:r>
              <a:rPr lang="en-US" sz="1000" spc="200" kern="0" dirty="0">
                <a:solidFill>
                  <a:schemeClr val="accent2"/>
                </a:solidFill>
                <a:latin typeface="Consolas" pitchFamily="34" charset="0"/>
                <a:ea typeface="Consolas" pitchFamily="34" charset="-122"/>
                <a:cs typeface="Consolas" pitchFamily="34" charset="-120"/>
              </a:rPr>
              <a:t>TRANSPARENT UNCERTAINTY</a:t>
            </a:r>
            <a:endParaRPr lang="en-US" sz="1400" dirty="0"/>
          </a:p>
          <a:p>
            <a:pPr indent="0" marL="0">
              <a:buNone/>
            </a:pPr>
            <a:r>
              <a:rPr lang="en-US" sz="1300" dirty="0">
                <a:solidFill>
                  <a:schemeClr val="bg1"/>
                </a:solidFill>
              </a:rPr>
              <a:t>No estimate is shown as missing, never as zero. A briefing is labelled complete, partial or incomplete; it never claims completeness falsely.</a:t>
            </a:r>
            <a:endParaRPr lang="en-US" sz="1400" dirty="0"/>
          </a:p>
        </p:txBody>
      </p:sp>
      <p:sp>
        <p:nvSpPr>
          <p:cNvPr id="33" name="Text 31"/>
          <p:cNvSpPr txBox="1"/>
          <p:nvPr/>
        </p:nvSpPr>
        <p:spPr>
          <a:xfrm>
            <a:off x="6255868" y="5074920"/>
            <a:ext cx="5387188" cy="100584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EVERYTHING ON THE RECORD</a:t>
            </a:r>
            <a:endParaRPr lang="en-US" sz="1400" dirty="0"/>
          </a:p>
          <a:p>
            <a:pPr indent="0" marL="0">
              <a:buNone/>
            </a:pPr>
            <a:r>
              <a:rPr lang="en-US" sz="1300" dirty="0">
                <a:solidFill>
                  <a:schemeClr val="bg1"/>
                </a:solidFill>
              </a:rPr>
              <a:t>Append-only audit log in SQLite with JSONL export. Corrections, retractions and duplicates stay linked to the reports they affect.</a:t>
            </a:r>
            <a:endParaRPr lang="en-US" sz="14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TECHNICAL ARCHITECTURE</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A transparent application around a specialised agent workflow</a:t>
            </a:r>
            <a:endParaRPr lang="en-US" sz="3200" dirty="0"/>
          </a:p>
        </p:txBody>
      </p:sp>
      <p:sp>
        <p:nvSpPr>
          <p:cNvPr id="4" name="Text 2"/>
          <p:cNvSpPr txBox="1"/>
          <p:nvPr/>
        </p:nvSpPr>
        <p:spPr>
          <a:xfrm>
            <a:off x="548640" y="1783080"/>
            <a:ext cx="1600200" cy="896112"/>
          </a:xfrm>
          <a:prstGeom prst="rect">
            <a:avLst/>
          </a:prstGeom>
          <a:noFill/>
          <a:ln/>
        </p:spPr>
        <p:txBody>
          <a:bodyPr wrap="square" lIns="0" tIns="0" rIns="0" bIns="0" rtlCol="0" anchor="ctr"/>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FRONTEND</a:t>
            </a:r>
            <a:endParaRPr lang="en-US" sz="1000" dirty="0"/>
          </a:p>
        </p:txBody>
      </p:sp>
      <p:sp>
        <p:nvSpPr>
          <p:cNvPr id="5" name="Shape 3"/>
          <p:cNvSpPr/>
          <p:nvPr/>
        </p:nvSpPr>
        <p:spPr>
          <a:xfrm>
            <a:off x="2331720" y="1783080"/>
            <a:ext cx="3012338" cy="896112"/>
          </a:xfrm>
          <a:prstGeom prst="rect">
            <a:avLst/>
          </a:prstGeom>
          <a:solidFill>
            <a:schemeClr val="accent4"/>
          </a:solidFill>
          <a:ln w="9525">
            <a:solidFill>
              <a:schemeClr val="accent5"/>
            </a:solidFill>
            <a:prstDash val="solid"/>
          </a:ln>
        </p:spPr>
      </p:sp>
      <p:sp>
        <p:nvSpPr>
          <p:cNvPr id="6" name="Text 4"/>
          <p:cNvSpPr txBox="1"/>
          <p:nvPr/>
        </p:nvSpPr>
        <p:spPr>
          <a:xfrm>
            <a:off x="2468880" y="1874520"/>
            <a:ext cx="2738018" cy="256032"/>
          </a:xfrm>
          <a:prstGeom prst="rect">
            <a:avLst/>
          </a:prstGeom>
          <a:noFill/>
          <a:ln/>
        </p:spPr>
        <p:txBody>
          <a:bodyPr wrap="square" lIns="0" tIns="0" rIns="0" bIns="0" rtlCol="0" anchor="t"/>
          <a:lstStyle/>
          <a:p>
            <a:pPr indent="0" marL="0">
              <a:buNone/>
            </a:pPr>
            <a:r>
              <a:rPr lang="en-US" sz="1300" b="1" dirty="0">
                <a:solidFill>
                  <a:schemeClr val="bg1"/>
                </a:solidFill>
              </a:rPr>
              <a:t>Dashboard</a:t>
            </a:r>
            <a:endParaRPr lang="en-US" sz="1300" dirty="0"/>
          </a:p>
        </p:txBody>
      </p:sp>
      <p:sp>
        <p:nvSpPr>
          <p:cNvPr id="7" name="Text 5"/>
          <p:cNvSpPr txBox="1"/>
          <p:nvPr/>
        </p:nvSpPr>
        <p:spPr>
          <a:xfrm>
            <a:off x="2468880" y="2148840"/>
            <a:ext cx="2738018" cy="502920"/>
          </a:xfrm>
          <a:prstGeom prst="rect">
            <a:avLst/>
          </a:prstGeom>
          <a:noFill/>
          <a:ln/>
        </p:spPr>
        <p:txBody>
          <a:bodyPr wrap="square" lIns="0" tIns="0" rIns="0" bIns="0" rtlCol="0" anchor="t"/>
          <a:lstStyle/>
          <a:p>
            <a:pPr indent="0" marL="0">
              <a:buNone/>
            </a:pPr>
            <a:r>
              <a:rPr lang="en-US" sz="1100" dirty="0">
                <a:solidFill>
                  <a:schemeClr val="bg2"/>
                </a:solidFill>
              </a:rPr>
              <a:t>React · Vite · TypeScript · Tailwind</a:t>
            </a:r>
            <a:endParaRPr lang="en-US" sz="1100" dirty="0"/>
          </a:p>
        </p:txBody>
      </p:sp>
      <p:sp>
        <p:nvSpPr>
          <p:cNvPr id="8" name="Shape 6"/>
          <p:cNvSpPr/>
          <p:nvPr/>
        </p:nvSpPr>
        <p:spPr>
          <a:xfrm>
            <a:off x="5481218" y="1783080"/>
            <a:ext cx="3012338" cy="896112"/>
          </a:xfrm>
          <a:prstGeom prst="rect">
            <a:avLst/>
          </a:prstGeom>
          <a:solidFill>
            <a:schemeClr val="accent4"/>
          </a:solidFill>
          <a:ln w="9525">
            <a:solidFill>
              <a:schemeClr val="accent5"/>
            </a:solidFill>
            <a:prstDash val="solid"/>
          </a:ln>
        </p:spPr>
      </p:sp>
      <p:sp>
        <p:nvSpPr>
          <p:cNvPr id="9" name="Text 7"/>
          <p:cNvSpPr txBox="1"/>
          <p:nvPr/>
        </p:nvSpPr>
        <p:spPr>
          <a:xfrm>
            <a:off x="5618378" y="1874520"/>
            <a:ext cx="2738018" cy="256032"/>
          </a:xfrm>
          <a:prstGeom prst="rect">
            <a:avLst/>
          </a:prstGeom>
          <a:noFill/>
          <a:ln/>
        </p:spPr>
        <p:txBody>
          <a:bodyPr wrap="square" lIns="0" tIns="0" rIns="0" bIns="0" rtlCol="0" anchor="t"/>
          <a:lstStyle/>
          <a:p>
            <a:pPr indent="0" marL="0">
              <a:buNone/>
            </a:pPr>
            <a:r>
              <a:rPr lang="en-US" sz="1300" b="1" dirty="0">
                <a:solidFill>
                  <a:schemeClr val="bg1"/>
                </a:solidFill>
              </a:rPr>
              <a:t>Six views</a:t>
            </a:r>
            <a:endParaRPr lang="en-US" sz="1300" dirty="0"/>
          </a:p>
        </p:txBody>
      </p:sp>
      <p:sp>
        <p:nvSpPr>
          <p:cNvPr id="10" name="Text 8"/>
          <p:cNvSpPr txBox="1"/>
          <p:nvPr/>
        </p:nvSpPr>
        <p:spPr>
          <a:xfrm>
            <a:off x="5618378" y="2148840"/>
            <a:ext cx="2738018" cy="502920"/>
          </a:xfrm>
          <a:prstGeom prst="rect">
            <a:avLst/>
          </a:prstGeom>
          <a:noFill/>
          <a:ln/>
        </p:spPr>
        <p:txBody>
          <a:bodyPr wrap="square" lIns="0" tIns="0" rIns="0" bIns="0" rtlCol="0" anchor="t"/>
          <a:lstStyle/>
          <a:p>
            <a:pPr indent="0" marL="0">
              <a:buNone/>
            </a:pPr>
            <a:r>
              <a:rPr lang="en-US" sz="1100" dirty="0">
                <a:solidFill>
                  <a:schemeClr val="bg2"/>
                </a:solidFill>
              </a:rPr>
              <a:t>Trial · Argument map · Exposure · Evidence · Briefing · Run trace</a:t>
            </a:r>
            <a:endParaRPr lang="en-US" sz="1100" dirty="0"/>
          </a:p>
        </p:txBody>
      </p:sp>
      <p:sp>
        <p:nvSpPr>
          <p:cNvPr id="11" name="Shape 9"/>
          <p:cNvSpPr/>
          <p:nvPr/>
        </p:nvSpPr>
        <p:spPr>
          <a:xfrm>
            <a:off x="8630717" y="1783080"/>
            <a:ext cx="3012338" cy="896112"/>
          </a:xfrm>
          <a:prstGeom prst="rect">
            <a:avLst/>
          </a:prstGeom>
          <a:solidFill>
            <a:schemeClr val="accent4"/>
          </a:solidFill>
          <a:ln w="9525">
            <a:solidFill>
              <a:schemeClr val="accent5"/>
            </a:solidFill>
            <a:prstDash val="solid"/>
          </a:ln>
        </p:spPr>
      </p:sp>
      <p:sp>
        <p:nvSpPr>
          <p:cNvPr id="12" name="Text 10"/>
          <p:cNvSpPr txBox="1"/>
          <p:nvPr/>
        </p:nvSpPr>
        <p:spPr>
          <a:xfrm>
            <a:off x="8767877" y="1874520"/>
            <a:ext cx="2738018" cy="256032"/>
          </a:xfrm>
          <a:prstGeom prst="rect">
            <a:avLst/>
          </a:prstGeom>
          <a:noFill/>
          <a:ln/>
        </p:spPr>
        <p:txBody>
          <a:bodyPr wrap="square" lIns="0" tIns="0" rIns="0" bIns="0" rtlCol="0" anchor="t"/>
          <a:lstStyle/>
          <a:p>
            <a:pPr indent="0" marL="0">
              <a:buNone/>
            </a:pPr>
            <a:r>
              <a:rPr lang="en-US" sz="1300" b="1" dirty="0">
                <a:solidFill>
                  <a:schemeClr val="bg1"/>
                </a:solidFill>
              </a:rPr>
              <a:t>Case state</a:t>
            </a:r>
            <a:endParaRPr lang="en-US" sz="1300" dirty="0"/>
          </a:p>
        </p:txBody>
      </p:sp>
      <p:sp>
        <p:nvSpPr>
          <p:cNvPr id="13" name="Text 11"/>
          <p:cNvSpPr txBox="1"/>
          <p:nvPr/>
        </p:nvSpPr>
        <p:spPr>
          <a:xfrm>
            <a:off x="8767877" y="2148840"/>
            <a:ext cx="2738018" cy="502920"/>
          </a:xfrm>
          <a:prstGeom prst="rect">
            <a:avLst/>
          </a:prstGeom>
          <a:noFill/>
          <a:ln/>
        </p:spPr>
        <p:txBody>
          <a:bodyPr wrap="square" lIns="0" tIns="0" rIns="0" bIns="0" rtlCol="0" anchor="t"/>
          <a:lstStyle/>
          <a:p>
            <a:pPr indent="0" marL="0">
              <a:buNone/>
            </a:pPr>
            <a:r>
              <a:rPr lang="en-US" sz="1100" dirty="0">
                <a:solidFill>
                  <a:schemeClr val="bg2"/>
                </a:solidFill>
              </a:rPr>
              <a:t>typed API client, live event stream</a:t>
            </a:r>
            <a:endParaRPr lang="en-US" sz="1100" dirty="0"/>
          </a:p>
        </p:txBody>
      </p:sp>
      <p:sp>
        <p:nvSpPr>
          <p:cNvPr id="14" name="Shape 12"/>
          <p:cNvSpPr/>
          <p:nvPr/>
        </p:nvSpPr>
        <p:spPr>
          <a:xfrm>
            <a:off x="6987388" y="2688336"/>
            <a:ext cx="91" cy="137160"/>
          </a:xfrm>
          <a:prstGeom prst="line">
            <a:avLst/>
          </a:prstGeom>
          <a:noFill/>
          <a:ln w="15875">
            <a:solidFill>
              <a:schemeClr val="bg2"/>
            </a:solidFill>
            <a:prstDash val="solid"/>
            <a:headEnd type="triangle"/>
            <a:tailEnd type="triangle"/>
          </a:ln>
        </p:spPr>
      </p:sp>
      <p:sp>
        <p:nvSpPr>
          <p:cNvPr id="15" name="Text 13"/>
          <p:cNvSpPr txBox="1"/>
          <p:nvPr/>
        </p:nvSpPr>
        <p:spPr>
          <a:xfrm>
            <a:off x="548640" y="2834640"/>
            <a:ext cx="1600200" cy="896112"/>
          </a:xfrm>
          <a:prstGeom prst="rect">
            <a:avLst/>
          </a:prstGeom>
          <a:noFill/>
          <a:ln/>
        </p:spPr>
        <p:txBody>
          <a:bodyPr wrap="square" lIns="0" tIns="0" rIns="0" bIns="0" rtlCol="0" anchor="ctr"/>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API</a:t>
            </a:r>
            <a:endParaRPr lang="en-US" sz="1000" dirty="0"/>
          </a:p>
        </p:txBody>
      </p:sp>
      <p:sp>
        <p:nvSpPr>
          <p:cNvPr id="16" name="Shape 14"/>
          <p:cNvSpPr/>
          <p:nvPr/>
        </p:nvSpPr>
        <p:spPr>
          <a:xfrm>
            <a:off x="2331720" y="2834640"/>
            <a:ext cx="3012338" cy="896112"/>
          </a:xfrm>
          <a:prstGeom prst="rect">
            <a:avLst/>
          </a:prstGeom>
          <a:solidFill>
            <a:schemeClr val="accent4"/>
          </a:solidFill>
          <a:ln w="9525">
            <a:solidFill>
              <a:schemeClr val="accent5"/>
            </a:solidFill>
            <a:prstDash val="solid"/>
          </a:ln>
        </p:spPr>
      </p:sp>
      <p:sp>
        <p:nvSpPr>
          <p:cNvPr id="17" name="Text 15"/>
          <p:cNvSpPr txBox="1"/>
          <p:nvPr/>
        </p:nvSpPr>
        <p:spPr>
          <a:xfrm>
            <a:off x="2468880" y="2926080"/>
            <a:ext cx="2738018" cy="256032"/>
          </a:xfrm>
          <a:prstGeom prst="rect">
            <a:avLst/>
          </a:prstGeom>
          <a:noFill/>
          <a:ln/>
        </p:spPr>
        <p:txBody>
          <a:bodyPr wrap="square" lIns="0" tIns="0" rIns="0" bIns="0" rtlCol="0" anchor="t"/>
          <a:lstStyle/>
          <a:p>
            <a:pPr indent="0" marL="0">
              <a:buNone/>
            </a:pPr>
            <a:r>
              <a:rPr lang="en-US" sz="1300" b="1" dirty="0">
                <a:solidFill>
                  <a:schemeClr val="bg1"/>
                </a:solidFill>
              </a:rPr>
              <a:t>FastAPI on Uvicorn</a:t>
            </a:r>
            <a:endParaRPr lang="en-US" sz="1300" dirty="0"/>
          </a:p>
        </p:txBody>
      </p:sp>
      <p:sp>
        <p:nvSpPr>
          <p:cNvPr id="18" name="Text 16"/>
          <p:cNvSpPr txBox="1"/>
          <p:nvPr/>
        </p:nvSpPr>
        <p:spPr>
          <a:xfrm>
            <a:off x="2468880" y="3200400"/>
            <a:ext cx="2738018" cy="502920"/>
          </a:xfrm>
          <a:prstGeom prst="rect">
            <a:avLst/>
          </a:prstGeom>
          <a:noFill/>
          <a:ln/>
        </p:spPr>
        <p:txBody>
          <a:bodyPr wrap="square" lIns="0" tIns="0" rIns="0" bIns="0" rtlCol="0" anchor="t"/>
          <a:lstStyle/>
          <a:p>
            <a:pPr indent="0" marL="0">
              <a:buNone/>
            </a:pPr>
            <a:r>
              <a:rPr lang="en-US" sz="1100" dirty="0">
                <a:solidFill>
                  <a:schemeClr val="bg2"/>
                </a:solidFill>
              </a:rPr>
              <a:t>POST /cases · GET /cases/{id} · /resume</a:t>
            </a:r>
            <a:endParaRPr lang="en-US" sz="1100" dirty="0"/>
          </a:p>
        </p:txBody>
      </p:sp>
      <p:sp>
        <p:nvSpPr>
          <p:cNvPr id="19" name="Shape 17"/>
          <p:cNvSpPr/>
          <p:nvPr/>
        </p:nvSpPr>
        <p:spPr>
          <a:xfrm>
            <a:off x="5481218" y="2834640"/>
            <a:ext cx="3012338" cy="896112"/>
          </a:xfrm>
          <a:prstGeom prst="rect">
            <a:avLst/>
          </a:prstGeom>
          <a:solidFill>
            <a:schemeClr val="accent4"/>
          </a:solidFill>
          <a:ln w="9525">
            <a:solidFill>
              <a:schemeClr val="accent5"/>
            </a:solidFill>
            <a:prstDash val="solid"/>
          </a:ln>
        </p:spPr>
      </p:sp>
      <p:sp>
        <p:nvSpPr>
          <p:cNvPr id="20" name="Text 18"/>
          <p:cNvSpPr txBox="1"/>
          <p:nvPr/>
        </p:nvSpPr>
        <p:spPr>
          <a:xfrm>
            <a:off x="5618378" y="2926080"/>
            <a:ext cx="2738018" cy="256032"/>
          </a:xfrm>
          <a:prstGeom prst="rect">
            <a:avLst/>
          </a:prstGeom>
          <a:noFill/>
          <a:ln/>
        </p:spPr>
        <p:txBody>
          <a:bodyPr wrap="square" lIns="0" tIns="0" rIns="0" bIns="0" rtlCol="0" anchor="t"/>
          <a:lstStyle/>
          <a:p>
            <a:pPr indent="0" marL="0">
              <a:buNone/>
            </a:pPr>
            <a:r>
              <a:rPr lang="en-US" sz="1300" b="1" dirty="0">
                <a:solidFill>
                  <a:schemeClr val="bg1"/>
                </a:solidFill>
              </a:rPr>
              <a:t>Live updates</a:t>
            </a:r>
            <a:endParaRPr lang="en-US" sz="1300" dirty="0"/>
          </a:p>
        </p:txBody>
      </p:sp>
      <p:sp>
        <p:nvSpPr>
          <p:cNvPr id="21" name="Text 19"/>
          <p:cNvSpPr txBox="1"/>
          <p:nvPr/>
        </p:nvSpPr>
        <p:spPr>
          <a:xfrm>
            <a:off x="5618378" y="3200400"/>
            <a:ext cx="2738018" cy="502920"/>
          </a:xfrm>
          <a:prstGeom prst="rect">
            <a:avLst/>
          </a:prstGeom>
          <a:noFill/>
          <a:ln/>
        </p:spPr>
        <p:txBody>
          <a:bodyPr wrap="square" lIns="0" tIns="0" rIns="0" bIns="0" rtlCol="0" anchor="t"/>
          <a:lstStyle/>
          <a:p>
            <a:pPr indent="0" marL="0">
              <a:buNone/>
            </a:pPr>
            <a:r>
              <a:rPr lang="en-US" sz="1100" dirty="0">
                <a:solidFill>
                  <a:schemeClr val="bg2"/>
                </a:solidFill>
              </a:rPr>
              <a:t>/events Server-Sent Events, polling fallback</a:t>
            </a:r>
            <a:endParaRPr lang="en-US" sz="1100" dirty="0"/>
          </a:p>
        </p:txBody>
      </p:sp>
      <p:sp>
        <p:nvSpPr>
          <p:cNvPr id="22" name="Shape 20"/>
          <p:cNvSpPr/>
          <p:nvPr/>
        </p:nvSpPr>
        <p:spPr>
          <a:xfrm>
            <a:off x="8630717" y="2834640"/>
            <a:ext cx="3012338" cy="896112"/>
          </a:xfrm>
          <a:prstGeom prst="rect">
            <a:avLst/>
          </a:prstGeom>
          <a:solidFill>
            <a:schemeClr val="accent4"/>
          </a:solidFill>
          <a:ln w="9525">
            <a:solidFill>
              <a:schemeClr val="accent5"/>
            </a:solidFill>
            <a:prstDash val="solid"/>
          </a:ln>
        </p:spPr>
      </p:sp>
      <p:sp>
        <p:nvSpPr>
          <p:cNvPr id="23" name="Text 21"/>
          <p:cNvSpPr txBox="1"/>
          <p:nvPr/>
        </p:nvSpPr>
        <p:spPr>
          <a:xfrm>
            <a:off x="8767877" y="2926080"/>
            <a:ext cx="2738018" cy="256032"/>
          </a:xfrm>
          <a:prstGeom prst="rect">
            <a:avLst/>
          </a:prstGeom>
          <a:noFill/>
          <a:ln/>
        </p:spPr>
        <p:txBody>
          <a:bodyPr wrap="square" lIns="0" tIns="0" rIns="0" bIns="0" rtlCol="0" anchor="t"/>
          <a:lstStyle/>
          <a:p>
            <a:pPr indent="0" marL="0">
              <a:buNone/>
            </a:pPr>
            <a:r>
              <a:rPr lang="en-US" sz="1300" b="1" dirty="0">
                <a:solidFill>
                  <a:schemeClr val="bg1"/>
                </a:solidFill>
              </a:rPr>
              <a:t>Evidence access</a:t>
            </a:r>
            <a:endParaRPr lang="en-US" sz="1300" dirty="0"/>
          </a:p>
        </p:txBody>
      </p:sp>
      <p:sp>
        <p:nvSpPr>
          <p:cNvPr id="24" name="Text 22"/>
          <p:cNvSpPr txBox="1"/>
          <p:nvPr/>
        </p:nvSpPr>
        <p:spPr>
          <a:xfrm>
            <a:off x="8767877" y="3200400"/>
            <a:ext cx="2738018" cy="502920"/>
          </a:xfrm>
          <a:prstGeom prst="rect">
            <a:avLst/>
          </a:prstGeom>
          <a:noFill/>
          <a:ln/>
        </p:spPr>
        <p:txBody>
          <a:bodyPr wrap="square" lIns="0" tIns="0" rIns="0" bIns="0" rtlCol="0" anchor="t"/>
          <a:lstStyle/>
          <a:p>
            <a:pPr indent="0" marL="0">
              <a:buNone/>
            </a:pPr>
            <a:r>
              <a:rPr lang="en-US" sz="1100" dirty="0">
                <a:solidFill>
                  <a:schemeClr val="bg2"/>
                </a:solidFill>
              </a:rPr>
              <a:t>/docs · /trade · /feed · POST /ingest</a:t>
            </a:r>
            <a:endParaRPr lang="en-US" sz="1100" dirty="0"/>
          </a:p>
        </p:txBody>
      </p:sp>
      <p:sp>
        <p:nvSpPr>
          <p:cNvPr id="25" name="Shape 23"/>
          <p:cNvSpPr/>
          <p:nvPr/>
        </p:nvSpPr>
        <p:spPr>
          <a:xfrm>
            <a:off x="6987388" y="3739896"/>
            <a:ext cx="91" cy="137160"/>
          </a:xfrm>
          <a:prstGeom prst="line">
            <a:avLst/>
          </a:prstGeom>
          <a:noFill/>
          <a:ln w="15875">
            <a:solidFill>
              <a:schemeClr val="bg2"/>
            </a:solidFill>
            <a:prstDash val="solid"/>
            <a:headEnd type="triangle"/>
            <a:tailEnd type="triangle"/>
          </a:ln>
        </p:spPr>
      </p:sp>
      <p:sp>
        <p:nvSpPr>
          <p:cNvPr id="26" name="Text 24"/>
          <p:cNvSpPr txBox="1"/>
          <p:nvPr/>
        </p:nvSpPr>
        <p:spPr>
          <a:xfrm>
            <a:off x="548640" y="3886200"/>
            <a:ext cx="1600200" cy="896112"/>
          </a:xfrm>
          <a:prstGeom prst="rect">
            <a:avLst/>
          </a:prstGeom>
          <a:noFill/>
          <a:ln/>
        </p:spPr>
        <p:txBody>
          <a:bodyPr wrap="square" lIns="0" tIns="0" rIns="0" bIns="0" rtlCol="0" anchor="ctr"/>
          <a:lstStyle/>
          <a:p>
            <a:pPr indent="0" marL="0">
              <a:buNone/>
            </a:pPr>
            <a:r>
              <a:rPr lang="en-US" sz="1000" spc="200" kern="0" dirty="0">
                <a:solidFill>
                  <a:schemeClr val="accent2"/>
                </a:solidFill>
                <a:latin typeface="Consolas" pitchFamily="34" charset="0"/>
                <a:ea typeface="Consolas" pitchFamily="34" charset="-122"/>
                <a:cs typeface="Consolas" pitchFamily="34" charset="-120"/>
              </a:rPr>
              <a:t>AGENT LAYER</a:t>
            </a:r>
            <a:endParaRPr lang="en-US" sz="1000" dirty="0"/>
          </a:p>
        </p:txBody>
      </p:sp>
      <p:sp>
        <p:nvSpPr>
          <p:cNvPr id="27" name="Shape 25"/>
          <p:cNvSpPr/>
          <p:nvPr/>
        </p:nvSpPr>
        <p:spPr>
          <a:xfrm>
            <a:off x="2331720" y="3886200"/>
            <a:ext cx="3012338" cy="896112"/>
          </a:xfrm>
          <a:prstGeom prst="rect">
            <a:avLst/>
          </a:prstGeom>
          <a:solidFill>
            <a:schemeClr val="accent4"/>
          </a:solidFill>
          <a:ln w="9525">
            <a:solidFill>
              <a:schemeClr val="accent2"/>
            </a:solidFill>
            <a:prstDash val="solid"/>
          </a:ln>
        </p:spPr>
      </p:sp>
      <p:sp>
        <p:nvSpPr>
          <p:cNvPr id="28" name="Text 26"/>
          <p:cNvSpPr txBox="1"/>
          <p:nvPr/>
        </p:nvSpPr>
        <p:spPr>
          <a:xfrm>
            <a:off x="2468880" y="3977640"/>
            <a:ext cx="2738018" cy="256032"/>
          </a:xfrm>
          <a:prstGeom prst="rect">
            <a:avLst/>
          </a:prstGeom>
          <a:noFill/>
          <a:ln/>
        </p:spPr>
        <p:txBody>
          <a:bodyPr wrap="square" lIns="0" tIns="0" rIns="0" bIns="0" rtlCol="0" anchor="t"/>
          <a:lstStyle/>
          <a:p>
            <a:pPr indent="0" marL="0">
              <a:buNone/>
            </a:pPr>
            <a:r>
              <a:rPr lang="en-US" sz="1300" b="1" dirty="0">
                <a:solidFill>
                  <a:schemeClr val="bg1"/>
                </a:solidFill>
              </a:rPr>
              <a:t>Trial state machine</a:t>
            </a:r>
            <a:endParaRPr lang="en-US" sz="1300" dirty="0"/>
          </a:p>
        </p:txBody>
      </p:sp>
      <p:sp>
        <p:nvSpPr>
          <p:cNvPr id="29" name="Text 27"/>
          <p:cNvSpPr txBox="1"/>
          <p:nvPr/>
        </p:nvSpPr>
        <p:spPr>
          <a:xfrm>
            <a:off x="2468880" y="4251960"/>
            <a:ext cx="2738018" cy="502920"/>
          </a:xfrm>
          <a:prstGeom prst="rect">
            <a:avLst/>
          </a:prstGeom>
          <a:noFill/>
          <a:ln/>
        </p:spPr>
        <p:txBody>
          <a:bodyPr wrap="square" lIns="0" tIns="0" rIns="0" bIns="0" rtlCol="0" anchor="t"/>
          <a:lstStyle/>
          <a:p>
            <a:pPr indent="0" marL="0">
              <a:buNone/>
            </a:pPr>
            <a:r>
              <a:rPr lang="en-US" sz="1100" dirty="0">
                <a:solidFill>
                  <a:schemeClr val="bg2"/>
                </a:solidFill>
              </a:rPr>
              <a:t>explicit stages, checked transitions, run limit</a:t>
            </a:r>
            <a:endParaRPr lang="en-US" sz="1100" dirty="0"/>
          </a:p>
        </p:txBody>
      </p:sp>
      <p:sp>
        <p:nvSpPr>
          <p:cNvPr id="30" name="Shape 28"/>
          <p:cNvSpPr/>
          <p:nvPr/>
        </p:nvSpPr>
        <p:spPr>
          <a:xfrm>
            <a:off x="5481218" y="3886200"/>
            <a:ext cx="3012338" cy="896112"/>
          </a:xfrm>
          <a:prstGeom prst="rect">
            <a:avLst/>
          </a:prstGeom>
          <a:solidFill>
            <a:schemeClr val="accent4"/>
          </a:solidFill>
          <a:ln w="9525">
            <a:solidFill>
              <a:schemeClr val="accent2"/>
            </a:solidFill>
            <a:prstDash val="solid"/>
          </a:ln>
        </p:spPr>
      </p:sp>
      <p:sp>
        <p:nvSpPr>
          <p:cNvPr id="31" name="Text 29"/>
          <p:cNvSpPr txBox="1"/>
          <p:nvPr/>
        </p:nvSpPr>
        <p:spPr>
          <a:xfrm>
            <a:off x="5618378" y="3977640"/>
            <a:ext cx="2738018" cy="256032"/>
          </a:xfrm>
          <a:prstGeom prst="rect">
            <a:avLst/>
          </a:prstGeom>
          <a:noFill/>
          <a:ln/>
        </p:spPr>
        <p:txBody>
          <a:bodyPr wrap="square" lIns="0" tIns="0" rIns="0" bIns="0" rtlCol="0" anchor="t"/>
          <a:lstStyle/>
          <a:p>
            <a:pPr indent="0" marL="0">
              <a:buNone/>
            </a:pPr>
            <a:r>
              <a:rPr lang="en-US" sz="1300" b="1" dirty="0">
                <a:solidFill>
                  <a:schemeClr val="bg1"/>
                </a:solidFill>
              </a:rPr>
              <a:t>Four agents</a:t>
            </a:r>
            <a:endParaRPr lang="en-US" sz="1300" dirty="0"/>
          </a:p>
        </p:txBody>
      </p:sp>
      <p:sp>
        <p:nvSpPr>
          <p:cNvPr id="32" name="Text 30"/>
          <p:cNvSpPr txBox="1"/>
          <p:nvPr/>
        </p:nvSpPr>
        <p:spPr>
          <a:xfrm>
            <a:off x="5618378" y="4251960"/>
            <a:ext cx="2738018" cy="502920"/>
          </a:xfrm>
          <a:prstGeom prst="rect">
            <a:avLst/>
          </a:prstGeom>
          <a:noFill/>
          <a:ln/>
        </p:spPr>
        <p:txBody>
          <a:bodyPr wrap="square" lIns="0" tIns="0" rIns="0" bIns="0" rtlCol="0" anchor="t"/>
          <a:lstStyle/>
          <a:p>
            <a:pPr indent="0" marL="0">
              <a:buNone/>
            </a:pPr>
            <a:r>
              <a:rPr lang="en-US" sz="1100" dirty="0">
                <a:solidFill>
                  <a:schemeClr val="bg2"/>
                </a:solidFill>
              </a:rPr>
              <a:t>own prompt and tool allow-list; Pydantic-validated output, one repair</a:t>
            </a:r>
            <a:endParaRPr lang="en-US" sz="1100" dirty="0"/>
          </a:p>
        </p:txBody>
      </p:sp>
      <p:sp>
        <p:nvSpPr>
          <p:cNvPr id="33" name="Shape 31"/>
          <p:cNvSpPr/>
          <p:nvPr/>
        </p:nvSpPr>
        <p:spPr>
          <a:xfrm>
            <a:off x="8630717" y="3886200"/>
            <a:ext cx="3012338" cy="896112"/>
          </a:xfrm>
          <a:prstGeom prst="rect">
            <a:avLst/>
          </a:prstGeom>
          <a:solidFill>
            <a:schemeClr val="accent4"/>
          </a:solidFill>
          <a:ln w="9525">
            <a:solidFill>
              <a:schemeClr val="accent2"/>
            </a:solidFill>
            <a:prstDash val="solid"/>
          </a:ln>
        </p:spPr>
      </p:sp>
      <p:sp>
        <p:nvSpPr>
          <p:cNvPr id="34" name="Text 32"/>
          <p:cNvSpPr txBox="1"/>
          <p:nvPr/>
        </p:nvSpPr>
        <p:spPr>
          <a:xfrm>
            <a:off x="8767877" y="3977640"/>
            <a:ext cx="2738018" cy="256032"/>
          </a:xfrm>
          <a:prstGeom prst="rect">
            <a:avLst/>
          </a:prstGeom>
          <a:noFill/>
          <a:ln/>
        </p:spPr>
        <p:txBody>
          <a:bodyPr wrap="square" lIns="0" tIns="0" rIns="0" bIns="0" rtlCol="0" anchor="t"/>
          <a:lstStyle/>
          <a:p>
            <a:pPr indent="0" marL="0">
              <a:buNone/>
            </a:pPr>
            <a:r>
              <a:rPr lang="en-US" sz="1300" b="1" dirty="0">
                <a:solidFill>
                  <a:schemeClr val="bg1"/>
                </a:solidFill>
              </a:rPr>
              <a:t>LLM client</a:t>
            </a:r>
            <a:endParaRPr lang="en-US" sz="1300" dirty="0"/>
          </a:p>
        </p:txBody>
      </p:sp>
      <p:sp>
        <p:nvSpPr>
          <p:cNvPr id="35" name="Text 33"/>
          <p:cNvSpPr txBox="1"/>
          <p:nvPr/>
        </p:nvSpPr>
        <p:spPr>
          <a:xfrm>
            <a:off x="8767877" y="4251960"/>
            <a:ext cx="2738018" cy="502920"/>
          </a:xfrm>
          <a:prstGeom prst="rect">
            <a:avLst/>
          </a:prstGeom>
          <a:noFill/>
          <a:ln/>
        </p:spPr>
        <p:txBody>
          <a:bodyPr wrap="square" lIns="0" tIns="0" rIns="0" bIns="0" rtlCol="0" anchor="t"/>
          <a:lstStyle/>
          <a:p>
            <a:pPr indent="0" marL="0">
              <a:buNone/>
            </a:pPr>
            <a:r>
              <a:rPr lang="en-US" sz="1100" dirty="0">
                <a:solidFill>
                  <a:schemeClr val="bg2"/>
                </a:solidFill>
              </a:rPr>
              <a:t>Gemini by default, Anthropic optional; model chain, budgets, reply cache</a:t>
            </a:r>
            <a:endParaRPr lang="en-US" sz="1100" dirty="0"/>
          </a:p>
        </p:txBody>
      </p:sp>
      <p:sp>
        <p:nvSpPr>
          <p:cNvPr id="36" name="Shape 34"/>
          <p:cNvSpPr/>
          <p:nvPr/>
        </p:nvSpPr>
        <p:spPr>
          <a:xfrm>
            <a:off x="6987388" y="4791456"/>
            <a:ext cx="91" cy="137160"/>
          </a:xfrm>
          <a:prstGeom prst="line">
            <a:avLst/>
          </a:prstGeom>
          <a:noFill/>
          <a:ln w="15875">
            <a:solidFill>
              <a:schemeClr val="bg2"/>
            </a:solidFill>
            <a:prstDash val="solid"/>
            <a:headEnd type="triangle"/>
            <a:tailEnd type="triangle"/>
          </a:ln>
        </p:spPr>
      </p:sp>
      <p:sp>
        <p:nvSpPr>
          <p:cNvPr id="37" name="Text 35"/>
          <p:cNvSpPr txBox="1"/>
          <p:nvPr/>
        </p:nvSpPr>
        <p:spPr>
          <a:xfrm>
            <a:off x="548640" y="4937760"/>
            <a:ext cx="1600200" cy="896112"/>
          </a:xfrm>
          <a:prstGeom prst="rect">
            <a:avLst/>
          </a:prstGeom>
          <a:noFill/>
          <a:ln/>
        </p:spPr>
        <p:txBody>
          <a:bodyPr wrap="square" lIns="0" tIns="0" rIns="0" bIns="0" rtlCol="0" anchor="ctr"/>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EVIDENCE AND AUDIT</a:t>
            </a:r>
            <a:endParaRPr lang="en-US" sz="1000" dirty="0"/>
          </a:p>
        </p:txBody>
      </p:sp>
      <p:sp>
        <p:nvSpPr>
          <p:cNvPr id="38" name="Shape 36"/>
          <p:cNvSpPr/>
          <p:nvPr/>
        </p:nvSpPr>
        <p:spPr>
          <a:xfrm>
            <a:off x="2331720" y="4937760"/>
            <a:ext cx="3012338" cy="896112"/>
          </a:xfrm>
          <a:prstGeom prst="rect">
            <a:avLst/>
          </a:prstGeom>
          <a:solidFill>
            <a:schemeClr val="accent4"/>
          </a:solidFill>
          <a:ln w="9525">
            <a:solidFill>
              <a:schemeClr val="accent5"/>
            </a:solidFill>
            <a:prstDash val="solid"/>
          </a:ln>
        </p:spPr>
      </p:sp>
      <p:sp>
        <p:nvSpPr>
          <p:cNvPr id="39" name="Text 37"/>
          <p:cNvSpPr txBox="1"/>
          <p:nvPr/>
        </p:nvSpPr>
        <p:spPr>
          <a:xfrm>
            <a:off x="2468880" y="5029200"/>
            <a:ext cx="2738018" cy="256032"/>
          </a:xfrm>
          <a:prstGeom prst="rect">
            <a:avLst/>
          </a:prstGeom>
          <a:noFill/>
          <a:ln/>
        </p:spPr>
        <p:txBody>
          <a:bodyPr wrap="square" lIns="0" tIns="0" rIns="0" bIns="0" rtlCol="0" anchor="t"/>
          <a:lstStyle/>
          <a:p>
            <a:pPr indent="0" marL="0">
              <a:buNone/>
            </a:pPr>
            <a:r>
              <a:rPr lang="en-US" sz="1300" b="1" dirty="0">
                <a:solidFill>
                  <a:schemeClr val="bg1"/>
                </a:solidFill>
              </a:rPr>
              <a:t>Ingest</a:t>
            </a:r>
            <a:endParaRPr lang="en-US" sz="1300" dirty="0"/>
          </a:p>
        </p:txBody>
      </p:sp>
      <p:sp>
        <p:nvSpPr>
          <p:cNvPr id="40" name="Text 38"/>
          <p:cNvSpPr txBox="1"/>
          <p:nvPr/>
        </p:nvSpPr>
        <p:spPr>
          <a:xfrm>
            <a:off x="2468880" y="5303520"/>
            <a:ext cx="2738018" cy="502920"/>
          </a:xfrm>
          <a:prstGeom prst="rect">
            <a:avLst/>
          </a:prstGeom>
          <a:noFill/>
          <a:ln/>
        </p:spPr>
        <p:txBody>
          <a:bodyPr wrap="square" lIns="0" tIns="0" rIns="0" bIns="0" rtlCol="0" anchor="t"/>
          <a:lstStyle/>
          <a:p>
            <a:pPr indent="0" marL="0">
              <a:buNone/>
            </a:pPr>
            <a:r>
              <a:rPr lang="en-US" sz="1100" dirty="0">
                <a:solidFill>
                  <a:schemeClr val="bg2"/>
                </a:solidFill>
              </a:rPr>
              <a:t>PDF · TXT · DOCX, trade tables, damage and injection flags</a:t>
            </a:r>
            <a:endParaRPr lang="en-US" sz="1100" dirty="0"/>
          </a:p>
        </p:txBody>
      </p:sp>
      <p:sp>
        <p:nvSpPr>
          <p:cNvPr id="41" name="Shape 39"/>
          <p:cNvSpPr/>
          <p:nvPr/>
        </p:nvSpPr>
        <p:spPr>
          <a:xfrm>
            <a:off x="5481218" y="4937760"/>
            <a:ext cx="3012338" cy="896112"/>
          </a:xfrm>
          <a:prstGeom prst="rect">
            <a:avLst/>
          </a:prstGeom>
          <a:solidFill>
            <a:schemeClr val="accent4"/>
          </a:solidFill>
          <a:ln w="9525">
            <a:solidFill>
              <a:schemeClr val="accent5"/>
            </a:solidFill>
            <a:prstDash val="solid"/>
          </a:ln>
        </p:spPr>
      </p:sp>
      <p:sp>
        <p:nvSpPr>
          <p:cNvPr id="42" name="Text 40"/>
          <p:cNvSpPr txBox="1"/>
          <p:nvPr/>
        </p:nvSpPr>
        <p:spPr>
          <a:xfrm>
            <a:off x="5618378" y="5029200"/>
            <a:ext cx="2738018" cy="256032"/>
          </a:xfrm>
          <a:prstGeom prst="rect">
            <a:avLst/>
          </a:prstGeom>
          <a:noFill/>
          <a:ln/>
        </p:spPr>
        <p:txBody>
          <a:bodyPr wrap="square" lIns="0" tIns="0" rIns="0" bIns="0" rtlCol="0" anchor="t"/>
          <a:lstStyle/>
          <a:p>
            <a:pPr indent="0" marL="0">
              <a:buNone/>
            </a:pPr>
            <a:r>
              <a:rPr lang="en-US" sz="1300" b="1" dirty="0">
                <a:solidFill>
                  <a:schemeClr val="bg1"/>
                </a:solidFill>
              </a:rPr>
              <a:t>Hybrid retrieval</a:t>
            </a:r>
            <a:endParaRPr lang="en-US" sz="1300" dirty="0"/>
          </a:p>
        </p:txBody>
      </p:sp>
      <p:sp>
        <p:nvSpPr>
          <p:cNvPr id="43" name="Text 41"/>
          <p:cNvSpPr txBox="1"/>
          <p:nvPr/>
        </p:nvSpPr>
        <p:spPr>
          <a:xfrm>
            <a:off x="5618378" y="5303520"/>
            <a:ext cx="2738018" cy="502920"/>
          </a:xfrm>
          <a:prstGeom prst="rect">
            <a:avLst/>
          </a:prstGeom>
          <a:noFill/>
          <a:ln/>
        </p:spPr>
        <p:txBody>
          <a:bodyPr wrap="square" lIns="0" tIns="0" rIns="0" bIns="0" rtlCol="0" anchor="t"/>
          <a:lstStyle/>
          <a:p>
            <a:pPr indent="0" marL="0">
              <a:buNone/>
            </a:pPr>
            <a:r>
              <a:rPr lang="en-US" sz="1100" dirty="0">
                <a:solidFill>
                  <a:schemeClr val="bg2"/>
                </a:solidFill>
              </a:rPr>
              <a:t>BM25 + bge-small vectors, RRF, metadata filters, as-of gate</a:t>
            </a:r>
            <a:endParaRPr lang="en-US" sz="1100" dirty="0"/>
          </a:p>
        </p:txBody>
      </p:sp>
      <p:sp>
        <p:nvSpPr>
          <p:cNvPr id="44" name="Shape 42"/>
          <p:cNvSpPr/>
          <p:nvPr/>
        </p:nvSpPr>
        <p:spPr>
          <a:xfrm>
            <a:off x="8630717" y="4937760"/>
            <a:ext cx="3012338" cy="896112"/>
          </a:xfrm>
          <a:prstGeom prst="rect">
            <a:avLst/>
          </a:prstGeom>
          <a:solidFill>
            <a:schemeClr val="accent4"/>
          </a:solidFill>
          <a:ln w="9525">
            <a:solidFill>
              <a:schemeClr val="accent5"/>
            </a:solidFill>
            <a:prstDash val="solid"/>
          </a:ln>
        </p:spPr>
      </p:sp>
      <p:sp>
        <p:nvSpPr>
          <p:cNvPr id="45" name="Text 43"/>
          <p:cNvSpPr txBox="1"/>
          <p:nvPr/>
        </p:nvSpPr>
        <p:spPr>
          <a:xfrm>
            <a:off x="8767877" y="5029200"/>
            <a:ext cx="2738018" cy="256032"/>
          </a:xfrm>
          <a:prstGeom prst="rect">
            <a:avLst/>
          </a:prstGeom>
          <a:noFill/>
          <a:ln/>
        </p:spPr>
        <p:txBody>
          <a:bodyPr wrap="square" lIns="0" tIns="0" rIns="0" bIns="0" rtlCol="0" anchor="t"/>
          <a:lstStyle/>
          <a:p>
            <a:pPr indent="0" marL="0">
              <a:buNone/>
            </a:pPr>
            <a:r>
              <a:rPr lang="en-US" sz="1300" b="1" dirty="0">
                <a:solidFill>
                  <a:schemeClr val="bg1"/>
                </a:solidFill>
              </a:rPr>
              <a:t>Calculations + store</a:t>
            </a:r>
            <a:endParaRPr lang="en-US" sz="1300" dirty="0"/>
          </a:p>
        </p:txBody>
      </p:sp>
      <p:sp>
        <p:nvSpPr>
          <p:cNvPr id="46" name="Text 44"/>
          <p:cNvSpPr txBox="1"/>
          <p:nvPr/>
        </p:nvSpPr>
        <p:spPr>
          <a:xfrm>
            <a:off x="8767877" y="5303520"/>
            <a:ext cx="2738018" cy="502920"/>
          </a:xfrm>
          <a:prstGeom prst="rect">
            <a:avLst/>
          </a:prstGeom>
          <a:noFill/>
          <a:ln/>
        </p:spPr>
        <p:txBody>
          <a:bodyPr wrap="square" lIns="0" tIns="0" rIns="0" bIns="0" rtlCol="0" anchor="t"/>
          <a:lstStyle/>
          <a:p>
            <a:pPr indent="0" marL="0">
              <a:buNone/>
            </a:pPr>
            <a:r>
              <a:rPr lang="en-US" sz="1100" dirty="0">
                <a:solidFill>
                  <a:schemeClr val="bg2"/>
                </a:solidFill>
              </a:rPr>
              <a:t>deterministic records; SQLite audit log, memories and caches</a:t>
            </a:r>
            <a:endParaRPr lang="en-US" sz="1100" dirty="0"/>
          </a:p>
        </p:txBody>
      </p:sp>
      <p:sp>
        <p:nvSpPr>
          <p:cNvPr id="47" name="Text 45"/>
          <p:cNvSpPr txBox="1"/>
          <p:nvPr/>
        </p:nvSpPr>
        <p:spPr>
          <a:xfrm>
            <a:off x="548640" y="6053328"/>
            <a:ext cx="11094415" cy="228600"/>
          </a:xfrm>
          <a:prstGeom prst="rect">
            <a:avLst/>
          </a:prstGeom>
          <a:noFill/>
          <a:ln/>
        </p:spPr>
        <p:txBody>
          <a:bodyPr wrap="square" lIns="0" tIns="0" rIns="0" bIns="0" rtlCol="0" anchor="t"/>
          <a:lstStyle/>
          <a:p>
            <a:pPr indent="0" marL="0">
              <a:buNone/>
            </a:pPr>
            <a:r>
              <a:rPr lang="en-US" sz="1100" dirty="0">
                <a:solidFill>
                  <a:schemeClr val="bg2"/>
                </a:solidFill>
              </a:rPr>
              <a:t>Logical view. Runs locally as two processes (API on :8000, dashboard on :5173). 382 automated tests use a scripted model.</a:t>
            </a:r>
            <a:endParaRPr lang="en-US" sz="11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DEMONSTRATION</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Follow one case from question to judgment</a:t>
            </a:r>
            <a:endParaRPr lang="en-US" sz="3200" dirty="0"/>
          </a:p>
        </p:txBody>
      </p:sp>
      <p:pic>
        <p:nvPicPr>
          <p:cNvPr id="4" name="Image 0" descr="Z:\Projects\Ragnarok\presentation\assets\thumb_ask.png">    </p:cNvPr>
          <p:cNvPicPr>
            <a:picLocks noChangeAspect="1"/>
          </p:cNvPicPr>
          <p:nvPr/>
        </p:nvPicPr>
        <p:blipFill>
          <a:blip r:embed="rId1"/>
          <a:srcRect l="0" r="0" t="0" b="0"/>
          <a:stretch/>
        </p:blipFill>
        <p:spPr>
          <a:xfrm>
            <a:off x="548640" y="1737360"/>
            <a:ext cx="1463040" cy="937846"/>
          </a:xfrm>
          <a:prstGeom prst="rect">
            <a:avLst/>
          </a:prstGeom>
        </p:spPr>
      </p:pic>
      <p:sp>
        <p:nvSpPr>
          <p:cNvPr id="5" name="Shape 2"/>
          <p:cNvSpPr/>
          <p:nvPr/>
        </p:nvSpPr>
        <p:spPr>
          <a:xfrm>
            <a:off x="548640" y="1737360"/>
            <a:ext cx="1463040" cy="937846"/>
          </a:xfrm>
          <a:prstGeom prst="rect">
            <a:avLst/>
          </a:prstGeom>
          <a:solidFill>
            <a:schemeClr val="tx1">
              <a:alpha val="0"/>
            </a:schemeClr>
          </a:solidFill>
          <a:ln w="9525">
            <a:solidFill>
              <a:schemeClr val="accent5"/>
            </a:solidFill>
            <a:prstDash val="solid"/>
          </a:ln>
        </p:spPr>
      </p:sp>
      <p:sp>
        <p:nvSpPr>
          <p:cNvPr id="6" name="Text 3"/>
          <p:cNvSpPr txBox="1"/>
          <p:nvPr/>
        </p:nvSpPr>
        <p:spPr>
          <a:xfrm>
            <a:off x="548640" y="2766646"/>
            <a:ext cx="1463040" cy="27432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1  </a:t>
            </a:r>
            <a:pPr indent="0" marL="0">
              <a:buNone/>
            </a:pPr>
            <a:r>
              <a:rPr lang="en-US" sz="1400" b="1" dirty="0">
                <a:solidFill>
                  <a:schemeClr val="bg1"/>
                </a:solidFill>
              </a:rPr>
              <a:t>Ask</a:t>
            </a:r>
            <a:endParaRPr lang="en-US" sz="1400" dirty="0"/>
          </a:p>
        </p:txBody>
      </p:sp>
      <p:sp>
        <p:nvSpPr>
          <p:cNvPr id="7" name="Text 4"/>
          <p:cNvSpPr txBox="1"/>
          <p:nvPr/>
        </p:nvSpPr>
        <p:spPr>
          <a:xfrm>
            <a:off x="548640" y="3040966"/>
            <a:ext cx="1463040" cy="411480"/>
          </a:xfrm>
          <a:prstGeom prst="rect">
            <a:avLst/>
          </a:prstGeom>
          <a:noFill/>
          <a:ln/>
        </p:spPr>
        <p:txBody>
          <a:bodyPr wrap="square" lIns="0" tIns="0" rIns="0" bIns="0" rtlCol="0" anchor="t"/>
          <a:lstStyle/>
          <a:p>
            <a:pPr indent="0" marL="0">
              <a:buNone/>
            </a:pPr>
            <a:r>
              <a:rPr lang="en-US" sz="1100" dirty="0">
                <a:solidFill>
                  <a:schemeClr val="bg2"/>
                </a:solidFill>
              </a:rPr>
              <a:t>question and as-of date</a:t>
            </a:r>
            <a:endParaRPr lang="en-US" sz="1100" dirty="0"/>
          </a:p>
        </p:txBody>
      </p:sp>
      <p:sp>
        <p:nvSpPr>
          <p:cNvPr id="8" name="Shape 5"/>
          <p:cNvSpPr/>
          <p:nvPr/>
        </p:nvSpPr>
        <p:spPr>
          <a:xfrm>
            <a:off x="2029968" y="2206283"/>
            <a:ext cx="105613" cy="91"/>
          </a:xfrm>
          <a:prstGeom prst="line">
            <a:avLst/>
          </a:prstGeom>
          <a:noFill/>
          <a:ln w="12700">
            <a:solidFill>
              <a:schemeClr val="accent6"/>
            </a:solidFill>
            <a:prstDash val="solid"/>
            <a:tailEnd type="triangle"/>
          </a:ln>
        </p:spPr>
      </p:sp>
      <p:pic>
        <p:nvPicPr>
          <p:cNvPr id="9" name="Image 1" descr="Z:\Projects\Ragnarok\presentation\assets\thumb_casefile.png">    </p:cNvPr>
          <p:cNvPicPr>
            <a:picLocks noChangeAspect="1"/>
          </p:cNvPicPr>
          <p:nvPr/>
        </p:nvPicPr>
        <p:blipFill>
          <a:blip r:embed="rId2"/>
          <a:srcRect l="0" r="0" t="0" b="0"/>
          <a:stretch/>
        </p:blipFill>
        <p:spPr>
          <a:xfrm>
            <a:off x="2153869" y="1737360"/>
            <a:ext cx="1463040" cy="937846"/>
          </a:xfrm>
          <a:prstGeom prst="rect">
            <a:avLst/>
          </a:prstGeom>
        </p:spPr>
      </p:pic>
      <p:sp>
        <p:nvSpPr>
          <p:cNvPr id="10" name="Shape 6"/>
          <p:cNvSpPr/>
          <p:nvPr/>
        </p:nvSpPr>
        <p:spPr>
          <a:xfrm>
            <a:off x="2153869" y="1737360"/>
            <a:ext cx="1463040" cy="937846"/>
          </a:xfrm>
          <a:prstGeom prst="rect">
            <a:avLst/>
          </a:prstGeom>
          <a:solidFill>
            <a:schemeClr val="tx1">
              <a:alpha val="0"/>
            </a:schemeClr>
          </a:solidFill>
          <a:ln w="9525">
            <a:solidFill>
              <a:schemeClr val="accent5"/>
            </a:solidFill>
            <a:prstDash val="solid"/>
          </a:ln>
        </p:spPr>
      </p:sp>
      <p:sp>
        <p:nvSpPr>
          <p:cNvPr id="11" name="Text 7"/>
          <p:cNvSpPr txBox="1"/>
          <p:nvPr/>
        </p:nvSpPr>
        <p:spPr>
          <a:xfrm>
            <a:off x="2153869" y="2766646"/>
            <a:ext cx="1463040" cy="27432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2  </a:t>
            </a:r>
            <a:pPr indent="0" marL="0">
              <a:buNone/>
            </a:pPr>
            <a:r>
              <a:rPr lang="en-US" sz="1400" b="1" dirty="0">
                <a:solidFill>
                  <a:schemeClr val="bg1"/>
                </a:solidFill>
              </a:rPr>
              <a:t>Investigate</a:t>
            </a:r>
            <a:endParaRPr lang="en-US" sz="1400" dirty="0"/>
          </a:p>
        </p:txBody>
      </p:sp>
      <p:sp>
        <p:nvSpPr>
          <p:cNvPr id="12" name="Text 8"/>
          <p:cNvSpPr txBox="1"/>
          <p:nvPr/>
        </p:nvSpPr>
        <p:spPr>
          <a:xfrm>
            <a:off x="2153869" y="3040966"/>
            <a:ext cx="1463040" cy="411480"/>
          </a:xfrm>
          <a:prstGeom prst="rect">
            <a:avLst/>
          </a:prstGeom>
          <a:noFill/>
          <a:ln/>
        </p:spPr>
        <p:txBody>
          <a:bodyPr wrap="square" lIns="0" tIns="0" rIns="0" bIns="0" rtlCol="0" anchor="t"/>
          <a:lstStyle/>
          <a:p>
            <a:pPr indent="0" marL="0">
              <a:buNone/>
            </a:pPr>
            <a:r>
              <a:rPr lang="en-US" sz="1100" dirty="0">
                <a:solidFill>
                  <a:schemeClr val="bg2"/>
                </a:solidFill>
              </a:rPr>
              <a:t>Heimdall's case file</a:t>
            </a:r>
            <a:endParaRPr lang="en-US" sz="1100" dirty="0"/>
          </a:p>
        </p:txBody>
      </p:sp>
      <p:sp>
        <p:nvSpPr>
          <p:cNvPr id="13" name="Shape 9"/>
          <p:cNvSpPr/>
          <p:nvPr/>
        </p:nvSpPr>
        <p:spPr>
          <a:xfrm>
            <a:off x="3635197" y="2206283"/>
            <a:ext cx="105613" cy="91"/>
          </a:xfrm>
          <a:prstGeom prst="line">
            <a:avLst/>
          </a:prstGeom>
          <a:noFill/>
          <a:ln w="12700">
            <a:solidFill>
              <a:schemeClr val="accent6"/>
            </a:solidFill>
            <a:prstDash val="solid"/>
            <a:tailEnd type="triangle"/>
          </a:ln>
        </p:spPr>
      </p:sp>
      <p:pic>
        <p:nvPicPr>
          <p:cNvPr id="14" name="Image 2" descr="Z:\Projects\Ragnarok\presentation\assets\thumb_map.png">    </p:cNvPr>
          <p:cNvPicPr>
            <a:picLocks noChangeAspect="1"/>
          </p:cNvPicPr>
          <p:nvPr/>
        </p:nvPicPr>
        <p:blipFill>
          <a:blip r:embed="rId3"/>
          <a:srcRect l="0" r="0" t="0" b="0"/>
          <a:stretch/>
        </p:blipFill>
        <p:spPr>
          <a:xfrm>
            <a:off x="3759098" y="1737360"/>
            <a:ext cx="1463040" cy="937846"/>
          </a:xfrm>
          <a:prstGeom prst="rect">
            <a:avLst/>
          </a:prstGeom>
        </p:spPr>
      </p:pic>
      <p:sp>
        <p:nvSpPr>
          <p:cNvPr id="15" name="Shape 10"/>
          <p:cNvSpPr/>
          <p:nvPr/>
        </p:nvSpPr>
        <p:spPr>
          <a:xfrm>
            <a:off x="3759098" y="1737360"/>
            <a:ext cx="1463040" cy="937846"/>
          </a:xfrm>
          <a:prstGeom prst="rect">
            <a:avLst/>
          </a:prstGeom>
          <a:solidFill>
            <a:schemeClr val="tx1">
              <a:alpha val="0"/>
            </a:schemeClr>
          </a:solidFill>
          <a:ln w="9525">
            <a:solidFill>
              <a:schemeClr val="accent5"/>
            </a:solidFill>
            <a:prstDash val="solid"/>
          </a:ln>
        </p:spPr>
      </p:sp>
      <p:sp>
        <p:nvSpPr>
          <p:cNvPr id="16" name="Text 11"/>
          <p:cNvSpPr txBox="1"/>
          <p:nvPr/>
        </p:nvSpPr>
        <p:spPr>
          <a:xfrm>
            <a:off x="3759098" y="2766646"/>
            <a:ext cx="1463040" cy="27432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3  </a:t>
            </a:r>
            <a:pPr indent="0" marL="0">
              <a:buNone/>
            </a:pPr>
            <a:r>
              <a:rPr lang="en-US" sz="1400" b="1" dirty="0">
                <a:solidFill>
                  <a:schemeClr val="bg1"/>
                </a:solidFill>
              </a:rPr>
              <a:t>Argue</a:t>
            </a:r>
            <a:endParaRPr lang="en-US" sz="1400" dirty="0"/>
          </a:p>
        </p:txBody>
      </p:sp>
      <p:sp>
        <p:nvSpPr>
          <p:cNvPr id="17" name="Text 12"/>
          <p:cNvSpPr txBox="1"/>
          <p:nvPr/>
        </p:nvSpPr>
        <p:spPr>
          <a:xfrm>
            <a:off x="3759098" y="3040966"/>
            <a:ext cx="1463040" cy="411480"/>
          </a:xfrm>
          <a:prstGeom prst="rect">
            <a:avLst/>
          </a:prstGeom>
          <a:noFill/>
          <a:ln/>
        </p:spPr>
        <p:txBody>
          <a:bodyPr wrap="square" lIns="0" tIns="0" rIns="0" bIns="0" rtlCol="0" anchor="t"/>
          <a:lstStyle/>
          <a:p>
            <a:pPr indent="0" marL="0">
              <a:buNone/>
            </a:pPr>
            <a:r>
              <a:rPr lang="en-US" sz="1100" dirty="0">
                <a:solidFill>
                  <a:schemeClr val="bg2"/>
                </a:solidFill>
              </a:rPr>
              <a:t>claims, attacks, rulings</a:t>
            </a:r>
            <a:endParaRPr lang="en-US" sz="1100" dirty="0"/>
          </a:p>
        </p:txBody>
      </p:sp>
      <p:sp>
        <p:nvSpPr>
          <p:cNvPr id="18" name="Shape 13"/>
          <p:cNvSpPr/>
          <p:nvPr/>
        </p:nvSpPr>
        <p:spPr>
          <a:xfrm>
            <a:off x="5240426" y="2206283"/>
            <a:ext cx="105613" cy="91"/>
          </a:xfrm>
          <a:prstGeom prst="line">
            <a:avLst/>
          </a:prstGeom>
          <a:noFill/>
          <a:ln w="12700">
            <a:solidFill>
              <a:schemeClr val="accent6"/>
            </a:solidFill>
            <a:prstDash val="solid"/>
            <a:tailEnd type="triangle"/>
          </a:ln>
        </p:spPr>
      </p:sp>
      <p:pic>
        <p:nvPicPr>
          <p:cNvPr id="19" name="Image 3" descr="Z:\Projects\Ragnarok\presentation\assets\thumb_reader.png">    </p:cNvPr>
          <p:cNvPicPr>
            <a:picLocks noChangeAspect="1"/>
          </p:cNvPicPr>
          <p:nvPr/>
        </p:nvPicPr>
        <p:blipFill>
          <a:blip r:embed="rId4"/>
          <a:srcRect l="0" r="0" t="0" b="0"/>
          <a:stretch/>
        </p:blipFill>
        <p:spPr>
          <a:xfrm>
            <a:off x="5364328" y="1737360"/>
            <a:ext cx="1463040" cy="937846"/>
          </a:xfrm>
          <a:prstGeom prst="rect">
            <a:avLst/>
          </a:prstGeom>
        </p:spPr>
      </p:pic>
      <p:sp>
        <p:nvSpPr>
          <p:cNvPr id="20" name="Shape 14"/>
          <p:cNvSpPr/>
          <p:nvPr/>
        </p:nvSpPr>
        <p:spPr>
          <a:xfrm>
            <a:off x="5364328" y="1737360"/>
            <a:ext cx="1463040" cy="937846"/>
          </a:xfrm>
          <a:prstGeom prst="rect">
            <a:avLst/>
          </a:prstGeom>
          <a:solidFill>
            <a:schemeClr val="tx1">
              <a:alpha val="0"/>
            </a:schemeClr>
          </a:solidFill>
          <a:ln w="9525">
            <a:solidFill>
              <a:schemeClr val="accent5"/>
            </a:solidFill>
            <a:prstDash val="solid"/>
          </a:ln>
        </p:spPr>
      </p:sp>
      <p:sp>
        <p:nvSpPr>
          <p:cNvPr id="21" name="Text 15"/>
          <p:cNvSpPr txBox="1"/>
          <p:nvPr/>
        </p:nvSpPr>
        <p:spPr>
          <a:xfrm>
            <a:off x="5364328" y="2766646"/>
            <a:ext cx="1463040" cy="27432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4  </a:t>
            </a:r>
            <a:pPr indent="0" marL="0">
              <a:buNone/>
            </a:pPr>
            <a:r>
              <a:rPr lang="en-US" sz="1400" b="1" dirty="0">
                <a:solidFill>
                  <a:schemeClr val="bg1"/>
                </a:solidFill>
              </a:rPr>
              <a:t>Verify</a:t>
            </a:r>
            <a:endParaRPr lang="en-US" sz="1400" dirty="0"/>
          </a:p>
        </p:txBody>
      </p:sp>
      <p:sp>
        <p:nvSpPr>
          <p:cNvPr id="22" name="Text 16"/>
          <p:cNvSpPr txBox="1"/>
          <p:nvPr/>
        </p:nvSpPr>
        <p:spPr>
          <a:xfrm>
            <a:off x="5364328" y="3040966"/>
            <a:ext cx="1463040" cy="411480"/>
          </a:xfrm>
          <a:prstGeom prst="rect">
            <a:avLst/>
          </a:prstGeom>
          <a:noFill/>
          <a:ln/>
        </p:spPr>
        <p:txBody>
          <a:bodyPr wrap="square" lIns="0" tIns="0" rIns="0" bIns="0" rtlCol="0" anchor="t"/>
          <a:lstStyle/>
          <a:p>
            <a:pPr indent="0" marL="0">
              <a:buNone/>
            </a:pPr>
            <a:r>
              <a:rPr lang="en-US" sz="1100" dirty="0">
                <a:solidFill>
                  <a:schemeClr val="bg2"/>
                </a:solidFill>
              </a:rPr>
              <a:t>open a cited source</a:t>
            </a:r>
            <a:endParaRPr lang="en-US" sz="1100" dirty="0"/>
          </a:p>
        </p:txBody>
      </p:sp>
      <p:sp>
        <p:nvSpPr>
          <p:cNvPr id="23" name="Shape 17"/>
          <p:cNvSpPr/>
          <p:nvPr/>
        </p:nvSpPr>
        <p:spPr>
          <a:xfrm>
            <a:off x="6845656" y="2206283"/>
            <a:ext cx="105613" cy="91"/>
          </a:xfrm>
          <a:prstGeom prst="line">
            <a:avLst/>
          </a:prstGeom>
          <a:noFill/>
          <a:ln w="12700">
            <a:solidFill>
              <a:schemeClr val="accent6"/>
            </a:solidFill>
            <a:prstDash val="solid"/>
            <a:tailEnd type="triangle"/>
          </a:ln>
        </p:spPr>
      </p:sp>
      <p:pic>
        <p:nvPicPr>
          <p:cNvPr id="24" name="Image 4" descr="Z:\Projects\Ragnarok\presentation\assets\thumb_exposure.png">    </p:cNvPr>
          <p:cNvPicPr>
            <a:picLocks noChangeAspect="1"/>
          </p:cNvPicPr>
          <p:nvPr/>
        </p:nvPicPr>
        <p:blipFill>
          <a:blip r:embed="rId5"/>
          <a:srcRect l="0" r="0" t="0" b="0"/>
          <a:stretch/>
        </p:blipFill>
        <p:spPr>
          <a:xfrm>
            <a:off x="6969557" y="1737360"/>
            <a:ext cx="1463040" cy="937846"/>
          </a:xfrm>
          <a:prstGeom prst="rect">
            <a:avLst/>
          </a:prstGeom>
        </p:spPr>
      </p:pic>
      <p:sp>
        <p:nvSpPr>
          <p:cNvPr id="25" name="Shape 18"/>
          <p:cNvSpPr/>
          <p:nvPr/>
        </p:nvSpPr>
        <p:spPr>
          <a:xfrm>
            <a:off x="6969557" y="1737360"/>
            <a:ext cx="1463040" cy="937846"/>
          </a:xfrm>
          <a:prstGeom prst="rect">
            <a:avLst/>
          </a:prstGeom>
          <a:solidFill>
            <a:schemeClr val="tx1">
              <a:alpha val="0"/>
            </a:schemeClr>
          </a:solidFill>
          <a:ln w="9525">
            <a:solidFill>
              <a:schemeClr val="accent5"/>
            </a:solidFill>
            <a:prstDash val="solid"/>
          </a:ln>
        </p:spPr>
      </p:sp>
      <p:sp>
        <p:nvSpPr>
          <p:cNvPr id="26" name="Text 19"/>
          <p:cNvSpPr txBox="1"/>
          <p:nvPr/>
        </p:nvSpPr>
        <p:spPr>
          <a:xfrm>
            <a:off x="6969557" y="2766646"/>
            <a:ext cx="1463040" cy="27432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5  </a:t>
            </a:r>
            <a:pPr indent="0" marL="0">
              <a:buNone/>
            </a:pPr>
            <a:r>
              <a:rPr lang="en-US" sz="1400" b="1" dirty="0">
                <a:solidFill>
                  <a:schemeClr val="bg1"/>
                </a:solidFill>
              </a:rPr>
              <a:t>Measure</a:t>
            </a:r>
            <a:endParaRPr lang="en-US" sz="1400" dirty="0"/>
          </a:p>
        </p:txBody>
      </p:sp>
      <p:sp>
        <p:nvSpPr>
          <p:cNvPr id="27" name="Text 20"/>
          <p:cNvSpPr txBox="1"/>
          <p:nvPr/>
        </p:nvSpPr>
        <p:spPr>
          <a:xfrm>
            <a:off x="6969557" y="3040966"/>
            <a:ext cx="1463040" cy="411480"/>
          </a:xfrm>
          <a:prstGeom prst="rect">
            <a:avLst/>
          </a:prstGeom>
          <a:noFill/>
          <a:ln/>
        </p:spPr>
        <p:txBody>
          <a:bodyPr wrap="square" lIns="0" tIns="0" rIns="0" bIns="0" rtlCol="0" anchor="t"/>
          <a:lstStyle/>
          <a:p>
            <a:pPr indent="0" marL="0">
              <a:buNone/>
            </a:pPr>
            <a:r>
              <a:rPr lang="en-US" sz="1100" dirty="0">
                <a:solidFill>
                  <a:schemeClr val="bg2"/>
                </a:solidFill>
              </a:rPr>
              <a:t>ranges and calculations</a:t>
            </a:r>
            <a:endParaRPr lang="en-US" sz="1100" dirty="0"/>
          </a:p>
        </p:txBody>
      </p:sp>
      <p:sp>
        <p:nvSpPr>
          <p:cNvPr id="28" name="Shape 21"/>
          <p:cNvSpPr/>
          <p:nvPr/>
        </p:nvSpPr>
        <p:spPr>
          <a:xfrm>
            <a:off x="8450885" y="2206283"/>
            <a:ext cx="105613" cy="91"/>
          </a:xfrm>
          <a:prstGeom prst="line">
            <a:avLst/>
          </a:prstGeom>
          <a:noFill/>
          <a:ln w="12700">
            <a:solidFill>
              <a:schemeClr val="accent6"/>
            </a:solidFill>
            <a:prstDash val="solid"/>
            <a:tailEnd type="triangle"/>
          </a:ln>
        </p:spPr>
      </p:sp>
      <p:pic>
        <p:nvPicPr>
          <p:cNvPr id="29" name="Image 5" descr="Z:\Projects\Ragnarok\presentation\assets\thumb_trace.png">    </p:cNvPr>
          <p:cNvPicPr>
            <a:picLocks noChangeAspect="1"/>
          </p:cNvPicPr>
          <p:nvPr/>
        </p:nvPicPr>
        <p:blipFill>
          <a:blip r:embed="rId6"/>
          <a:srcRect l="0" r="0" t="0" b="0"/>
          <a:stretch/>
        </p:blipFill>
        <p:spPr>
          <a:xfrm>
            <a:off x="8574786" y="1737360"/>
            <a:ext cx="1463040" cy="937846"/>
          </a:xfrm>
          <a:prstGeom prst="rect">
            <a:avLst/>
          </a:prstGeom>
        </p:spPr>
      </p:pic>
      <p:sp>
        <p:nvSpPr>
          <p:cNvPr id="30" name="Shape 22"/>
          <p:cNvSpPr/>
          <p:nvPr/>
        </p:nvSpPr>
        <p:spPr>
          <a:xfrm>
            <a:off x="8574786" y="1737360"/>
            <a:ext cx="1463040" cy="937846"/>
          </a:xfrm>
          <a:prstGeom prst="rect">
            <a:avLst/>
          </a:prstGeom>
          <a:solidFill>
            <a:schemeClr val="tx1">
              <a:alpha val="0"/>
            </a:schemeClr>
          </a:solidFill>
          <a:ln w="9525">
            <a:solidFill>
              <a:schemeClr val="accent5"/>
            </a:solidFill>
            <a:prstDash val="solid"/>
          </a:ln>
        </p:spPr>
      </p:sp>
      <p:sp>
        <p:nvSpPr>
          <p:cNvPr id="31" name="Text 23"/>
          <p:cNvSpPr txBox="1"/>
          <p:nvPr/>
        </p:nvSpPr>
        <p:spPr>
          <a:xfrm>
            <a:off x="8574786" y="2766646"/>
            <a:ext cx="1463040" cy="27432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6  </a:t>
            </a:r>
            <a:pPr indent="0" marL="0">
              <a:buNone/>
            </a:pPr>
            <a:r>
              <a:rPr lang="en-US" sz="1400" b="1" dirty="0">
                <a:solidFill>
                  <a:schemeClr val="bg1"/>
                </a:solidFill>
              </a:rPr>
              <a:t>Trace</a:t>
            </a:r>
            <a:endParaRPr lang="en-US" sz="1400" dirty="0"/>
          </a:p>
        </p:txBody>
      </p:sp>
      <p:sp>
        <p:nvSpPr>
          <p:cNvPr id="32" name="Text 24"/>
          <p:cNvSpPr txBox="1"/>
          <p:nvPr/>
        </p:nvSpPr>
        <p:spPr>
          <a:xfrm>
            <a:off x="8574786" y="3040966"/>
            <a:ext cx="1463040" cy="411480"/>
          </a:xfrm>
          <a:prstGeom prst="rect">
            <a:avLst/>
          </a:prstGeom>
          <a:noFill/>
          <a:ln/>
        </p:spPr>
        <p:txBody>
          <a:bodyPr wrap="square" lIns="0" tIns="0" rIns="0" bIns="0" rtlCol="0" anchor="t"/>
          <a:lstStyle/>
          <a:p>
            <a:pPr indent="0" marL="0">
              <a:buNone/>
            </a:pPr>
            <a:r>
              <a:rPr lang="en-US" sz="1100" dirty="0">
                <a:solidFill>
                  <a:schemeClr val="bg2"/>
                </a:solidFill>
              </a:rPr>
              <a:t>send-back, run 2, memory</a:t>
            </a:r>
            <a:endParaRPr lang="en-US" sz="1100" dirty="0"/>
          </a:p>
        </p:txBody>
      </p:sp>
      <p:sp>
        <p:nvSpPr>
          <p:cNvPr id="33" name="Shape 25"/>
          <p:cNvSpPr/>
          <p:nvPr/>
        </p:nvSpPr>
        <p:spPr>
          <a:xfrm>
            <a:off x="10056114" y="2206283"/>
            <a:ext cx="105613" cy="91"/>
          </a:xfrm>
          <a:prstGeom prst="line">
            <a:avLst/>
          </a:prstGeom>
          <a:noFill/>
          <a:ln w="12700">
            <a:solidFill>
              <a:schemeClr val="accent6"/>
            </a:solidFill>
            <a:prstDash val="solid"/>
            <a:tailEnd type="triangle"/>
          </a:ln>
        </p:spPr>
      </p:sp>
      <p:pic>
        <p:nvPicPr>
          <p:cNvPr id="34" name="Image 6" descr="Z:\Projects\Ragnarok\presentation\assets\thumb_briefing.png">    </p:cNvPr>
          <p:cNvPicPr>
            <a:picLocks noChangeAspect="1"/>
          </p:cNvPicPr>
          <p:nvPr/>
        </p:nvPicPr>
        <p:blipFill>
          <a:blip r:embed="rId7"/>
          <a:srcRect l="0" r="0" t="0" b="0"/>
          <a:stretch/>
        </p:blipFill>
        <p:spPr>
          <a:xfrm>
            <a:off x="10180015" y="1737360"/>
            <a:ext cx="1463040" cy="937846"/>
          </a:xfrm>
          <a:prstGeom prst="rect">
            <a:avLst/>
          </a:prstGeom>
        </p:spPr>
      </p:pic>
      <p:sp>
        <p:nvSpPr>
          <p:cNvPr id="35" name="Shape 26"/>
          <p:cNvSpPr/>
          <p:nvPr/>
        </p:nvSpPr>
        <p:spPr>
          <a:xfrm>
            <a:off x="10180015" y="1737360"/>
            <a:ext cx="1463040" cy="937846"/>
          </a:xfrm>
          <a:prstGeom prst="rect">
            <a:avLst/>
          </a:prstGeom>
          <a:solidFill>
            <a:schemeClr val="tx1">
              <a:alpha val="0"/>
            </a:schemeClr>
          </a:solidFill>
          <a:ln w="9525">
            <a:solidFill>
              <a:schemeClr val="accent5"/>
            </a:solidFill>
            <a:prstDash val="solid"/>
          </a:ln>
        </p:spPr>
      </p:sp>
      <p:sp>
        <p:nvSpPr>
          <p:cNvPr id="36" name="Text 27"/>
          <p:cNvSpPr txBox="1"/>
          <p:nvPr/>
        </p:nvSpPr>
        <p:spPr>
          <a:xfrm>
            <a:off x="10180015" y="2766646"/>
            <a:ext cx="1463040" cy="27432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7  </a:t>
            </a:r>
            <a:pPr indent="0" marL="0">
              <a:buNone/>
            </a:pPr>
            <a:r>
              <a:rPr lang="en-US" sz="1400" b="1" dirty="0">
                <a:solidFill>
                  <a:schemeClr val="bg1"/>
                </a:solidFill>
              </a:rPr>
              <a:t>Brief</a:t>
            </a:r>
            <a:endParaRPr lang="en-US" sz="1400" dirty="0"/>
          </a:p>
        </p:txBody>
      </p:sp>
      <p:sp>
        <p:nvSpPr>
          <p:cNvPr id="37" name="Text 28"/>
          <p:cNvSpPr txBox="1"/>
          <p:nvPr/>
        </p:nvSpPr>
        <p:spPr>
          <a:xfrm>
            <a:off x="10180015" y="3040966"/>
            <a:ext cx="1463040" cy="411480"/>
          </a:xfrm>
          <a:prstGeom prst="rect">
            <a:avLst/>
          </a:prstGeom>
          <a:noFill/>
          <a:ln/>
        </p:spPr>
        <p:txBody>
          <a:bodyPr wrap="square" lIns="0" tIns="0" rIns="0" bIns="0" rtlCol="0" anchor="t"/>
          <a:lstStyle/>
          <a:p>
            <a:pPr indent="0" marL="0">
              <a:buNone/>
            </a:pPr>
            <a:r>
              <a:rPr lang="en-US" sz="1100" dirty="0">
                <a:solidFill>
                  <a:schemeClr val="bg2"/>
                </a:solidFill>
              </a:rPr>
              <a:t>report and exports</a:t>
            </a:r>
            <a:endParaRPr lang="en-US" sz="1100" dirty="0"/>
          </a:p>
        </p:txBody>
      </p:sp>
      <p:sp>
        <p:nvSpPr>
          <p:cNvPr id="38" name="Text 29"/>
          <p:cNvSpPr txBox="1"/>
          <p:nvPr/>
        </p:nvSpPr>
        <p:spPr>
          <a:xfrm>
            <a:off x="548640" y="3611880"/>
            <a:ext cx="11094415"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THE SAVED TWO-RUN CASE, A REAL GEMINI RUN ON THE DEV PACK</a:t>
            </a:r>
            <a:endParaRPr lang="en-US" sz="1000" dirty="0"/>
          </a:p>
        </p:txBody>
      </p:sp>
      <p:sp>
        <p:nvSpPr>
          <p:cNvPr id="39" name="Text 30"/>
          <p:cNvSpPr txBox="1"/>
          <p:nvPr/>
        </p:nvSpPr>
        <p:spPr>
          <a:xfrm>
            <a:off x="548640" y="3858768"/>
            <a:ext cx="2127443" cy="548640"/>
          </a:xfrm>
          <a:prstGeom prst="rect">
            <a:avLst/>
          </a:prstGeom>
          <a:noFill/>
          <a:ln/>
        </p:spPr>
        <p:txBody>
          <a:bodyPr wrap="square" lIns="0" tIns="0" rIns="0" bIns="0" rtlCol="0" anchor="t"/>
          <a:lstStyle/>
          <a:p>
            <a:pPr indent="0" marL="0">
              <a:buNone/>
            </a:pPr>
            <a:r>
              <a:rPr lang="en-US" sz="3400" dirty="0">
                <a:solidFill>
                  <a:schemeClr val="bg1"/>
                </a:solidFill>
                <a:latin typeface="Garamond" pitchFamily="34" charset="0"/>
                <a:ea typeface="Garamond" pitchFamily="34" charset="-122"/>
                <a:cs typeface="Garamond" pitchFamily="34" charset="-120"/>
              </a:rPr>
              <a:t>24</a:t>
            </a:r>
            <a:endParaRPr lang="en-US" sz="3400" dirty="0"/>
          </a:p>
        </p:txBody>
      </p:sp>
      <p:sp>
        <p:nvSpPr>
          <p:cNvPr id="40" name="Text 31"/>
          <p:cNvSpPr txBox="1"/>
          <p:nvPr/>
        </p:nvSpPr>
        <p:spPr>
          <a:xfrm>
            <a:off x="548640" y="4407408"/>
            <a:ext cx="2127443" cy="274320"/>
          </a:xfrm>
          <a:prstGeom prst="rect">
            <a:avLst/>
          </a:prstGeom>
          <a:noFill/>
          <a:ln/>
        </p:spPr>
        <p:txBody>
          <a:bodyPr wrap="square" lIns="0" tIns="0" rIns="0" bIns="0" rtlCol="0" anchor="t"/>
          <a:lstStyle/>
          <a:p>
            <a:pPr indent="0" marL="0">
              <a:buNone/>
            </a:pPr>
            <a:r>
              <a:rPr lang="en-US" sz="1200" dirty="0">
                <a:solidFill>
                  <a:schemeClr val="bg2"/>
                </a:solidFill>
              </a:rPr>
              <a:t>model requests</a:t>
            </a:r>
            <a:endParaRPr lang="en-US" sz="1200" dirty="0"/>
          </a:p>
        </p:txBody>
      </p:sp>
      <p:sp>
        <p:nvSpPr>
          <p:cNvPr id="41" name="Text 32"/>
          <p:cNvSpPr txBox="1"/>
          <p:nvPr/>
        </p:nvSpPr>
        <p:spPr>
          <a:xfrm>
            <a:off x="2767523" y="3858768"/>
            <a:ext cx="2127443" cy="548640"/>
          </a:xfrm>
          <a:prstGeom prst="rect">
            <a:avLst/>
          </a:prstGeom>
          <a:noFill/>
          <a:ln/>
        </p:spPr>
        <p:txBody>
          <a:bodyPr wrap="square" lIns="0" tIns="0" rIns="0" bIns="0" rtlCol="0" anchor="t"/>
          <a:lstStyle/>
          <a:p>
            <a:pPr indent="0" marL="0">
              <a:buNone/>
            </a:pPr>
            <a:r>
              <a:rPr lang="en-US" sz="3400" dirty="0">
                <a:solidFill>
                  <a:schemeClr val="bg1"/>
                </a:solidFill>
                <a:latin typeface="Garamond" pitchFamily="34" charset="0"/>
                <a:ea typeface="Garamond" pitchFamily="34" charset="-122"/>
                <a:cs typeface="Garamond" pitchFamily="34" charset="-120"/>
              </a:rPr>
              <a:t>9</a:t>
            </a:r>
            <a:endParaRPr lang="en-US" sz="3400" dirty="0"/>
          </a:p>
        </p:txBody>
      </p:sp>
      <p:sp>
        <p:nvSpPr>
          <p:cNvPr id="42" name="Text 33"/>
          <p:cNvSpPr txBox="1"/>
          <p:nvPr/>
        </p:nvSpPr>
        <p:spPr>
          <a:xfrm>
            <a:off x="2767523" y="4407408"/>
            <a:ext cx="2127443" cy="274320"/>
          </a:xfrm>
          <a:prstGeom prst="rect">
            <a:avLst/>
          </a:prstGeom>
          <a:noFill/>
          <a:ln/>
        </p:spPr>
        <p:txBody>
          <a:bodyPr wrap="square" lIns="0" tIns="0" rIns="0" bIns="0" rtlCol="0" anchor="t"/>
          <a:lstStyle/>
          <a:p>
            <a:pPr indent="0" marL="0">
              <a:buNone/>
            </a:pPr>
            <a:r>
              <a:rPr lang="en-US" sz="1200" dirty="0">
                <a:solidFill>
                  <a:schemeClr val="bg2"/>
                </a:solidFill>
              </a:rPr>
              <a:t>claims ruled</a:t>
            </a:r>
            <a:endParaRPr lang="en-US" sz="1200" dirty="0"/>
          </a:p>
        </p:txBody>
      </p:sp>
      <p:sp>
        <p:nvSpPr>
          <p:cNvPr id="43" name="Text 34"/>
          <p:cNvSpPr txBox="1"/>
          <p:nvPr/>
        </p:nvSpPr>
        <p:spPr>
          <a:xfrm>
            <a:off x="4986406" y="3858768"/>
            <a:ext cx="2127443" cy="548640"/>
          </a:xfrm>
          <a:prstGeom prst="rect">
            <a:avLst/>
          </a:prstGeom>
          <a:noFill/>
          <a:ln/>
        </p:spPr>
        <p:txBody>
          <a:bodyPr wrap="square" lIns="0" tIns="0" rIns="0" bIns="0" rtlCol="0" anchor="t"/>
          <a:lstStyle/>
          <a:p>
            <a:pPr indent="0" marL="0">
              <a:buNone/>
            </a:pPr>
            <a:r>
              <a:rPr lang="en-US" sz="3400" dirty="0">
                <a:solidFill>
                  <a:schemeClr val="bg1"/>
                </a:solidFill>
                <a:latin typeface="Garamond" pitchFamily="34" charset="0"/>
                <a:ea typeface="Garamond" pitchFamily="34" charset="-122"/>
                <a:cs typeface="Garamond" pitchFamily="34" charset="-120"/>
              </a:rPr>
              <a:t>8</a:t>
            </a:r>
            <a:endParaRPr lang="en-US" sz="3400" dirty="0"/>
          </a:p>
        </p:txBody>
      </p:sp>
      <p:sp>
        <p:nvSpPr>
          <p:cNvPr id="44" name="Text 35"/>
          <p:cNvSpPr txBox="1"/>
          <p:nvPr/>
        </p:nvSpPr>
        <p:spPr>
          <a:xfrm>
            <a:off x="4986406" y="4407408"/>
            <a:ext cx="2127443" cy="274320"/>
          </a:xfrm>
          <a:prstGeom prst="rect">
            <a:avLst/>
          </a:prstGeom>
          <a:noFill/>
          <a:ln/>
        </p:spPr>
        <p:txBody>
          <a:bodyPr wrap="square" lIns="0" tIns="0" rIns="0" bIns="0" rtlCol="0" anchor="t"/>
          <a:lstStyle/>
          <a:p>
            <a:pPr indent="0" marL="0">
              <a:buNone/>
            </a:pPr>
            <a:r>
              <a:rPr lang="en-US" sz="1200" dirty="0">
                <a:solidFill>
                  <a:schemeClr val="bg2"/>
                </a:solidFill>
              </a:rPr>
              <a:t>attacks, 4 each way</a:t>
            </a:r>
            <a:endParaRPr lang="en-US" sz="1200" dirty="0"/>
          </a:p>
        </p:txBody>
      </p:sp>
      <p:sp>
        <p:nvSpPr>
          <p:cNvPr id="45" name="Text 36"/>
          <p:cNvSpPr txBox="1"/>
          <p:nvPr/>
        </p:nvSpPr>
        <p:spPr>
          <a:xfrm>
            <a:off x="7205289" y="3858768"/>
            <a:ext cx="2127443" cy="548640"/>
          </a:xfrm>
          <a:prstGeom prst="rect">
            <a:avLst/>
          </a:prstGeom>
          <a:noFill/>
          <a:ln/>
        </p:spPr>
        <p:txBody>
          <a:bodyPr wrap="square" lIns="0" tIns="0" rIns="0" bIns="0" rtlCol="0" anchor="t"/>
          <a:lstStyle/>
          <a:p>
            <a:pPr indent="0" marL="0">
              <a:buNone/>
            </a:pPr>
            <a:r>
              <a:rPr lang="en-US" sz="3400" dirty="0">
                <a:solidFill>
                  <a:schemeClr val="bg1"/>
                </a:solidFill>
                <a:latin typeface="Garamond" pitchFamily="34" charset="0"/>
                <a:ea typeface="Garamond" pitchFamily="34" charset="-122"/>
                <a:cs typeface="Garamond" pitchFamily="34" charset="-120"/>
              </a:rPr>
              <a:t>13</a:t>
            </a:r>
            <a:endParaRPr lang="en-US" sz="3400" dirty="0"/>
          </a:p>
        </p:txBody>
      </p:sp>
      <p:sp>
        <p:nvSpPr>
          <p:cNvPr id="46" name="Text 37"/>
          <p:cNvSpPr txBox="1"/>
          <p:nvPr/>
        </p:nvSpPr>
        <p:spPr>
          <a:xfrm>
            <a:off x="7205289" y="4407408"/>
            <a:ext cx="2127443" cy="274320"/>
          </a:xfrm>
          <a:prstGeom prst="rect">
            <a:avLst/>
          </a:prstGeom>
          <a:noFill/>
          <a:ln/>
        </p:spPr>
        <p:txBody>
          <a:bodyPr wrap="square" lIns="0" tIns="0" rIns="0" bIns="0" rtlCol="0" anchor="t"/>
          <a:lstStyle/>
          <a:p>
            <a:pPr indent="0" marL="0">
              <a:buNone/>
            </a:pPr>
            <a:r>
              <a:rPr lang="en-US" sz="1200" dirty="0">
                <a:solidFill>
                  <a:schemeClr val="bg2"/>
                </a:solidFill>
              </a:rPr>
              <a:t>new references in run 2</a:t>
            </a:r>
            <a:endParaRPr lang="en-US" sz="1200" dirty="0"/>
          </a:p>
        </p:txBody>
      </p:sp>
      <p:sp>
        <p:nvSpPr>
          <p:cNvPr id="47" name="Text 38"/>
          <p:cNvSpPr txBox="1"/>
          <p:nvPr/>
        </p:nvSpPr>
        <p:spPr>
          <a:xfrm>
            <a:off x="9424172" y="3858768"/>
            <a:ext cx="2127443" cy="548640"/>
          </a:xfrm>
          <a:prstGeom prst="rect">
            <a:avLst/>
          </a:prstGeom>
          <a:noFill/>
          <a:ln/>
        </p:spPr>
        <p:txBody>
          <a:bodyPr wrap="square" lIns="0" tIns="0" rIns="0" bIns="0" rtlCol="0" anchor="t"/>
          <a:lstStyle/>
          <a:p>
            <a:pPr indent="0" marL="0">
              <a:buNone/>
            </a:pPr>
            <a:r>
              <a:rPr lang="en-US" sz="3400" dirty="0">
                <a:solidFill>
                  <a:schemeClr val="bg1"/>
                </a:solidFill>
                <a:latin typeface="Garamond" pitchFamily="34" charset="0"/>
                <a:ea typeface="Garamond" pitchFamily="34" charset="-122"/>
                <a:cs typeface="Garamond" pitchFamily="34" charset="-120"/>
              </a:rPr>
              <a:t>6</a:t>
            </a:r>
            <a:endParaRPr lang="en-US" sz="3400" dirty="0"/>
          </a:p>
        </p:txBody>
      </p:sp>
      <p:sp>
        <p:nvSpPr>
          <p:cNvPr id="48" name="Text 39"/>
          <p:cNvSpPr txBox="1"/>
          <p:nvPr/>
        </p:nvSpPr>
        <p:spPr>
          <a:xfrm>
            <a:off x="9424172" y="4407408"/>
            <a:ext cx="2127443" cy="274320"/>
          </a:xfrm>
          <a:prstGeom prst="rect">
            <a:avLst/>
          </a:prstGeom>
          <a:noFill/>
          <a:ln/>
        </p:spPr>
        <p:txBody>
          <a:bodyPr wrap="square" lIns="0" tIns="0" rIns="0" bIns="0" rtlCol="0" anchor="t"/>
          <a:lstStyle/>
          <a:p>
            <a:pPr indent="0" marL="0">
              <a:buNone/>
            </a:pPr>
            <a:r>
              <a:rPr lang="en-US" sz="1200" dirty="0">
                <a:solidFill>
                  <a:schemeClr val="bg2"/>
                </a:solidFill>
              </a:rPr>
              <a:t>logged memory changes</a:t>
            </a:r>
            <a:endParaRPr lang="en-US" sz="1200" dirty="0"/>
          </a:p>
        </p:txBody>
      </p:sp>
      <p:sp>
        <p:nvSpPr>
          <p:cNvPr id="49" name="Shape 40"/>
          <p:cNvSpPr/>
          <p:nvPr/>
        </p:nvSpPr>
        <p:spPr>
          <a:xfrm>
            <a:off x="548640" y="4892040"/>
            <a:ext cx="11094415" cy="1371600"/>
          </a:xfrm>
          <a:prstGeom prst="rect">
            <a:avLst/>
          </a:prstGeom>
          <a:solidFill>
            <a:schemeClr val="accent4">
              <a:alpha val="80000"/>
            </a:schemeClr>
          </a:solidFill>
          <a:ln w="9525">
            <a:solidFill>
              <a:schemeClr val="accent5"/>
            </a:solidFill>
            <a:prstDash val="solid"/>
          </a:ln>
        </p:spPr>
      </p:sp>
      <p:sp>
        <p:nvSpPr>
          <p:cNvPr id="50" name="Text 41"/>
          <p:cNvSpPr txBox="1"/>
          <p:nvPr/>
        </p:nvSpPr>
        <p:spPr>
          <a:xfrm>
            <a:off x="731520" y="5010912"/>
            <a:ext cx="2743200" cy="228600"/>
          </a:xfrm>
          <a:prstGeom prst="rect">
            <a:avLst/>
          </a:prstGeom>
          <a:noFill/>
          <a:ln/>
        </p:spPr>
        <p:txBody>
          <a:bodyPr wrap="square" lIns="0" tIns="0" rIns="0" bIns="0" rtlCol="0" anchor="t"/>
          <a:lstStyle/>
          <a:p>
            <a:pPr indent="0" marL="0">
              <a:buNone/>
            </a:pPr>
            <a:r>
              <a:rPr lang="en-US" sz="1000" spc="200" kern="0" dirty="0">
                <a:solidFill>
                  <a:schemeClr val="accent3"/>
                </a:solidFill>
                <a:latin typeface="Consolas" pitchFamily="34" charset="0"/>
                <a:ea typeface="Consolas" pitchFamily="34" charset="-122"/>
                <a:cs typeface="Consolas" pitchFamily="34" charset="-120"/>
              </a:rPr>
              <a:t>LIMITATIONS</a:t>
            </a:r>
            <a:endParaRPr lang="en-US" sz="1000" dirty="0"/>
          </a:p>
        </p:txBody>
      </p:sp>
      <p:sp>
        <p:nvSpPr>
          <p:cNvPr id="51" name="Text 42"/>
          <p:cNvSpPr txBox="1"/>
          <p:nvPr/>
        </p:nvSpPr>
        <p:spPr>
          <a:xfrm>
            <a:off x="731520" y="5303520"/>
            <a:ext cx="5272888" cy="9144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Conclusions are only as good as the evidence available.</a:t>
            </a:r>
            <a:endParaRPr lang="en-US" sz="1200" dirty="0"/>
          </a:p>
          <a:p>
            <a:pPr marL="152400" indent="-152400">
              <a:spcAft>
                <a:spcPts val="300"/>
              </a:spcAft>
              <a:buSzPct val="100000"/>
              <a:buChar char="•"/>
            </a:pPr>
            <a:r>
              <a:rPr lang="en-US" sz="1200" dirty="0">
                <a:solidFill>
                  <a:schemeClr val="bg1"/>
                </a:solidFill>
              </a:rPr>
              <a:t>Cases can stay incomplete. This one did: no Tolan maize data is in the pack.</a:t>
            </a:r>
            <a:endParaRPr lang="en-US" sz="1200" dirty="0"/>
          </a:p>
          <a:p>
            <a:pPr marL="152400" indent="-152400">
              <a:spcAft>
                <a:spcPts val="300"/>
              </a:spcAft>
              <a:buSzPct val="100000"/>
              <a:buChar char="•"/>
            </a:pPr>
            <a:r>
              <a:rPr lang="en-US" sz="1200" dirty="0">
                <a:solidFill>
                  <a:schemeClr val="bg1"/>
                </a:solidFill>
              </a:rPr>
              <a:t>Argument quality depends on the model; claims still need scrutiny.</a:t>
            </a:r>
            <a:endParaRPr lang="en-US" sz="1200" dirty="0"/>
          </a:p>
        </p:txBody>
      </p:sp>
      <p:sp>
        <p:nvSpPr>
          <p:cNvPr id="52" name="Text 43"/>
          <p:cNvSpPr txBox="1"/>
          <p:nvPr/>
        </p:nvSpPr>
        <p:spPr>
          <a:xfrm>
            <a:off x="6187288" y="5303520"/>
            <a:ext cx="5272888" cy="9144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bg1"/>
                </a:solidFill>
              </a:rPr>
              <a:t>Daily model quotas can pause a run until the reset.</a:t>
            </a:r>
            <a:endParaRPr lang="en-US" sz="1200" dirty="0"/>
          </a:p>
          <a:p>
            <a:pPr marL="152400" indent="-152400">
              <a:spcAft>
                <a:spcPts val="300"/>
              </a:spcAft>
              <a:buSzPct val="100000"/>
              <a:buChar char="•"/>
            </a:pPr>
            <a:r>
              <a:rPr lang="en-US" sz="1200" dirty="0">
                <a:solidFill>
                  <a:schemeClr val="bg1"/>
                </a:solidFill>
              </a:rPr>
              <a:t>A second run does not guarantee new evidence.</a:t>
            </a:r>
            <a:endParaRPr lang="en-US" sz="12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914400" y="502920"/>
            <a:ext cx="10362895" cy="1417320"/>
          </a:xfrm>
          <a:prstGeom prst="rect">
            <a:avLst/>
          </a:prstGeom>
          <a:noFill/>
          <a:ln/>
        </p:spPr>
        <p:txBody>
          <a:bodyPr wrap="square" lIns="0" tIns="0" rIns="0" bIns="0" rtlCol="0" anchor="ctr"/>
          <a:lstStyle/>
          <a:p>
            <a:pPr algn="ctr" indent="0" marL="0">
              <a:buNone/>
            </a:pPr>
            <a:r>
              <a:rPr lang="en-US" sz="4000" dirty="0">
                <a:solidFill>
                  <a:schemeClr val="bg1"/>
                </a:solidFill>
                <a:latin typeface="Garamond" pitchFamily="34" charset="0"/>
                <a:ea typeface="Garamond" pitchFamily="34" charset="-122"/>
                <a:cs typeface="Garamond" pitchFamily="34" charset="-120"/>
              </a:rPr>
              <a:t>When the evidence is contested,</a:t>
            </a:r>
            <a:endParaRPr lang="en-US" sz="4000" dirty="0"/>
          </a:p>
          <a:p>
            <a:pPr algn="ctr" indent="0" marL="0">
              <a:buNone/>
            </a:pPr>
            <a:r>
              <a:rPr lang="en-US" sz="4000" dirty="0">
                <a:solidFill>
                  <a:schemeClr val="bg1"/>
                </a:solidFill>
                <a:latin typeface="Garamond" pitchFamily="34" charset="0"/>
                <a:ea typeface="Garamond" pitchFamily="34" charset="-122"/>
                <a:cs typeface="Garamond" pitchFamily="34" charset="-120"/>
              </a:rPr>
              <a:t>the decision must be earned.</a:t>
            </a:r>
            <a:endParaRPr lang="en-US" sz="4000" dirty="0"/>
          </a:p>
        </p:txBody>
      </p:sp>
      <p:sp>
        <p:nvSpPr>
          <p:cNvPr id="3" name="Text 1"/>
          <p:cNvSpPr txBox="1"/>
          <p:nvPr/>
        </p:nvSpPr>
        <p:spPr>
          <a:xfrm>
            <a:off x="914400" y="1965960"/>
            <a:ext cx="10362895" cy="365760"/>
          </a:xfrm>
          <a:prstGeom prst="rect">
            <a:avLst/>
          </a:prstGeom>
          <a:noFill/>
          <a:ln/>
        </p:spPr>
        <p:txBody>
          <a:bodyPr wrap="square" lIns="0" tIns="0" rIns="0" bIns="0" rtlCol="0" anchor="t"/>
          <a:lstStyle/>
          <a:p>
            <a:pPr algn="ctr" indent="0" marL="0">
              <a:buNone/>
            </a:pPr>
            <a:r>
              <a:rPr lang="en-US" sz="1500" spc="100" kern="0" dirty="0">
                <a:solidFill>
                  <a:schemeClr val="accent2"/>
                </a:solidFill>
              </a:rPr>
              <a:t>Research the event.  Challenge the claims.  Trace the numbers.  Judge the evidence.</a:t>
            </a:r>
            <a:endParaRPr lang="en-US" sz="1500" dirty="0"/>
          </a:p>
        </p:txBody>
      </p:sp>
      <p:sp>
        <p:nvSpPr>
          <p:cNvPr id="4" name="Text 2"/>
          <p:cNvSpPr txBox="1"/>
          <p:nvPr/>
        </p:nvSpPr>
        <p:spPr>
          <a:xfrm>
            <a:off x="548640" y="6263640"/>
            <a:ext cx="6400800" cy="274320"/>
          </a:xfrm>
          <a:prstGeom prst="rect">
            <a:avLst/>
          </a:prstGeom>
          <a:noFill/>
          <a:ln/>
        </p:spPr>
        <p:txBody>
          <a:bodyPr wrap="square" lIns="0" tIns="0" rIns="0" bIns="0" rtlCol="0" anchor="t"/>
          <a:lstStyle/>
          <a:p>
            <a:pPr indent="0" marL="0">
              <a:buNone/>
            </a:pPr>
            <a:r>
              <a:rPr lang="en-US" sz="1000" spc="200" kern="0" dirty="0">
                <a:solidFill>
                  <a:schemeClr val="bg2"/>
                </a:solidFill>
                <a:latin typeface="Consolas" pitchFamily="34" charset="0"/>
                <a:ea typeface="Consolas" pitchFamily="34" charset="-122"/>
                <a:cs typeface="Consolas" pitchFamily="34" charset="-120"/>
              </a:rPr>
              <a:t>RAGNAROK  ·  TRIAL OF THE NINE REALMS</a:t>
            </a:r>
            <a:endParaRPr lang="en-US" sz="1000" dirty="0"/>
          </a:p>
        </p:txBody>
      </p:sp>
      <p:sp>
        <p:nvSpPr>
          <p:cNvPr id="5" name="Text 3"/>
          <p:cNvSpPr txBox="1"/>
          <p:nvPr/>
        </p:nvSpPr>
        <p:spPr>
          <a:xfrm>
            <a:off x="8899855" y="6172200"/>
            <a:ext cx="2743200" cy="365760"/>
          </a:xfrm>
          <a:prstGeom prst="rect">
            <a:avLst/>
          </a:prstGeom>
          <a:noFill/>
          <a:ln/>
        </p:spPr>
        <p:txBody>
          <a:bodyPr wrap="square" lIns="0" tIns="0" rIns="0" bIns="0" rtlCol="0" anchor="t"/>
          <a:lstStyle/>
          <a:p>
            <a:pPr algn="r" indent="0" marL="0">
              <a:buNone/>
            </a:pPr>
            <a:r>
              <a:rPr lang="en-US" sz="2000" i="1" dirty="0">
                <a:solidFill>
                  <a:schemeClr val="bg1"/>
                </a:solidFill>
                <a:latin typeface="Garamond" pitchFamily="34" charset="0"/>
                <a:ea typeface="Garamond" pitchFamily="34" charset="-122"/>
                <a:cs typeface="Garamond" pitchFamily="34" charset="-120"/>
              </a:rPr>
              <a:t>Questions?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APPENDIX A  ·  TECHNICAL REFERENCE</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Endpoints, live updates and ingestion</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035040" cy="914400"/>
        </p:xfrm>
        <a:graphic>
          <a:graphicData uri="http://schemas.openxmlformats.org/drawingml/2006/table">
            <a:tbl>
              <a:tblPr/>
              <a:tblGrid>
                <a:gridCol w="2514600"/>
                <a:gridCol w="3520440"/>
              </a:tblGrid>
              <a:tr h="384048">
                <a:tc>
                  <a:txBody>
                    <a:bodyPr/>
                    <a:lstStyle/>
                    <a:p>
                      <a:pPr indent="0" marL="0">
                        <a:buNone/>
                      </a:pPr>
                      <a:r>
                        <a:rPr lang="en-US" sz="1000" dirty="0">
                          <a:solidFill>
                            <a:srgbClr val="76B9FF"/>
                          </a:solidFill>
                          <a:latin typeface="Consolas" pitchFamily="34" charset="0"/>
                          <a:ea typeface="Consolas" pitchFamily="34" charset="-122"/>
                          <a:cs typeface="Consolas" pitchFamily="34" charset="-120"/>
                        </a:rPr>
                        <a:t>ENDPOINT</a:t>
                      </a:r>
                      <a:endParaRPr lang="en-US" sz="10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A1F2A"/>
                    </a:solidFill>
                  </a:tcPr>
                </a:tc>
                <a:tc>
                  <a:txBody>
                    <a:bodyPr/>
                    <a:lstStyle/>
                    <a:p>
                      <a:pPr indent="0" marL="0">
                        <a:buNone/>
                      </a:pPr>
                      <a:r>
                        <a:rPr lang="en-US" sz="1000" dirty="0">
                          <a:solidFill>
                            <a:srgbClr val="76B9FF"/>
                          </a:solidFill>
                          <a:latin typeface="Consolas" pitchFamily="34" charset="0"/>
                          <a:ea typeface="Consolas" pitchFamily="34" charset="-122"/>
                          <a:cs typeface="Consolas" pitchFamily="34" charset="-120"/>
                        </a:rPr>
                        <a:t>PURPOSE</a:t>
                      </a:r>
                      <a:endParaRPr lang="en-US" sz="10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A1F2A"/>
                    </a:solidFill>
                  </a:tcPr>
                </a:tc>
              </a:tr>
              <a:tr h="384048">
                <a:tc>
                  <a:txBody>
                    <a:bodyPr/>
                    <a:lstStyle/>
                    <a:p>
                      <a:pPr indent="0" marL="0">
                        <a:buNone/>
                      </a:pPr>
                      <a:r>
                        <a:rPr lang="en-US" sz="1100" dirty="0">
                          <a:solidFill>
                            <a:srgbClr val="E8E5DC"/>
                          </a:solidFill>
                          <a:latin typeface="Consolas" pitchFamily="34" charset="0"/>
                          <a:ea typeface="Consolas" pitchFamily="34" charset="-122"/>
                          <a:cs typeface="Consolas" pitchFamily="34" charset="-120"/>
                        </a:rPr>
                        <a:t>POST /cases</a:t>
                      </a:r>
                      <a:endParaRPr lang="en-US" sz="11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c>
                  <a:txBody>
                    <a:bodyPr/>
                    <a:lstStyle/>
                    <a:p>
                      <a:pPr indent="0" marL="0">
                        <a:buNone/>
                      </a:pPr>
                      <a:r>
                        <a:rPr lang="en-US" sz="1200" dirty="0">
                          <a:solidFill>
                            <a:srgbClr val="9299A6"/>
                          </a:solidFill>
                        </a:rPr>
                        <a:t>start a case (one at a time)</a:t>
                      </a:r>
                      <a:endParaRPr lang="en-US" sz="1200" dirty="0"/>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r>
              <a:tr h="384048">
                <a:tc>
                  <a:txBody>
                    <a:bodyPr/>
                    <a:lstStyle/>
                    <a:p>
                      <a:pPr indent="0" marL="0">
                        <a:buNone/>
                      </a:pPr>
                      <a:r>
                        <a:rPr lang="en-US" sz="1100" dirty="0">
                          <a:solidFill>
                            <a:srgbClr val="E8E5DC"/>
                          </a:solidFill>
                          <a:latin typeface="Consolas" pitchFamily="34" charset="0"/>
                          <a:ea typeface="Consolas" pitchFamily="34" charset="-122"/>
                          <a:cs typeface="Consolas" pitchFamily="34" charset="-120"/>
                        </a:rPr>
                        <a:t>GET /cases/{id}</a:t>
                      </a:r>
                      <a:endParaRPr lang="en-US" sz="11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c>
                  <a:txBody>
                    <a:bodyPr/>
                    <a:lstStyle/>
                    <a:p>
                      <a:pPr indent="0" marL="0">
                        <a:buNone/>
                      </a:pPr>
                      <a:r>
                        <a:rPr lang="en-US" sz="1200" dirty="0">
                          <a:solidFill>
                            <a:srgbClr val="9299A6"/>
                          </a:solidFill>
                        </a:rPr>
                        <a:t>status and results</a:t>
                      </a:r>
                      <a:endParaRPr lang="en-US" sz="1200" dirty="0"/>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r>
              <a:tr h="384048">
                <a:tc>
                  <a:txBody>
                    <a:bodyPr/>
                    <a:lstStyle/>
                    <a:p>
                      <a:pPr indent="0" marL="0">
                        <a:buNone/>
                      </a:pPr>
                      <a:r>
                        <a:rPr lang="en-US" sz="1100" dirty="0">
                          <a:solidFill>
                            <a:srgbClr val="E8E5DC"/>
                          </a:solidFill>
                          <a:latin typeface="Consolas" pitchFamily="34" charset="0"/>
                          <a:ea typeface="Consolas" pitchFamily="34" charset="-122"/>
                          <a:cs typeface="Consolas" pitchFamily="34" charset="-120"/>
                        </a:rPr>
                        <a:t>GET /cases/{id}/events</a:t>
                      </a:r>
                      <a:endParaRPr lang="en-US" sz="11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c>
                  <a:txBody>
                    <a:bodyPr/>
                    <a:lstStyle/>
                    <a:p>
                      <a:pPr indent="0" marL="0">
                        <a:buNone/>
                      </a:pPr>
                      <a:r>
                        <a:rPr lang="en-US" sz="1200" dirty="0">
                          <a:solidFill>
                            <a:srgbClr val="9299A6"/>
                          </a:solidFill>
                        </a:rPr>
                        <a:t>Server-Sent Events of the audit log</a:t>
                      </a:r>
                      <a:endParaRPr lang="en-US" sz="1200" dirty="0"/>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r>
              <a:tr h="384048">
                <a:tc>
                  <a:txBody>
                    <a:bodyPr/>
                    <a:lstStyle/>
                    <a:p>
                      <a:pPr indent="0" marL="0">
                        <a:buNone/>
                      </a:pPr>
                      <a:r>
                        <a:rPr lang="en-US" sz="1100" dirty="0">
                          <a:solidFill>
                            <a:srgbClr val="E8E5DC"/>
                          </a:solidFill>
                          <a:latin typeface="Consolas" pitchFamily="34" charset="0"/>
                          <a:ea typeface="Consolas" pitchFamily="34" charset="-122"/>
                          <a:cs typeface="Consolas" pitchFamily="34" charset="-120"/>
                        </a:rPr>
                        <a:t>POST /cases/{id}/resume</a:t>
                      </a:r>
                      <a:endParaRPr lang="en-US" sz="11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c>
                  <a:txBody>
                    <a:bodyPr/>
                    <a:lstStyle/>
                    <a:p>
                      <a:pPr indent="0" marL="0">
                        <a:buNone/>
                      </a:pPr>
                      <a:r>
                        <a:rPr lang="en-US" sz="1200" dirty="0">
                          <a:solidFill>
                            <a:srgbClr val="9299A6"/>
                          </a:solidFill>
                        </a:rPr>
                        <a:t>resume a failed, partial or paused case</a:t>
                      </a:r>
                      <a:endParaRPr lang="en-US" sz="1200" dirty="0"/>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r>
              <a:tr h="384048">
                <a:tc>
                  <a:txBody>
                    <a:bodyPr/>
                    <a:lstStyle/>
                    <a:p>
                      <a:pPr indent="0" marL="0">
                        <a:buNone/>
                      </a:pPr>
                      <a:r>
                        <a:rPr lang="en-US" sz="1100" dirty="0">
                          <a:solidFill>
                            <a:srgbClr val="E8E5DC"/>
                          </a:solidFill>
                          <a:latin typeface="Consolas" pitchFamily="34" charset="0"/>
                          <a:ea typeface="Consolas" pitchFamily="34" charset="-122"/>
                          <a:cs typeface="Consolas" pitchFamily="34" charset="-120"/>
                        </a:rPr>
                        <a:t>GET /docs/{id}[/{para}]</a:t>
                      </a:r>
                      <a:endParaRPr lang="en-US" sz="11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c>
                  <a:txBody>
                    <a:bodyPr/>
                    <a:lstStyle/>
                    <a:p>
                      <a:pPr indent="0" marL="0">
                        <a:buNone/>
                      </a:pPr>
                      <a:r>
                        <a:rPr lang="en-US" sz="1200" dirty="0">
                          <a:solidFill>
                            <a:srgbClr val="9299A6"/>
                          </a:solidFill>
                        </a:rPr>
                        <a:t>documents, as-of gated</a:t>
                      </a:r>
                      <a:endParaRPr lang="en-US" sz="1200" dirty="0"/>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r>
              <a:tr h="384048">
                <a:tc>
                  <a:txBody>
                    <a:bodyPr/>
                    <a:lstStyle/>
                    <a:p>
                      <a:pPr indent="0" marL="0">
                        <a:buNone/>
                      </a:pPr>
                      <a:r>
                        <a:rPr lang="en-US" sz="1100" dirty="0">
                          <a:solidFill>
                            <a:srgbClr val="E8E5DC"/>
                          </a:solidFill>
                          <a:latin typeface="Consolas" pitchFamily="34" charset="0"/>
                          <a:ea typeface="Consolas" pitchFamily="34" charset="-122"/>
                          <a:cs typeface="Consolas" pitchFamily="34" charset="-120"/>
                        </a:rPr>
                        <a:t>GET /trade/{table}[/{row}]</a:t>
                      </a:r>
                      <a:endParaRPr lang="en-US" sz="11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c>
                  <a:txBody>
                    <a:bodyPr/>
                    <a:lstStyle/>
                    <a:p>
                      <a:pPr indent="0" marL="0">
                        <a:buNone/>
                      </a:pPr>
                      <a:r>
                        <a:rPr lang="en-US" sz="1200" dirty="0">
                          <a:solidFill>
                            <a:srgbClr val="9299A6"/>
                          </a:solidFill>
                        </a:rPr>
                        <a:t>trade rows, as-of gated</a:t>
                      </a:r>
                      <a:endParaRPr lang="en-US" sz="1200" dirty="0"/>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r>
              <a:tr h="384048">
                <a:tc>
                  <a:txBody>
                    <a:bodyPr/>
                    <a:lstStyle/>
                    <a:p>
                      <a:pPr indent="0" marL="0">
                        <a:buNone/>
                      </a:pPr>
                      <a:r>
                        <a:rPr lang="en-US" sz="1100" dirty="0">
                          <a:solidFill>
                            <a:srgbClr val="E8E5DC"/>
                          </a:solidFill>
                          <a:latin typeface="Consolas" pitchFamily="34" charset="0"/>
                          <a:ea typeface="Consolas" pitchFamily="34" charset="-122"/>
                          <a:cs typeface="Consolas" pitchFamily="34" charset="-120"/>
                        </a:rPr>
                        <a:t>GET /feed?as_of=</a:t>
                      </a:r>
                      <a:endParaRPr lang="en-US" sz="11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c>
                  <a:txBody>
                    <a:bodyPr/>
                    <a:lstStyle/>
                    <a:p>
                      <a:pPr indent="0" marL="0">
                        <a:buNone/>
                      </a:pPr>
                      <a:r>
                        <a:rPr lang="en-US" sz="1200" dirty="0">
                          <a:solidFill>
                            <a:srgbClr val="9299A6"/>
                          </a:solidFill>
                        </a:rPr>
                        <a:t>documents with tier, correction, damage badges</a:t>
                      </a:r>
                      <a:endParaRPr lang="en-US" sz="1200" dirty="0"/>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r>
              <a:tr h="384048">
                <a:tc>
                  <a:txBody>
                    <a:bodyPr/>
                    <a:lstStyle/>
                    <a:p>
                      <a:pPr indent="0" marL="0">
                        <a:buNone/>
                      </a:pPr>
                      <a:r>
                        <a:rPr lang="en-US" sz="1100" dirty="0">
                          <a:solidFill>
                            <a:srgbClr val="E8E5DC"/>
                          </a:solidFill>
                          <a:latin typeface="Consolas" pitchFamily="34" charset="0"/>
                          <a:ea typeface="Consolas" pitchFamily="34" charset="-122"/>
                          <a:cs typeface="Consolas" pitchFamily="34" charset="-120"/>
                        </a:rPr>
                        <a:t>POST /ingest</a:t>
                      </a:r>
                      <a:endParaRPr lang="en-US" sz="1100" dirty="0">
                        <a:latin typeface="Consolas" charset="0"/>
                        <a:ea typeface="Consolas" charset="0"/>
                        <a:cs typeface="Consolas" charset="0"/>
                      </a:endParaRPr>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c>
                  <a:txBody>
                    <a:bodyPr/>
                    <a:lstStyle/>
                    <a:p>
                      <a:pPr indent="0" marL="0">
                        <a:buNone/>
                      </a:pPr>
                      <a:r>
                        <a:rPr lang="en-US" sz="1200" dirty="0">
                          <a:solidFill>
                            <a:srgbClr val="9299A6"/>
                          </a:solidFill>
                        </a:rPr>
                        <a:t>pack .zip or loose PDF, TXT, DOCX</a:t>
                      </a:r>
                      <a:endParaRPr lang="en-US" sz="1200" dirty="0"/>
                    </a:p>
                  </a:txBody>
                  <a:tcPr marL="91440" marR="91440" marT="36576" marB="36576" anchor="ctr">
                    <a:lnL w="9525" cap="flat" cmpd="sng" algn="ctr">
                      <a:solidFill>
                        <a:srgbClr val="2E3646"/>
                      </a:solidFill>
                      <a:prstDash val="solid"/>
                      <a:round/>
                      <a:headEnd type="none" w="med" len="med"/>
                      <a:tailEnd type="none" w="med" len="med"/>
                    </a:lnL>
                    <a:lnR w="9525" cap="flat" cmpd="sng" algn="ctr">
                      <a:solidFill>
                        <a:srgbClr val="2E3646"/>
                      </a:solidFill>
                      <a:prstDash val="solid"/>
                      <a:round/>
                      <a:headEnd type="none" w="med" len="med"/>
                      <a:tailEnd type="none" w="med" len="med"/>
                    </a:lnR>
                    <a:lnT w="9525" cap="flat" cmpd="sng" algn="ctr">
                      <a:solidFill>
                        <a:srgbClr val="2E3646"/>
                      </a:solidFill>
                      <a:prstDash val="solid"/>
                      <a:round/>
                      <a:headEnd type="none" w="med" len="med"/>
                      <a:tailEnd type="none" w="med" len="med"/>
                    </a:lnT>
                    <a:lnB w="9525" cap="flat" cmpd="sng" algn="ctr">
                      <a:solidFill>
                        <a:srgbClr val="2E3646"/>
                      </a:solidFill>
                      <a:prstDash val="solid"/>
                      <a:round/>
                      <a:headEnd type="none" w="med" len="med"/>
                      <a:tailEnd type="none" w="med" len="med"/>
                    </a:lnB>
                    <a:solidFill>
                      <a:srgbClr val="141821"/>
                    </a:solidFill>
                  </a:tcPr>
                </a:tc>
              </a:tr>
            </a:tbl>
          </a:graphicData>
        </a:graphic>
      </p:graphicFrame>
      <p:sp>
        <p:nvSpPr>
          <p:cNvPr id="5" name="Text 2"/>
          <p:cNvSpPr txBox="1"/>
          <p:nvPr/>
        </p:nvSpPr>
        <p:spPr>
          <a:xfrm>
            <a:off x="6949440" y="1783080"/>
            <a:ext cx="4693615"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LIVE UPDATES</a:t>
            </a:r>
            <a:endParaRPr lang="en-US" sz="1000" dirty="0"/>
          </a:p>
        </p:txBody>
      </p:sp>
      <p:sp>
        <p:nvSpPr>
          <p:cNvPr id="6" name="Text 3"/>
          <p:cNvSpPr txBox="1"/>
          <p:nvPr/>
        </p:nvSpPr>
        <p:spPr>
          <a:xfrm>
            <a:off x="6949440" y="2057400"/>
            <a:ext cx="4693615" cy="1097280"/>
          </a:xfrm>
          <a:prstGeom prst="rect">
            <a:avLst/>
          </a:prstGeom>
          <a:noFill/>
          <a:ln/>
        </p:spPr>
        <p:txBody>
          <a:bodyPr wrap="square" lIns="0" tIns="0" rIns="0" bIns="0" rtlCol="0" anchor="t"/>
          <a:lstStyle/>
          <a:p>
            <a:pPr indent="0" marL="0">
              <a:buNone/>
            </a:pPr>
            <a:r>
              <a:rPr lang="en-US" sz="1300" dirty="0">
                <a:solidFill>
                  <a:schemeClr val="bg1"/>
                </a:solidFill>
              </a:rPr>
              <a:t>The dashboard follows /events over Server-Sent Events and falls back to polling. Every visible action is a recorded event.</a:t>
            </a:r>
            <a:endParaRPr lang="en-US" sz="1300" dirty="0"/>
          </a:p>
        </p:txBody>
      </p:sp>
      <p:sp>
        <p:nvSpPr>
          <p:cNvPr id="7" name="Text 4"/>
          <p:cNvSpPr txBox="1"/>
          <p:nvPr/>
        </p:nvSpPr>
        <p:spPr>
          <a:xfrm>
            <a:off x="6949440" y="3200400"/>
            <a:ext cx="4693615"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INGESTION FLOW</a:t>
            </a:r>
            <a:endParaRPr lang="en-US" sz="1000" dirty="0"/>
          </a:p>
        </p:txBody>
      </p:sp>
      <p:sp>
        <p:nvSpPr>
          <p:cNvPr id="8" name="Text 5"/>
          <p:cNvSpPr txBox="1"/>
          <p:nvPr/>
        </p:nvSpPr>
        <p:spPr>
          <a:xfrm>
            <a:off x="6949440" y="3474720"/>
            <a:ext cx="4693615" cy="1097280"/>
          </a:xfrm>
          <a:prstGeom prst="rect">
            <a:avLst/>
          </a:prstGeom>
          <a:noFill/>
          <a:ln/>
        </p:spPr>
        <p:txBody>
          <a:bodyPr wrap="square" lIns="0" tIns="0" rIns="0" bIns="0" rtlCol="0" anchor="t"/>
          <a:lstStyle/>
          <a:p>
            <a:pPr indent="0" marL="0">
              <a:buNone/>
            </a:pPr>
            <a:r>
              <a:rPr lang="en-US" sz="1300" dirty="0">
                <a:solidFill>
                  <a:schemeClr val="bg1"/>
                </a:solidFill>
              </a:rPr>
              <a:t>Manifest and header parse → text extraction with segment-wise encoding detection → [Pn] paragraphs and trade rows → damage, injection, duplicate and correction flags → hybrid index. New packs need no code changes.</a:t>
            </a:r>
            <a:endParaRPr lang="en-US" sz="1300" dirty="0"/>
          </a:p>
        </p:txBody>
      </p:sp>
      <p:sp>
        <p:nvSpPr>
          <p:cNvPr id="9" name="Text 6"/>
          <p:cNvSpPr txBox="1"/>
          <p:nvPr/>
        </p:nvSpPr>
        <p:spPr>
          <a:xfrm>
            <a:off x="6949440" y="4617720"/>
            <a:ext cx="4693615" cy="228600"/>
          </a:xfrm>
          <a:prstGeom prst="rect">
            <a:avLst/>
          </a:prstGeom>
          <a:noFill/>
          <a:ln/>
        </p:spPr>
        <p:txBody>
          <a:bodyPr wrap="square" lIns="0" tIns="0" rIns="0" bIns="0" rtlCol="0" anchor="t"/>
          <a:lstStyle/>
          <a:p>
            <a:pPr indent="0" marL="0">
              <a:buNone/>
            </a:pPr>
            <a:r>
              <a:rPr lang="en-US" sz="1000" spc="200" kern="0" dirty="0">
                <a:solidFill>
                  <a:schemeClr val="accent1"/>
                </a:solidFill>
                <a:latin typeface="Consolas" pitchFamily="34" charset="0"/>
                <a:ea typeface="Consolas" pitchFamily="34" charset="-122"/>
                <a:cs typeface="Consolas" pitchFamily="34" charset="-120"/>
              </a:rPr>
              <a:t>OUTPUTS PER CASE</a:t>
            </a:r>
            <a:endParaRPr lang="en-US" sz="1000" dirty="0"/>
          </a:p>
        </p:txBody>
      </p:sp>
      <p:sp>
        <p:nvSpPr>
          <p:cNvPr id="10" name="Text 7"/>
          <p:cNvSpPr txBox="1"/>
          <p:nvPr/>
        </p:nvSpPr>
        <p:spPr>
          <a:xfrm>
            <a:off x="6949440" y="4892040"/>
            <a:ext cx="4693615" cy="1097280"/>
          </a:xfrm>
          <a:prstGeom prst="rect">
            <a:avLst/>
          </a:prstGeom>
          <a:noFill/>
          <a:ln/>
        </p:spPr>
        <p:txBody>
          <a:bodyPr wrap="square" lIns="0" tIns="0" rIns="0" bIns="0" rtlCol="0" anchor="t"/>
          <a:lstStyle/>
          <a:p>
            <a:pPr indent="0" marL="0">
              <a:buNone/>
            </a:pPr>
            <a:r>
              <a:rPr lang="en-US" sz="1300" dirty="0">
                <a:solidFill>
                  <a:schemeClr val="bg1"/>
                </a:solidFill>
              </a:rPr>
              <a:t>state, case file, claims, cross-examination, rulings, per-run folders, briefing (.md, .json), memory, model-request ledger, events.jsonl.</a:t>
            </a:r>
            <a:endParaRPr lang="en-US" sz="13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56032"/>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APPENDIX B  ·  DESIGN DECISIONS</a:t>
            </a:r>
            <a:endParaRPr lang="en-US" sz="1100" dirty="0"/>
          </a:p>
        </p:txBody>
      </p:sp>
      <p:sp>
        <p:nvSpPr>
          <p:cNvPr id="3" name="Text 0"/>
          <p:cNvSpPr/>
          <p:nvPr>
            <p:ph idx="101" type="title" hasCustomPrompt="1"/>
          </p:nvPr>
        </p:nvSpPr>
        <p:spPr>
          <a:xfrm>
            <a:off x="548640" y="658368"/>
            <a:ext cx="11094415" cy="822960"/>
          </a:xfrm>
          <a:prstGeom prst="rect">
            <a:avLst/>
          </a:prstGeom>
          <a:noFill/>
          <a:ln/>
        </p:spPr>
        <p:txBody>
          <a:bodyPr wrap="square" lIns="0" tIns="0" rIns="0" bIns="0" rtlCol="0" anchor="t"/>
          <a:lstStyle/>
          <a:p>
            <a:pPr algn="l" indent="0" marL="0">
              <a:buNone/>
            </a:pPr>
            <a:r>
              <a:rPr lang="en-US" sz="3200" dirty="0">
                <a:solidFill>
                  <a:schemeClr val="bg1"/>
                </a:solidFill>
                <a:latin typeface="Garamond" pitchFamily="34" charset="0"/>
                <a:ea typeface="Garamond" pitchFamily="34" charset="-122"/>
                <a:cs typeface="Garamond" pitchFamily="34" charset="-120"/>
              </a:rPr>
              <a:t>Why the investigation is split into stages</a:t>
            </a:r>
            <a:endParaRPr lang="en-US" sz="3200" dirty="0"/>
          </a:p>
        </p:txBody>
      </p:sp>
      <p:sp>
        <p:nvSpPr>
          <p:cNvPr id="4" name="Text 2"/>
          <p:cNvSpPr txBox="1"/>
          <p:nvPr/>
        </p:nvSpPr>
        <p:spPr>
          <a:xfrm>
            <a:off x="548640" y="1783080"/>
            <a:ext cx="5364328" cy="292608"/>
          </a:xfrm>
          <a:prstGeom prst="rect">
            <a:avLst/>
          </a:prstGeom>
          <a:noFill/>
          <a:ln/>
        </p:spPr>
        <p:txBody>
          <a:bodyPr wrap="square" lIns="0" tIns="0" rIns="0" bIns="0" rtlCol="0" anchor="t"/>
          <a:lstStyle/>
          <a:p>
            <a:pPr indent="0" marL="0">
              <a:buNone/>
            </a:pPr>
            <a:r>
              <a:rPr lang="en-US" sz="1500" b="1" dirty="0">
                <a:solidFill>
                  <a:schemeClr val="bg1"/>
                </a:solidFill>
              </a:rPr>
              <a:t>Separate research from argument</a:t>
            </a:r>
            <a:endParaRPr lang="en-US" sz="1500" dirty="0"/>
          </a:p>
        </p:txBody>
      </p:sp>
      <p:sp>
        <p:nvSpPr>
          <p:cNvPr id="5" name="Text 3"/>
          <p:cNvSpPr txBox="1"/>
          <p:nvPr/>
        </p:nvSpPr>
        <p:spPr>
          <a:xfrm>
            <a:off x="548640" y="2112264"/>
            <a:ext cx="5364328" cy="640080"/>
          </a:xfrm>
          <a:prstGeom prst="rect">
            <a:avLst/>
          </a:prstGeom>
          <a:noFill/>
          <a:ln/>
        </p:spPr>
        <p:txBody>
          <a:bodyPr wrap="square" lIns="0" tIns="0" rIns="0" bIns="0" rtlCol="0" anchor="t"/>
          <a:lstStyle/>
          <a:p>
            <a:pPr indent="0" marL="0">
              <a:buNone/>
            </a:pPr>
            <a:r>
              <a:rPr lang="en-US" sz="1300" dirty="0">
                <a:solidFill>
                  <a:schemeClr val="bg2"/>
                </a:solidFill>
              </a:rPr>
              <a:t>Heimdall establishes the facts and the gaps before anyone takes a side, so advocates start from the same case file.</a:t>
            </a:r>
            <a:endParaRPr lang="en-US" sz="1300" dirty="0"/>
          </a:p>
        </p:txBody>
      </p:sp>
      <p:sp>
        <p:nvSpPr>
          <p:cNvPr id="6" name="Text 4"/>
          <p:cNvSpPr txBox="1"/>
          <p:nvPr/>
        </p:nvSpPr>
        <p:spPr>
          <a:xfrm>
            <a:off x="6278728" y="1783080"/>
            <a:ext cx="5364328" cy="292608"/>
          </a:xfrm>
          <a:prstGeom prst="rect">
            <a:avLst/>
          </a:prstGeom>
          <a:noFill/>
          <a:ln/>
        </p:spPr>
        <p:txBody>
          <a:bodyPr wrap="square" lIns="0" tIns="0" rIns="0" bIns="0" rtlCol="0" anchor="t"/>
          <a:lstStyle/>
          <a:p>
            <a:pPr indent="0" marL="0">
              <a:buNone/>
            </a:pPr>
            <a:r>
              <a:rPr lang="en-US" sz="1500" b="1" dirty="0">
                <a:solidFill>
                  <a:schemeClr val="bg1"/>
                </a:solidFill>
              </a:rPr>
              <a:t>Two opposing advocates</a:t>
            </a:r>
            <a:endParaRPr lang="en-US" sz="1500" dirty="0"/>
          </a:p>
        </p:txBody>
      </p:sp>
      <p:sp>
        <p:nvSpPr>
          <p:cNvPr id="7" name="Text 5"/>
          <p:cNvSpPr txBox="1"/>
          <p:nvPr/>
        </p:nvSpPr>
        <p:spPr>
          <a:xfrm>
            <a:off x="6278728" y="2112264"/>
            <a:ext cx="5364328" cy="640080"/>
          </a:xfrm>
          <a:prstGeom prst="rect">
            <a:avLst/>
          </a:prstGeom>
          <a:noFill/>
          <a:ln/>
        </p:spPr>
        <p:txBody>
          <a:bodyPr wrap="square" lIns="0" tIns="0" rIns="0" bIns="0" rtlCol="0" anchor="t"/>
          <a:lstStyle/>
          <a:p>
            <a:pPr indent="0" marL="0">
              <a:buNone/>
            </a:pPr>
            <a:r>
              <a:rPr lang="en-US" sz="1300" dirty="0">
                <a:solidFill>
                  <a:schemeClr val="bg2"/>
                </a:solidFill>
              </a:rPr>
              <a:t>Thor and Loki search independently; the argument for limited exposure is never an afterthought.</a:t>
            </a:r>
            <a:endParaRPr lang="en-US" sz="1300" dirty="0"/>
          </a:p>
        </p:txBody>
      </p:sp>
      <p:sp>
        <p:nvSpPr>
          <p:cNvPr id="8" name="Text 6"/>
          <p:cNvSpPr txBox="1"/>
          <p:nvPr/>
        </p:nvSpPr>
        <p:spPr>
          <a:xfrm>
            <a:off x="548640" y="2807208"/>
            <a:ext cx="5364328" cy="292608"/>
          </a:xfrm>
          <a:prstGeom prst="rect">
            <a:avLst/>
          </a:prstGeom>
          <a:noFill/>
          <a:ln/>
        </p:spPr>
        <p:txBody>
          <a:bodyPr wrap="square" lIns="0" tIns="0" rIns="0" bIns="0" rtlCol="0" anchor="t"/>
          <a:lstStyle/>
          <a:p>
            <a:pPr indent="0" marL="0">
              <a:buNone/>
            </a:pPr>
            <a:r>
              <a:rPr lang="en-US" sz="1500" b="1" dirty="0">
                <a:solidFill>
                  <a:schemeClr val="bg1"/>
                </a:solidFill>
              </a:rPr>
              <a:t>Cross-examination with rules</a:t>
            </a:r>
            <a:endParaRPr lang="en-US" sz="1500" dirty="0"/>
          </a:p>
        </p:txBody>
      </p:sp>
      <p:sp>
        <p:nvSpPr>
          <p:cNvPr id="9" name="Text 7"/>
          <p:cNvSpPr txBox="1"/>
          <p:nvPr/>
        </p:nvSpPr>
        <p:spPr>
          <a:xfrm>
            <a:off x="548640" y="3136392"/>
            <a:ext cx="5364328" cy="640080"/>
          </a:xfrm>
          <a:prstGeom prst="rect">
            <a:avLst/>
          </a:prstGeom>
          <a:noFill/>
          <a:ln/>
        </p:spPr>
        <p:txBody>
          <a:bodyPr wrap="square" lIns="0" tIns="0" rIns="0" bIns="0" rtlCol="0" anchor="t"/>
          <a:lstStyle/>
          <a:p>
            <a:pPr indent="0" marL="0">
              <a:buNone/>
            </a:pPr>
            <a:r>
              <a:rPr lang="en-US" sz="1300" dirty="0">
                <a:solidFill>
                  <a:schemeClr val="bg2"/>
                </a:solidFill>
              </a:rPr>
              <a:t>Attacks need a target and counter-evidence or a named gap. Defenses need new evidence, or they concede.</a:t>
            </a:r>
            <a:endParaRPr lang="en-US" sz="1300" dirty="0"/>
          </a:p>
        </p:txBody>
      </p:sp>
      <p:sp>
        <p:nvSpPr>
          <p:cNvPr id="10" name="Text 8"/>
          <p:cNvSpPr txBox="1"/>
          <p:nvPr/>
        </p:nvSpPr>
        <p:spPr>
          <a:xfrm>
            <a:off x="6278728" y="2807208"/>
            <a:ext cx="5364328" cy="292608"/>
          </a:xfrm>
          <a:prstGeom prst="rect">
            <a:avLst/>
          </a:prstGeom>
          <a:noFill/>
          <a:ln/>
        </p:spPr>
        <p:txBody>
          <a:bodyPr wrap="square" lIns="0" tIns="0" rIns="0" bIns="0" rtlCol="0" anchor="t"/>
          <a:lstStyle/>
          <a:p>
            <a:pPr indent="0" marL="0">
              <a:buNone/>
            </a:pPr>
            <a:r>
              <a:rPr lang="en-US" sz="1500" b="1" dirty="0">
                <a:solidFill>
                  <a:schemeClr val="bg1"/>
                </a:solidFill>
              </a:rPr>
              <a:t>A judge who cannot search</a:t>
            </a:r>
            <a:endParaRPr lang="en-US" sz="1500" dirty="0"/>
          </a:p>
        </p:txBody>
      </p:sp>
      <p:sp>
        <p:nvSpPr>
          <p:cNvPr id="11" name="Text 9"/>
          <p:cNvSpPr txBox="1"/>
          <p:nvPr/>
        </p:nvSpPr>
        <p:spPr>
          <a:xfrm>
            <a:off x="6278728" y="3136392"/>
            <a:ext cx="5364328" cy="640080"/>
          </a:xfrm>
          <a:prstGeom prst="rect">
            <a:avLst/>
          </a:prstGeom>
          <a:noFill/>
          <a:ln/>
        </p:spPr>
        <p:txBody>
          <a:bodyPr wrap="square" lIns="0" tIns="0" rIns="0" bIns="0" rtlCol="0" anchor="t"/>
          <a:lstStyle/>
          <a:p>
            <a:pPr indent="0" marL="0">
              <a:buNone/>
            </a:pPr>
            <a:r>
              <a:rPr lang="en-US" sz="1300" dirty="0">
                <a:solidFill>
                  <a:schemeClr val="bg2"/>
                </a:solidFill>
              </a:rPr>
              <a:t>Odin rules from the record. He names missing evidence and can send the case back, but never assigns work.</a:t>
            </a:r>
            <a:endParaRPr lang="en-US" sz="1300" dirty="0"/>
          </a:p>
        </p:txBody>
      </p:sp>
      <p:sp>
        <p:nvSpPr>
          <p:cNvPr id="12" name="Text 10"/>
          <p:cNvSpPr txBox="1"/>
          <p:nvPr/>
        </p:nvSpPr>
        <p:spPr>
          <a:xfrm>
            <a:off x="548640" y="3831336"/>
            <a:ext cx="5364328" cy="292608"/>
          </a:xfrm>
          <a:prstGeom prst="rect">
            <a:avLst/>
          </a:prstGeom>
          <a:noFill/>
          <a:ln/>
        </p:spPr>
        <p:txBody>
          <a:bodyPr wrap="square" lIns="0" tIns="0" rIns="0" bIns="0" rtlCol="0" anchor="t"/>
          <a:lstStyle/>
          <a:p>
            <a:pPr indent="0" marL="0">
              <a:buNone/>
            </a:pPr>
            <a:r>
              <a:rPr lang="en-US" sz="1500" b="1" dirty="0">
                <a:solidFill>
                  <a:schemeClr val="bg1"/>
                </a:solidFill>
              </a:rPr>
              <a:t>Arithmetic in code</a:t>
            </a:r>
            <a:endParaRPr lang="en-US" sz="1500" dirty="0"/>
          </a:p>
        </p:txBody>
      </p:sp>
      <p:sp>
        <p:nvSpPr>
          <p:cNvPr id="13" name="Text 11"/>
          <p:cNvSpPr txBox="1"/>
          <p:nvPr/>
        </p:nvSpPr>
        <p:spPr>
          <a:xfrm>
            <a:off x="548640" y="4160520"/>
            <a:ext cx="5364328" cy="640080"/>
          </a:xfrm>
          <a:prstGeom prst="rect">
            <a:avLst/>
          </a:prstGeom>
          <a:noFill/>
          <a:ln/>
        </p:spPr>
        <p:txBody>
          <a:bodyPr wrap="square" lIns="0" tIns="0" rIns="0" bIns="0" rtlCol="0" anchor="t"/>
          <a:lstStyle/>
          <a:p>
            <a:pPr indent="0" marL="0">
              <a:buNone/>
            </a:pPr>
            <a:r>
              <a:rPr lang="en-US" sz="1300" dirty="0">
                <a:solidFill>
                  <a:schemeClr val="bg2"/>
                </a:solidFill>
              </a:rPr>
              <a:t>Replayable calculation records make every number in the briefing checkable.</a:t>
            </a:r>
            <a:endParaRPr lang="en-US" sz="1300" dirty="0"/>
          </a:p>
        </p:txBody>
      </p:sp>
      <p:sp>
        <p:nvSpPr>
          <p:cNvPr id="14" name="Text 12"/>
          <p:cNvSpPr txBox="1"/>
          <p:nvPr/>
        </p:nvSpPr>
        <p:spPr>
          <a:xfrm>
            <a:off x="6278728" y="3831336"/>
            <a:ext cx="5364328" cy="292608"/>
          </a:xfrm>
          <a:prstGeom prst="rect">
            <a:avLst/>
          </a:prstGeom>
          <a:noFill/>
          <a:ln/>
        </p:spPr>
        <p:txBody>
          <a:bodyPr wrap="square" lIns="0" tIns="0" rIns="0" bIns="0" rtlCol="0" anchor="t"/>
          <a:lstStyle/>
          <a:p>
            <a:pPr indent="0" marL="0">
              <a:buNone/>
            </a:pPr>
            <a:r>
              <a:rPr lang="en-US" sz="1500" b="1" dirty="0">
                <a:solidFill>
                  <a:schemeClr val="bg1"/>
                </a:solidFill>
              </a:rPr>
              <a:t>Private memory per agent</a:t>
            </a:r>
            <a:endParaRPr lang="en-US" sz="1500" dirty="0"/>
          </a:p>
        </p:txBody>
      </p:sp>
      <p:sp>
        <p:nvSpPr>
          <p:cNvPr id="15" name="Text 13"/>
          <p:cNvSpPr txBox="1"/>
          <p:nvPr/>
        </p:nvSpPr>
        <p:spPr>
          <a:xfrm>
            <a:off x="6278728" y="4160520"/>
            <a:ext cx="5364328" cy="640080"/>
          </a:xfrm>
          <a:prstGeom prst="rect">
            <a:avLst/>
          </a:prstGeom>
          <a:noFill/>
          <a:ln/>
        </p:spPr>
        <p:txBody>
          <a:bodyPr wrap="square" lIns="0" tIns="0" rIns="0" bIns="0" rtlCol="0" anchor="t"/>
          <a:lstStyle/>
          <a:p>
            <a:pPr indent="0" marL="0">
              <a:buNone/>
            </a:pPr>
            <a:r>
              <a:rPr lang="en-US" sz="1300" dirty="0">
                <a:solidFill>
                  <a:schemeClr val="bg2"/>
                </a:solidFill>
              </a:rPr>
              <a:t>General lessons carry across cases. The log shows the plan without memory and with it, so influence is visible.</a:t>
            </a:r>
            <a:endParaRPr lang="en-US" sz="1300" dirty="0"/>
          </a:p>
        </p:txBody>
      </p:sp>
      <p:sp>
        <p:nvSpPr>
          <p:cNvPr id="16" name="Shape 14"/>
          <p:cNvSpPr/>
          <p:nvPr/>
        </p:nvSpPr>
        <p:spPr>
          <a:xfrm>
            <a:off x="548640" y="4983480"/>
            <a:ext cx="11094415" cy="1188720"/>
          </a:xfrm>
          <a:prstGeom prst="rect">
            <a:avLst/>
          </a:prstGeom>
          <a:solidFill>
            <a:schemeClr val="accent4">
              <a:alpha val="60000"/>
            </a:schemeClr>
          </a:solidFill>
          <a:ln w="9525">
            <a:solidFill>
              <a:schemeClr val="accent5"/>
            </a:solidFill>
            <a:prstDash val="dash"/>
          </a:ln>
        </p:spPr>
      </p:sp>
      <p:sp>
        <p:nvSpPr>
          <p:cNvPr id="17" name="Text 15"/>
          <p:cNvSpPr txBox="1"/>
          <p:nvPr/>
        </p:nvSpPr>
        <p:spPr>
          <a:xfrm>
            <a:off x="731520" y="5102352"/>
            <a:ext cx="5486400" cy="228600"/>
          </a:xfrm>
          <a:prstGeom prst="rect">
            <a:avLst/>
          </a:prstGeom>
          <a:noFill/>
          <a:ln/>
        </p:spPr>
        <p:txBody>
          <a:bodyPr wrap="square" lIns="0" tIns="0" rIns="0" bIns="0" rtlCol="0" anchor="t"/>
          <a:lstStyle/>
          <a:p>
            <a:pPr indent="0" marL="0">
              <a:buNone/>
            </a:pPr>
            <a:r>
              <a:rPr lang="en-US" sz="1000" spc="200" kern="0" dirty="0">
                <a:solidFill>
                  <a:schemeClr val="bg2"/>
                </a:solidFill>
                <a:latin typeface="Consolas" pitchFamily="34" charset="0"/>
                <a:ea typeface="Consolas" pitchFamily="34" charset="-122"/>
                <a:cs typeface="Consolas" pitchFamily="34" charset="-120"/>
              </a:rPr>
              <a:t>NOT IMPLEMENTED  ·  POSSIBLE NEXT STEPS</a:t>
            </a:r>
            <a:endParaRPr lang="en-US" sz="1000" dirty="0"/>
          </a:p>
        </p:txBody>
      </p:sp>
      <p:sp>
        <p:nvSpPr>
          <p:cNvPr id="18" name="Text 16"/>
          <p:cNvSpPr txBox="1"/>
          <p:nvPr/>
        </p:nvSpPr>
        <p:spPr>
          <a:xfrm>
            <a:off x="731520" y="5394960"/>
            <a:ext cx="10728655" cy="731520"/>
          </a:xfrm>
          <a:prstGeom prst="rect">
            <a:avLst/>
          </a:prstGeom>
          <a:noFill/>
          <a:ln/>
        </p:spPr>
        <p:txBody>
          <a:bodyPr wrap="square" lIns="0" tIns="0" rIns="0" bIns="0" rtlCol="0" anchor="t"/>
          <a:lstStyle/>
          <a:p>
            <a:pPr indent="0" marL="0">
              <a:buNone/>
            </a:pPr>
            <a:r>
              <a:rPr lang="en-US" sz="1300" dirty="0">
                <a:solidFill>
                  <a:schemeClr val="bg1"/>
                </a:solidFill>
              </a:rPr>
              <a:t>OCR for scanned PDFs (today they are ingested as empty, damaged documents)  ·  non-English documents  ·  Odin building ranges that differ from both advocates more often  ·  more than one case at a time per API process</a:t>
            </a:r>
            <a:endParaRPr lang="en-US" sz="1300" dirty="0"/>
          </a:p>
        </p:txBody>
      </p:sp>
      <p:sp>
        <p:nvSpPr>
          <p:cNvPr id="25" name="Slide Number Placeholder 0"/>
          <p:cNvSpPr>
            <a:spLocks noGrp="1"/>
          </p:cNvSpPr>
          <p:nvPr>
            <p:ph type="sldNum" sz="quarter" idx="4294967295"/>
          </p:nvPr>
        </p:nvSpPr>
        <p:spPr>
          <a:xfrm>
            <a:off x="11185855" y="64008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Ragnarok">
  <a:themeElements>
    <a:clrScheme name="Ragnarok">
      <a:dk1>
        <a:srgbClr val="090B10"/>
      </a:dk1>
      <a:lt1>
        <a:srgbClr val="E8E5DC"/>
      </a:lt1>
      <a:dk2>
        <a:srgbClr val="141821"/>
      </a:dk2>
      <a:lt2>
        <a:srgbClr val="9299A6"/>
      </a:lt2>
      <a:accent1>
        <a:srgbClr val="76B9FF"/>
      </a:accent1>
      <a:accent2>
        <a:srgbClr val="C5A66A"/>
      </a:accent2>
      <a:accent3>
        <a:srgbClr val="B84B54"/>
      </a:accent3>
      <a:accent4>
        <a:srgbClr val="1A1F2A"/>
      </a:accent4>
      <a:accent5>
        <a:srgbClr val="2E3646"/>
      </a:accent5>
      <a:accent6>
        <a:srgbClr val="4F6E93"/>
      </a:accent6>
      <a:hlink>
        <a:srgbClr val="76B9FF"/>
      </a:hlink>
      <a:folHlink>
        <a:srgbClr val="C5A66A"/>
      </a:folHlink>
    </a:clrScheme>
    <a:fontScheme name="Ragnarok">
      <a:majorFont>
        <a:latin typeface="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Viksit Coders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Ragnarok: Trial of the Nine Realms</dc:title>
  <dc:subject>Agentic AI pitch deck</dc:subject>
  <dc:creator>Team Viksit Coders</dc:creator>
  <cp:lastModifiedBy>Team Viksit Coders</cp:lastModifiedBy>
  <cp:revision>1</cp:revision>
  <dcterms:created xsi:type="dcterms:W3CDTF">2026-10-26T02:46:07Z</dcterms:created>
  <dcterms:modified xsi:type="dcterms:W3CDTF">2026-10-26T02:46:07Z</dcterms:modified>
</cp:coreProperties>
</file>